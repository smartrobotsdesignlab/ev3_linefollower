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5" r:id="rId1"/>
  </p:sldMasterIdLst>
  <p:notesMasterIdLst>
    <p:notesMasterId r:id="rId37"/>
  </p:notesMasterIdLst>
  <p:handoutMasterIdLst>
    <p:handoutMasterId r:id="rId38"/>
  </p:handoutMasterIdLst>
  <p:sldIdLst>
    <p:sldId id="258" r:id="rId2"/>
    <p:sldId id="275" r:id="rId3"/>
    <p:sldId id="332" r:id="rId4"/>
    <p:sldId id="333" r:id="rId5"/>
    <p:sldId id="334" r:id="rId6"/>
    <p:sldId id="294" r:id="rId7"/>
    <p:sldId id="295" r:id="rId8"/>
    <p:sldId id="336" r:id="rId9"/>
    <p:sldId id="338" r:id="rId10"/>
    <p:sldId id="339" r:id="rId11"/>
    <p:sldId id="340" r:id="rId12"/>
    <p:sldId id="341" r:id="rId13"/>
    <p:sldId id="337" r:id="rId14"/>
    <p:sldId id="344" r:id="rId15"/>
    <p:sldId id="296" r:id="rId16"/>
    <p:sldId id="297" r:id="rId17"/>
    <p:sldId id="316" r:id="rId18"/>
    <p:sldId id="323" r:id="rId19"/>
    <p:sldId id="321" r:id="rId20"/>
    <p:sldId id="304" r:id="rId21"/>
    <p:sldId id="305" r:id="rId22"/>
    <p:sldId id="326" r:id="rId23"/>
    <p:sldId id="302" r:id="rId24"/>
    <p:sldId id="307" r:id="rId25"/>
    <p:sldId id="308" r:id="rId26"/>
    <p:sldId id="309" r:id="rId27"/>
    <p:sldId id="342" r:id="rId28"/>
    <p:sldId id="318" r:id="rId29"/>
    <p:sldId id="343" r:id="rId30"/>
    <p:sldId id="328" r:id="rId31"/>
    <p:sldId id="331" r:id="rId32"/>
    <p:sldId id="345" r:id="rId33"/>
    <p:sldId id="346" r:id="rId34"/>
    <p:sldId id="319" r:id="rId35"/>
    <p:sldId id="347"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11" autoAdjust="0"/>
    <p:restoredTop sz="93873"/>
  </p:normalViewPr>
  <p:slideViewPr>
    <p:cSldViewPr snapToGrid="0" snapToObjects="1">
      <p:cViewPr>
        <p:scale>
          <a:sx n="135" d="100"/>
          <a:sy n="135" d="100"/>
        </p:scale>
        <p:origin x="-1280" y="-62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168" d="100"/>
          <a:sy n="168" d="100"/>
        </p:scale>
        <p:origin x="5432"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Users\srini\Downloads\pid-graph.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srini\Downloads\pid-graph.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srini\Downloads\pid-graph.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srini\Downloads\pid-graph.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srini\Downloads\pid-graph.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srini\Downloads\pid-graph.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r>
              <a:rPr lang="en-US"/>
              <a:t>Error</a:t>
            </a:r>
          </a:p>
        </c:rich>
      </c:tx>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endParaRPr lang="en-JP"/>
        </a:p>
      </c:txPr>
    </c:title>
    <c:autoTitleDeleted val="0"/>
    <c:plotArea>
      <c:layout/>
      <c:scatterChart>
        <c:scatterStyle val="smoothMarker"/>
        <c:varyColors val="0"/>
        <c:ser>
          <c:idx val="0"/>
          <c:order val="0"/>
          <c:tx>
            <c:strRef>
              <c:f>Sheet1!$B$1</c:f>
              <c:strCache>
                <c:ptCount val="1"/>
                <c:pt idx="0">
                  <c:v>Light Intensity</c:v>
                </c:pt>
              </c:strCache>
            </c:strRef>
          </c:tx>
          <c:spPr>
            <a:ln w="19050" cap="rnd">
              <a:solidFill>
                <a:schemeClr val="accent1"/>
              </a:solidFill>
              <a:round/>
            </a:ln>
            <a:effectLst/>
          </c:spPr>
          <c:marker>
            <c:symbol val="none"/>
          </c:marker>
          <c:dPt>
            <c:idx val="20"/>
            <c:marker>
              <c:symbol val="x"/>
              <c:size val="12"/>
              <c:spPr>
                <a:solidFill>
                  <a:schemeClr val="bg1"/>
                </a:solidFill>
                <a:ln w="19050">
                  <a:solidFill>
                    <a:srgbClr val="FF0000"/>
                  </a:solidFill>
                </a:ln>
                <a:effectLst/>
              </c:spPr>
            </c:marker>
            <c:bubble3D val="0"/>
            <c:extLst>
              <c:ext xmlns:c16="http://schemas.microsoft.com/office/drawing/2014/chart" uri="{C3380CC4-5D6E-409C-BE32-E72D297353CC}">
                <c16:uniqueId val="{00000002-43B0-AA4A-A0B8-1C029A689CC6}"/>
              </c:ext>
            </c:extLst>
          </c:dPt>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Sheet1!$C$2:$C$22</c:f>
              <c:numCache>
                <c:formatCode>General</c:formatCode>
                <c:ptCount val="21"/>
                <c:pt idx="0">
                  <c:v>0</c:v>
                </c:pt>
                <c:pt idx="1">
                  <c:v>6.7473807069415344</c:v>
                </c:pt>
                <c:pt idx="2">
                  <c:v>11.985638465105076</c:v>
                </c:pt>
                <c:pt idx="3">
                  <c:v>15.73012523130771</c:v>
                </c:pt>
                <c:pt idx="4">
                  <c:v>18.03152110302635</c:v>
                </c:pt>
                <c:pt idx="5">
                  <c:v>18.979692387111726</c:v>
                </c:pt>
                <c:pt idx="6">
                  <c:v>18.703030998826023</c:v>
                </c:pt>
                <c:pt idx="7">
                  <c:v>17.364457886010655</c:v>
                </c:pt>
                <c:pt idx="8">
                  <c:v>15.154957113761355</c:v>
                </c:pt>
                <c:pt idx="9">
                  <c:v>12.285366266651387</c:v>
                </c:pt>
                <c:pt idx="10">
                  <c:v>8.9770821615593519</c:v>
                </c:pt>
                <c:pt idx="11">
                  <c:v>5.4522998864618799</c:v>
                </c:pt>
                <c:pt idx="12">
                  <c:v>1.9243637462709131</c:v>
                </c:pt>
                <c:pt idx="13">
                  <c:v>-1.4112408851753244</c:v>
                </c:pt>
                <c:pt idx="14">
                  <c:v>-4.3847903461202478</c:v>
                </c:pt>
                <c:pt idx="15">
                  <c:v>-6.8587358249081234</c:v>
                </c:pt>
                <c:pt idx="16">
                  <c:v>-8.7323364843222464</c:v>
                </c:pt>
                <c:pt idx="17">
                  <c:v>-9.9443262025398198</c:v>
                </c:pt>
                <c:pt idx="18">
                  <c:v>-10.473536974983183</c:v>
                </c:pt>
                <c:pt idx="19">
                  <c:v>-10.337511610090118</c:v>
                </c:pt>
                <c:pt idx="20">
                  <c:v>-9.5892427466313848</c:v>
                </c:pt>
              </c:numCache>
            </c:numRef>
          </c:yVal>
          <c:smooth val="1"/>
          <c:extLst>
            <c:ext xmlns:c16="http://schemas.microsoft.com/office/drawing/2014/chart" uri="{C3380CC4-5D6E-409C-BE32-E72D297353CC}">
              <c16:uniqueId val="{00000000-43B0-AA4A-A0B8-1C029A689CC6}"/>
            </c:ext>
          </c:extLst>
        </c:ser>
        <c:ser>
          <c:idx val="1"/>
          <c:order val="1"/>
          <c:spPr>
            <a:ln w="19050" cap="rnd">
              <a:solidFill>
                <a:schemeClr val="accent2"/>
              </a:solidFill>
              <a:prstDash val="dash"/>
              <a:round/>
            </a:ln>
            <a:effectLst/>
          </c:spPr>
          <c:marker>
            <c:symbol val="none"/>
          </c:marker>
          <c:xVal>
            <c:numRef>
              <c:f>Sheet1!$A$22:$A$52</c:f>
              <c:numCache>
                <c:formatCode>General</c:formatCode>
                <c:ptCount val="31"/>
                <c:pt idx="0">
                  <c:v>20</c:v>
                </c:pt>
                <c:pt idx="1">
                  <c:v>21</c:v>
                </c:pt>
                <c:pt idx="2">
                  <c:v>22</c:v>
                </c:pt>
                <c:pt idx="3">
                  <c:v>23</c:v>
                </c:pt>
                <c:pt idx="4">
                  <c:v>24</c:v>
                </c:pt>
                <c:pt idx="5">
                  <c:v>25</c:v>
                </c:pt>
                <c:pt idx="6">
                  <c:v>26</c:v>
                </c:pt>
                <c:pt idx="7">
                  <c:v>27</c:v>
                </c:pt>
                <c:pt idx="8">
                  <c:v>28</c:v>
                </c:pt>
                <c:pt idx="9">
                  <c:v>29</c:v>
                </c:pt>
                <c:pt idx="10">
                  <c:v>30</c:v>
                </c:pt>
                <c:pt idx="11">
                  <c:v>31</c:v>
                </c:pt>
                <c:pt idx="12">
                  <c:v>32</c:v>
                </c:pt>
                <c:pt idx="13">
                  <c:v>33</c:v>
                </c:pt>
                <c:pt idx="14">
                  <c:v>34</c:v>
                </c:pt>
                <c:pt idx="15">
                  <c:v>35</c:v>
                </c:pt>
                <c:pt idx="16">
                  <c:v>36</c:v>
                </c:pt>
                <c:pt idx="17">
                  <c:v>37</c:v>
                </c:pt>
                <c:pt idx="18">
                  <c:v>38</c:v>
                </c:pt>
                <c:pt idx="19">
                  <c:v>39</c:v>
                </c:pt>
                <c:pt idx="20">
                  <c:v>40</c:v>
                </c:pt>
                <c:pt idx="21">
                  <c:v>41</c:v>
                </c:pt>
                <c:pt idx="22">
                  <c:v>42</c:v>
                </c:pt>
                <c:pt idx="23">
                  <c:v>43</c:v>
                </c:pt>
                <c:pt idx="24">
                  <c:v>44</c:v>
                </c:pt>
                <c:pt idx="25">
                  <c:v>45</c:v>
                </c:pt>
                <c:pt idx="26">
                  <c:v>46</c:v>
                </c:pt>
                <c:pt idx="27">
                  <c:v>47</c:v>
                </c:pt>
                <c:pt idx="28">
                  <c:v>48</c:v>
                </c:pt>
                <c:pt idx="29">
                  <c:v>49</c:v>
                </c:pt>
                <c:pt idx="30">
                  <c:v>50</c:v>
                </c:pt>
              </c:numCache>
            </c:numRef>
          </c:xVal>
          <c:yVal>
            <c:numRef>
              <c:f>Sheet1!$C$22:$C$52</c:f>
              <c:numCache>
                <c:formatCode>General</c:formatCode>
                <c:ptCount val="31"/>
                <c:pt idx="0">
                  <c:v>-9.5892427466313848</c:v>
                </c:pt>
                <c:pt idx="1">
                  <c:v>-8.3122692912250855</c:v>
                </c:pt>
                <c:pt idx="2">
                  <c:v>-6.6144405522224261</c:v>
                </c:pt>
                <c:pt idx="3">
                  <c:v>-4.6207188863568973</c:v>
                </c:pt>
                <c:pt idx="4">
                  <c:v>-2.4654308664611122</c:v>
                </c:pt>
                <c:pt idx="5">
                  <c:v>-0.28439328469334413</c:v>
                </c:pt>
                <c:pt idx="6">
                  <c:v>1.792666567398463</c:v>
                </c:pt>
                <c:pt idx="7">
                  <c:v>3.6490060036266314</c:v>
                </c:pt>
                <c:pt idx="8">
                  <c:v>5.1867363056746498</c:v>
                </c:pt>
                <c:pt idx="9">
                  <c:v>6.3313913770115846</c:v>
                </c:pt>
                <c:pt idx="10">
                  <c:v>7.0349998258105444</c:v>
                </c:pt>
                <c:pt idx="11">
                  <c:v>7.2775520422768949</c:v>
                </c:pt>
                <c:pt idx="12">
                  <c:v>7.0668446187384433</c:v>
                </c:pt>
                <c:pt idx="13">
                  <c:v>6.4367735598093532</c:v>
                </c:pt>
                <c:pt idx="14">
                  <c:v>5.4442303133419756</c:v>
                </c:pt>
                <c:pt idx="15">
                  <c:v>4.1648263583612817</c:v>
                </c:pt>
                <c:pt idx="16">
                  <c:v>2.6877292515766698</c:v>
                </c:pt>
                <c:pt idx="17">
                  <c:v>1.1099328854070194</c:v>
                </c:pt>
                <c:pt idx="18">
                  <c:v>-0.46969450288630554</c:v>
                </c:pt>
                <c:pt idx="19">
                  <c:v>-1.9562399609526935</c:v>
                </c:pt>
                <c:pt idx="20">
                  <c:v>-3.2641266653362209</c:v>
                </c:pt>
                <c:pt idx="21">
                  <c:v>-4.3217554729693859</c:v>
                </c:pt>
                <c:pt idx="22">
                  <c:v>-5.075167845990407</c:v>
                </c:pt>
                <c:pt idx="23">
                  <c:v>-5.4905539693623311</c:v>
                </c:pt>
                <c:pt idx="24">
                  <c:v>-5.5555011475039109</c:v>
                </c:pt>
                <c:pt idx="25">
                  <c:v>-5.278952713697791</c:v>
                </c:pt>
                <c:pt idx="26">
                  <c:v>-4.6899223644022925</c:v>
                </c:pt>
                <c:pt idx="27">
                  <c:v>-3.8350788201430035</c:v>
                </c:pt>
                <c:pt idx="28">
                  <c:v>-2.7753771620712158</c:v>
                </c:pt>
                <c:pt idx="29">
                  <c:v>-1.5819628219379354</c:v>
                </c:pt>
                <c:pt idx="30">
                  <c:v>-0.3316094867560011</c:v>
                </c:pt>
              </c:numCache>
            </c:numRef>
          </c:yVal>
          <c:smooth val="1"/>
          <c:extLst>
            <c:ext xmlns:c16="http://schemas.microsoft.com/office/drawing/2014/chart" uri="{C3380CC4-5D6E-409C-BE32-E72D297353CC}">
              <c16:uniqueId val="{00000003-43B0-AA4A-A0B8-1C029A689CC6}"/>
            </c:ext>
          </c:extLst>
        </c:ser>
        <c:dLbls>
          <c:showLegendKey val="0"/>
          <c:showVal val="0"/>
          <c:showCatName val="0"/>
          <c:showSerName val="0"/>
          <c:showPercent val="0"/>
          <c:showBubbleSize val="0"/>
        </c:dLbls>
        <c:axId val="1887436800"/>
        <c:axId val="1853584704"/>
      </c:scatterChart>
      <c:valAx>
        <c:axId val="1887436800"/>
        <c:scaling>
          <c:orientation val="minMax"/>
          <c:max val="5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dirty="0"/>
                  <a:t>Time (sec)</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53584704"/>
        <c:crossesAt val="-20"/>
        <c:crossBetween val="midCat"/>
        <c:majorUnit val="10"/>
      </c:valAx>
      <c:valAx>
        <c:axId val="1853584704"/>
        <c:scaling>
          <c:orientation val="minMax"/>
          <c:max val="80"/>
          <c:min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87436800"/>
        <c:crosses val="autoZero"/>
        <c:crossBetween val="midCat"/>
        <c:majorUnit val="2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r>
              <a:rPr lang="en-US"/>
              <a:t>Light Intensity</a:t>
            </a:r>
          </a:p>
        </c:rich>
      </c:tx>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endParaRPr lang="en-JP"/>
        </a:p>
      </c:txPr>
    </c:title>
    <c:autoTitleDeleted val="0"/>
    <c:plotArea>
      <c:layout/>
      <c:scatterChart>
        <c:scatterStyle val="smoothMarker"/>
        <c:varyColors val="0"/>
        <c:ser>
          <c:idx val="0"/>
          <c:order val="0"/>
          <c:tx>
            <c:strRef>
              <c:f>Sheet1!$B$1</c:f>
              <c:strCache>
                <c:ptCount val="1"/>
                <c:pt idx="0">
                  <c:v>Light Intensity</c:v>
                </c:pt>
              </c:strCache>
            </c:strRef>
          </c:tx>
          <c:spPr>
            <a:ln w="19050" cap="rnd">
              <a:solidFill>
                <a:schemeClr val="accent1"/>
              </a:solidFill>
              <a:round/>
            </a:ln>
            <a:effectLst/>
          </c:spPr>
          <c:marker>
            <c:symbol val="none"/>
          </c:marker>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Sheet1!$B$2:$B$22</c:f>
              <c:numCache>
                <c:formatCode>General</c:formatCode>
                <c:ptCount val="21"/>
                <c:pt idx="0">
                  <c:v>50</c:v>
                </c:pt>
                <c:pt idx="1">
                  <c:v>56.747380706941534</c:v>
                </c:pt>
                <c:pt idx="2">
                  <c:v>61.985638465105076</c:v>
                </c:pt>
                <c:pt idx="3">
                  <c:v>65.73012523130771</c:v>
                </c:pt>
                <c:pt idx="4">
                  <c:v>68.03152110302635</c:v>
                </c:pt>
                <c:pt idx="5">
                  <c:v>68.979692387111726</c:v>
                </c:pt>
                <c:pt idx="6">
                  <c:v>68.703030998826023</c:v>
                </c:pt>
                <c:pt idx="7">
                  <c:v>67.364457886010655</c:v>
                </c:pt>
                <c:pt idx="8">
                  <c:v>65.154957113761355</c:v>
                </c:pt>
                <c:pt idx="9">
                  <c:v>62.285366266651387</c:v>
                </c:pt>
                <c:pt idx="10">
                  <c:v>58.977082161559352</c:v>
                </c:pt>
                <c:pt idx="11">
                  <c:v>55.45229988646188</c:v>
                </c:pt>
                <c:pt idx="12">
                  <c:v>51.924363746270913</c:v>
                </c:pt>
                <c:pt idx="13">
                  <c:v>48.588759114824676</c:v>
                </c:pt>
                <c:pt idx="14">
                  <c:v>45.615209653879752</c:v>
                </c:pt>
                <c:pt idx="15">
                  <c:v>43.141264175091877</c:v>
                </c:pt>
                <c:pt idx="16">
                  <c:v>41.267663515677754</c:v>
                </c:pt>
                <c:pt idx="17">
                  <c:v>40.05567379746018</c:v>
                </c:pt>
                <c:pt idx="18">
                  <c:v>39.526463025016817</c:v>
                </c:pt>
                <c:pt idx="19">
                  <c:v>39.662488389909882</c:v>
                </c:pt>
                <c:pt idx="20">
                  <c:v>40.410757253368615</c:v>
                </c:pt>
              </c:numCache>
            </c:numRef>
          </c:yVal>
          <c:smooth val="1"/>
          <c:extLst>
            <c:ext xmlns:c16="http://schemas.microsoft.com/office/drawing/2014/chart" uri="{C3380CC4-5D6E-409C-BE32-E72D297353CC}">
              <c16:uniqueId val="{00000000-F672-544C-8593-6D38A3905AD7}"/>
            </c:ext>
          </c:extLst>
        </c:ser>
        <c:ser>
          <c:idx val="1"/>
          <c:order val="1"/>
          <c:spPr>
            <a:ln w="19050" cap="rnd">
              <a:solidFill>
                <a:schemeClr val="bg2">
                  <a:lumMod val="50000"/>
                </a:schemeClr>
              </a:solidFill>
              <a:prstDash val="dash"/>
              <a:round/>
            </a:ln>
            <a:effectLst/>
          </c:spPr>
          <c:marker>
            <c:symbol val="none"/>
          </c:marker>
          <c:xVal>
            <c:numRef>
              <c:f>Sheet1!$A$22:$A$52</c:f>
              <c:numCache>
                <c:formatCode>General</c:formatCode>
                <c:ptCount val="31"/>
                <c:pt idx="0">
                  <c:v>20</c:v>
                </c:pt>
                <c:pt idx="1">
                  <c:v>21</c:v>
                </c:pt>
                <c:pt idx="2">
                  <c:v>22</c:v>
                </c:pt>
                <c:pt idx="3">
                  <c:v>23</c:v>
                </c:pt>
                <c:pt idx="4">
                  <c:v>24</c:v>
                </c:pt>
                <c:pt idx="5">
                  <c:v>25</c:v>
                </c:pt>
                <c:pt idx="6">
                  <c:v>26</c:v>
                </c:pt>
                <c:pt idx="7">
                  <c:v>27</c:v>
                </c:pt>
                <c:pt idx="8">
                  <c:v>28</c:v>
                </c:pt>
                <c:pt idx="9">
                  <c:v>29</c:v>
                </c:pt>
                <c:pt idx="10">
                  <c:v>30</c:v>
                </c:pt>
                <c:pt idx="11">
                  <c:v>31</c:v>
                </c:pt>
                <c:pt idx="12">
                  <c:v>32</c:v>
                </c:pt>
                <c:pt idx="13">
                  <c:v>33</c:v>
                </c:pt>
                <c:pt idx="14">
                  <c:v>34</c:v>
                </c:pt>
                <c:pt idx="15">
                  <c:v>35</c:v>
                </c:pt>
                <c:pt idx="16">
                  <c:v>36</c:v>
                </c:pt>
                <c:pt idx="17">
                  <c:v>37</c:v>
                </c:pt>
                <c:pt idx="18">
                  <c:v>38</c:v>
                </c:pt>
                <c:pt idx="19">
                  <c:v>39</c:v>
                </c:pt>
                <c:pt idx="20">
                  <c:v>40</c:v>
                </c:pt>
                <c:pt idx="21">
                  <c:v>41</c:v>
                </c:pt>
                <c:pt idx="22">
                  <c:v>42</c:v>
                </c:pt>
                <c:pt idx="23">
                  <c:v>43</c:v>
                </c:pt>
                <c:pt idx="24">
                  <c:v>44</c:v>
                </c:pt>
                <c:pt idx="25">
                  <c:v>45</c:v>
                </c:pt>
                <c:pt idx="26">
                  <c:v>46</c:v>
                </c:pt>
                <c:pt idx="27">
                  <c:v>47</c:v>
                </c:pt>
                <c:pt idx="28">
                  <c:v>48</c:v>
                </c:pt>
                <c:pt idx="29">
                  <c:v>49</c:v>
                </c:pt>
                <c:pt idx="30">
                  <c:v>50</c:v>
                </c:pt>
              </c:numCache>
            </c:numRef>
          </c:xVal>
          <c:yVal>
            <c:numRef>
              <c:f>Sheet1!$B$22:$B$52</c:f>
              <c:numCache>
                <c:formatCode>General</c:formatCode>
                <c:ptCount val="31"/>
                <c:pt idx="0">
                  <c:v>40.410757253368615</c:v>
                </c:pt>
                <c:pt idx="1">
                  <c:v>41.687730708774914</c:v>
                </c:pt>
                <c:pt idx="2">
                  <c:v>43.385559447777574</c:v>
                </c:pt>
                <c:pt idx="3">
                  <c:v>45.379281113643103</c:v>
                </c:pt>
                <c:pt idx="4">
                  <c:v>47.534569133538888</c:v>
                </c:pt>
                <c:pt idx="5">
                  <c:v>49.715606715306656</c:v>
                </c:pt>
                <c:pt idx="6">
                  <c:v>51.792666567398463</c:v>
                </c:pt>
                <c:pt idx="7">
                  <c:v>53.649006003626631</c:v>
                </c:pt>
                <c:pt idx="8">
                  <c:v>55.18673630567465</c:v>
                </c:pt>
                <c:pt idx="9">
                  <c:v>56.331391377011585</c:v>
                </c:pt>
                <c:pt idx="10">
                  <c:v>57.034999825810544</c:v>
                </c:pt>
                <c:pt idx="11">
                  <c:v>57.277552042276895</c:v>
                </c:pt>
                <c:pt idx="12">
                  <c:v>57.066844618738443</c:v>
                </c:pt>
                <c:pt idx="13">
                  <c:v>56.436773559809353</c:v>
                </c:pt>
                <c:pt idx="14">
                  <c:v>55.444230313341976</c:v>
                </c:pt>
                <c:pt idx="15">
                  <c:v>54.164826358361282</c:v>
                </c:pt>
                <c:pt idx="16">
                  <c:v>52.68772925157667</c:v>
                </c:pt>
                <c:pt idx="17">
                  <c:v>51.109932885407019</c:v>
                </c:pt>
                <c:pt idx="18">
                  <c:v>49.530305497113694</c:v>
                </c:pt>
                <c:pt idx="19">
                  <c:v>48.043760039047307</c:v>
                </c:pt>
                <c:pt idx="20">
                  <c:v>46.735873334663779</c:v>
                </c:pt>
                <c:pt idx="21">
                  <c:v>45.678244527030614</c:v>
                </c:pt>
                <c:pt idx="22">
                  <c:v>44.924832154009593</c:v>
                </c:pt>
                <c:pt idx="23">
                  <c:v>44.509446030637669</c:v>
                </c:pt>
                <c:pt idx="24">
                  <c:v>44.444498852496089</c:v>
                </c:pt>
                <c:pt idx="25">
                  <c:v>44.721047286302209</c:v>
                </c:pt>
                <c:pt idx="26">
                  <c:v>45.310077635597708</c:v>
                </c:pt>
                <c:pt idx="27">
                  <c:v>46.164921179856997</c:v>
                </c:pt>
                <c:pt idx="28">
                  <c:v>47.224622837928784</c:v>
                </c:pt>
                <c:pt idx="29">
                  <c:v>48.418037178062065</c:v>
                </c:pt>
                <c:pt idx="30">
                  <c:v>49.668390513243999</c:v>
                </c:pt>
              </c:numCache>
            </c:numRef>
          </c:yVal>
          <c:smooth val="1"/>
          <c:extLst>
            <c:ext xmlns:c16="http://schemas.microsoft.com/office/drawing/2014/chart" uri="{C3380CC4-5D6E-409C-BE32-E72D297353CC}">
              <c16:uniqueId val="{00000001-F672-544C-8593-6D38A3905AD7}"/>
            </c:ext>
          </c:extLst>
        </c:ser>
        <c:dLbls>
          <c:showLegendKey val="0"/>
          <c:showVal val="0"/>
          <c:showCatName val="0"/>
          <c:showSerName val="0"/>
          <c:showPercent val="0"/>
          <c:showBubbleSize val="0"/>
        </c:dLbls>
        <c:axId val="1887436800"/>
        <c:axId val="1853584704"/>
      </c:scatterChart>
      <c:valAx>
        <c:axId val="1887436800"/>
        <c:scaling>
          <c:orientation val="minMax"/>
          <c:max val="5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dirty="0"/>
                  <a:t>Time (sec)</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53584704"/>
        <c:crossesAt val="-20"/>
        <c:crossBetween val="midCat"/>
      </c:valAx>
      <c:valAx>
        <c:axId val="1853584704"/>
        <c:scaling>
          <c:orientation val="minMax"/>
          <c:min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8743680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areaChart>
        <c:grouping val="standard"/>
        <c:varyColors val="0"/>
        <c:ser>
          <c:idx val="0"/>
          <c:order val="0"/>
          <c:tx>
            <c:strRef>
              <c:f>Sheet1!$B$1</c:f>
              <c:strCache>
                <c:ptCount val="1"/>
                <c:pt idx="0">
                  <c:v>Light Intensity</c:v>
                </c:pt>
              </c:strCache>
            </c:strRef>
          </c:tx>
          <c:spPr>
            <a:solidFill>
              <a:srgbClr val="92D050"/>
            </a:solidFill>
            <a:ln>
              <a:noFill/>
            </a:ln>
            <a:effectLst/>
          </c:spPr>
          <c:cat>
            <c:numRef>
              <c:f>Sheet1!$A$2:$A$52</c:f>
              <c:numCache>
                <c:formatCode>General</c:formatCode>
                <c:ptCount val="5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numCache>
            </c:numRef>
          </c:cat>
          <c:val>
            <c:numRef>
              <c:f>Sheet1!$D$2:$D$22</c:f>
              <c:numCache>
                <c:formatCode>General</c:formatCode>
                <c:ptCount val="21"/>
                <c:pt idx="0">
                  <c:v>0</c:v>
                </c:pt>
                <c:pt idx="1">
                  <c:v>6.7473807069415344</c:v>
                </c:pt>
                <c:pt idx="2">
                  <c:v>11.985638465105076</c:v>
                </c:pt>
                <c:pt idx="3">
                  <c:v>15.73012523130771</c:v>
                </c:pt>
                <c:pt idx="4">
                  <c:v>18.03152110302635</c:v>
                </c:pt>
                <c:pt idx="5">
                  <c:v>18.979692387111726</c:v>
                </c:pt>
                <c:pt idx="6">
                  <c:v>18.703030998826023</c:v>
                </c:pt>
                <c:pt idx="7">
                  <c:v>17.364457886010655</c:v>
                </c:pt>
                <c:pt idx="8">
                  <c:v>15.154957113761355</c:v>
                </c:pt>
                <c:pt idx="9">
                  <c:v>12.285366266651387</c:v>
                </c:pt>
                <c:pt idx="10">
                  <c:v>8.9770821615593519</c:v>
                </c:pt>
                <c:pt idx="11">
                  <c:v>5.4522998864618799</c:v>
                </c:pt>
                <c:pt idx="12">
                  <c:v>1.9243637462709131</c:v>
                </c:pt>
                <c:pt idx="13">
                  <c:v>0</c:v>
                </c:pt>
                <c:pt idx="14">
                  <c:v>0</c:v>
                </c:pt>
                <c:pt idx="15">
                  <c:v>0</c:v>
                </c:pt>
                <c:pt idx="16">
                  <c:v>0</c:v>
                </c:pt>
                <c:pt idx="17">
                  <c:v>0</c:v>
                </c:pt>
                <c:pt idx="18">
                  <c:v>0</c:v>
                </c:pt>
                <c:pt idx="19">
                  <c:v>0</c:v>
                </c:pt>
                <c:pt idx="20">
                  <c:v>0</c:v>
                </c:pt>
              </c:numCache>
            </c:numRef>
          </c:val>
          <c:extLst>
            <c:ext xmlns:c16="http://schemas.microsoft.com/office/drawing/2014/chart" uri="{C3380CC4-5D6E-409C-BE32-E72D297353CC}">
              <c16:uniqueId val="{00000000-F840-9445-B079-62CEF09B6AF8}"/>
            </c:ext>
          </c:extLst>
        </c:ser>
        <c:ser>
          <c:idx val="1"/>
          <c:order val="1"/>
          <c:spPr>
            <a:solidFill>
              <a:srgbClr val="FF0000"/>
            </a:solidFill>
            <a:ln>
              <a:noFill/>
            </a:ln>
            <a:effectLst/>
          </c:spPr>
          <c:cat>
            <c:numRef>
              <c:f>Sheet1!$A$2:$A$52</c:f>
              <c:numCache>
                <c:formatCode>General</c:formatCode>
                <c:ptCount val="5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numCache>
            </c:numRef>
          </c:cat>
          <c:val>
            <c:numRef>
              <c:f>Sheet1!$E$2:$E$22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-1.4112408851753244</c:v>
                </c:pt>
                <c:pt idx="14">
                  <c:v>-4.3847903461202478</c:v>
                </c:pt>
                <c:pt idx="15">
                  <c:v>-6.8587358249081234</c:v>
                </c:pt>
                <c:pt idx="16">
                  <c:v>-8.7323364843222464</c:v>
                </c:pt>
                <c:pt idx="17">
                  <c:v>-9.9443262025398198</c:v>
                </c:pt>
                <c:pt idx="18">
                  <c:v>-10.473536974983183</c:v>
                </c:pt>
                <c:pt idx="19">
                  <c:v>-10.337511610090118</c:v>
                </c:pt>
                <c:pt idx="20">
                  <c:v>-9.5892427466313848</c:v>
                </c:pt>
              </c:numCache>
            </c:numRef>
          </c:val>
          <c:extLst>
            <c:ext xmlns:c16="http://schemas.microsoft.com/office/drawing/2014/chart" uri="{C3380CC4-5D6E-409C-BE32-E72D297353CC}">
              <c16:uniqueId val="{00000001-F840-9445-B079-62CEF09B6AF8}"/>
            </c:ext>
          </c:extLst>
        </c:ser>
        <c:dLbls>
          <c:showLegendKey val="0"/>
          <c:showVal val="0"/>
          <c:showCatName val="0"/>
          <c:showSerName val="0"/>
          <c:showPercent val="0"/>
          <c:showBubbleSize val="0"/>
        </c:dLbls>
        <c:axId val="1887436800"/>
        <c:axId val="1853584704"/>
      </c:areaChart>
      <c:catAx>
        <c:axId val="18874368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dirty="0">
                    <a:solidFill>
                      <a:schemeClr val="tx1"/>
                    </a:solidFill>
                  </a:rPr>
                  <a:t>Time (sec)</a:t>
                </a:r>
              </a:p>
            </c:rich>
          </c:tx>
          <c:layout>
            <c:manualLayout>
              <c:xMode val="edge"/>
              <c:yMode val="edge"/>
              <c:x val="0.4534091571886848"/>
              <c:y val="0.7860659317027785"/>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crossAx val="1853584704"/>
        <c:crosses val="autoZero"/>
        <c:auto val="1"/>
        <c:lblAlgn val="ctr"/>
        <c:lblOffset val="100"/>
        <c:tickLblSkip val="10"/>
        <c:noMultiLvlLbl val="0"/>
      </c:catAx>
      <c:valAx>
        <c:axId val="18535847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dirty="0">
                    <a:solidFill>
                      <a:schemeClr val="tx1"/>
                    </a:solidFill>
                  </a:rPr>
                  <a:t>Error</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crossAx val="188743680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400"/>
      </a:pPr>
      <a:endParaRPr lang="en-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Sheet1!$B$1</c:f>
              <c:strCache>
                <c:ptCount val="1"/>
                <c:pt idx="0">
                  <c:v>Light Intensity</c:v>
                </c:pt>
              </c:strCache>
            </c:strRef>
          </c:tx>
          <c:spPr>
            <a:ln w="19050" cap="rnd">
              <a:solidFill>
                <a:schemeClr val="accent1"/>
              </a:solidFill>
              <a:round/>
            </a:ln>
            <a:effectLst/>
          </c:spPr>
          <c:marker>
            <c:symbol val="none"/>
          </c:marker>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Sheet1!$F$2:$F$22</c:f>
              <c:numCache>
                <c:formatCode>General</c:formatCode>
                <c:ptCount val="21"/>
                <c:pt idx="0">
                  <c:v>0</c:v>
                </c:pt>
                <c:pt idx="1">
                  <c:v>6.7473807069415344</c:v>
                </c:pt>
                <c:pt idx="2">
                  <c:v>18.73301917204661</c:v>
                </c:pt>
                <c:pt idx="3">
                  <c:v>34.46314440335432</c:v>
                </c:pt>
                <c:pt idx="4">
                  <c:v>52.49466550638067</c:v>
                </c:pt>
                <c:pt idx="5">
                  <c:v>71.474357893492396</c:v>
                </c:pt>
                <c:pt idx="6">
                  <c:v>90.177388892318419</c:v>
                </c:pt>
                <c:pt idx="7">
                  <c:v>107.54184677832907</c:v>
                </c:pt>
                <c:pt idx="8">
                  <c:v>122.69680389209043</c:v>
                </c:pt>
                <c:pt idx="9">
                  <c:v>134.98217015874181</c:v>
                </c:pt>
                <c:pt idx="10">
                  <c:v>143.95925232030118</c:v>
                </c:pt>
                <c:pt idx="11">
                  <c:v>149.41155220676305</c:v>
                </c:pt>
                <c:pt idx="12">
                  <c:v>151.33591595303398</c:v>
                </c:pt>
                <c:pt idx="13">
                  <c:v>149.92467506785866</c:v>
                </c:pt>
                <c:pt idx="14">
                  <c:v>145.53988472173842</c:v>
                </c:pt>
                <c:pt idx="15">
                  <c:v>138.68114889683028</c:v>
                </c:pt>
                <c:pt idx="16">
                  <c:v>129.94881241250803</c:v>
                </c:pt>
                <c:pt idx="17">
                  <c:v>120.00448620996821</c:v>
                </c:pt>
                <c:pt idx="18">
                  <c:v>109.53094923498503</c:v>
                </c:pt>
                <c:pt idx="19">
                  <c:v>99.193437624894912</c:v>
                </c:pt>
                <c:pt idx="20">
                  <c:v>89.604194878263527</c:v>
                </c:pt>
              </c:numCache>
            </c:numRef>
          </c:yVal>
          <c:smooth val="1"/>
          <c:extLst>
            <c:ext xmlns:c16="http://schemas.microsoft.com/office/drawing/2014/chart" uri="{C3380CC4-5D6E-409C-BE32-E72D297353CC}">
              <c16:uniqueId val="{00000000-DBC0-6C4D-A4A4-306808B39F67}"/>
            </c:ext>
          </c:extLst>
        </c:ser>
        <c:ser>
          <c:idx val="1"/>
          <c:order val="1"/>
          <c:spPr>
            <a:ln w="19050" cap="rnd">
              <a:solidFill>
                <a:schemeClr val="accent2"/>
              </a:solidFill>
              <a:round/>
            </a:ln>
            <a:effectLst/>
          </c:spPr>
          <c:marker>
            <c:symbol val="none"/>
          </c:marker>
          <c:xVal>
            <c:numRef>
              <c:f>Sheet1!$A$22:$A$52</c:f>
              <c:numCache>
                <c:formatCode>General</c:formatCode>
                <c:ptCount val="31"/>
                <c:pt idx="0">
                  <c:v>20</c:v>
                </c:pt>
                <c:pt idx="1">
                  <c:v>21</c:v>
                </c:pt>
                <c:pt idx="2">
                  <c:v>22</c:v>
                </c:pt>
                <c:pt idx="3">
                  <c:v>23</c:v>
                </c:pt>
                <c:pt idx="4">
                  <c:v>24</c:v>
                </c:pt>
                <c:pt idx="5">
                  <c:v>25</c:v>
                </c:pt>
                <c:pt idx="6">
                  <c:v>26</c:v>
                </c:pt>
                <c:pt idx="7">
                  <c:v>27</c:v>
                </c:pt>
                <c:pt idx="8">
                  <c:v>28</c:v>
                </c:pt>
                <c:pt idx="9">
                  <c:v>29</c:v>
                </c:pt>
                <c:pt idx="10">
                  <c:v>30</c:v>
                </c:pt>
                <c:pt idx="11">
                  <c:v>31</c:v>
                </c:pt>
                <c:pt idx="12">
                  <c:v>32</c:v>
                </c:pt>
                <c:pt idx="13">
                  <c:v>33</c:v>
                </c:pt>
                <c:pt idx="14">
                  <c:v>34</c:v>
                </c:pt>
                <c:pt idx="15">
                  <c:v>35</c:v>
                </c:pt>
                <c:pt idx="16">
                  <c:v>36</c:v>
                </c:pt>
                <c:pt idx="17">
                  <c:v>37</c:v>
                </c:pt>
                <c:pt idx="18">
                  <c:v>38</c:v>
                </c:pt>
                <c:pt idx="19">
                  <c:v>39</c:v>
                </c:pt>
                <c:pt idx="20">
                  <c:v>40</c:v>
                </c:pt>
                <c:pt idx="21">
                  <c:v>41</c:v>
                </c:pt>
                <c:pt idx="22">
                  <c:v>42</c:v>
                </c:pt>
                <c:pt idx="23">
                  <c:v>43</c:v>
                </c:pt>
                <c:pt idx="24">
                  <c:v>44</c:v>
                </c:pt>
                <c:pt idx="25">
                  <c:v>45</c:v>
                </c:pt>
                <c:pt idx="26">
                  <c:v>46</c:v>
                </c:pt>
                <c:pt idx="27">
                  <c:v>47</c:v>
                </c:pt>
                <c:pt idx="28">
                  <c:v>48</c:v>
                </c:pt>
                <c:pt idx="29">
                  <c:v>49</c:v>
                </c:pt>
                <c:pt idx="30">
                  <c:v>50</c:v>
                </c:pt>
              </c:numCache>
            </c:numRef>
          </c:xVal>
          <c:yVal>
            <c:numRef>
              <c:f>Sheet1!$F$22:$F$52</c:f>
              <c:numCache>
                <c:formatCode>General</c:formatCode>
                <c:ptCount val="31"/>
                <c:pt idx="0">
                  <c:v>89.604194878263527</c:v>
                </c:pt>
                <c:pt idx="1">
                  <c:v>81.291925587038435</c:v>
                </c:pt>
                <c:pt idx="2">
                  <c:v>74.677485034816016</c:v>
                </c:pt>
                <c:pt idx="3">
                  <c:v>70.056766148459118</c:v>
                </c:pt>
                <c:pt idx="4">
                  <c:v>67.591335281997999</c:v>
                </c:pt>
                <c:pt idx="5">
                  <c:v>67.306941997304648</c:v>
                </c:pt>
                <c:pt idx="6">
                  <c:v>69.099608564703118</c:v>
                </c:pt>
                <c:pt idx="7">
                  <c:v>72.748614568329742</c:v>
                </c:pt>
                <c:pt idx="8">
                  <c:v>77.935350874004399</c:v>
                </c:pt>
                <c:pt idx="9">
                  <c:v>84.266742251015984</c:v>
                </c:pt>
                <c:pt idx="10">
                  <c:v>91.301742076826528</c:v>
                </c:pt>
                <c:pt idx="11">
                  <c:v>98.579294119103423</c:v>
                </c:pt>
                <c:pt idx="12">
                  <c:v>105.64613873784187</c:v>
                </c:pt>
                <c:pt idx="13">
                  <c:v>112.08291229765122</c:v>
                </c:pt>
                <c:pt idx="14">
                  <c:v>117.5271426109932</c:v>
                </c:pt>
                <c:pt idx="15">
                  <c:v>121.69196896935448</c:v>
                </c:pt>
                <c:pt idx="16">
                  <c:v>124.37969822093115</c:v>
                </c:pt>
                <c:pt idx="17">
                  <c:v>125.48963110633817</c:v>
                </c:pt>
                <c:pt idx="18">
                  <c:v>125.01993660345187</c:v>
                </c:pt>
                <c:pt idx="19">
                  <c:v>123.06369664249917</c:v>
                </c:pt>
                <c:pt idx="20">
                  <c:v>119.79956997716295</c:v>
                </c:pt>
                <c:pt idx="21">
                  <c:v>115.47781450419356</c:v>
                </c:pt>
                <c:pt idx="22">
                  <c:v>110.40264665820315</c:v>
                </c:pt>
                <c:pt idx="23">
                  <c:v>104.91209268884083</c:v>
                </c:pt>
                <c:pt idx="24">
                  <c:v>99.356591541336911</c:v>
                </c:pt>
                <c:pt idx="25">
                  <c:v>94.07763882763912</c:v>
                </c:pt>
                <c:pt idx="26">
                  <c:v>89.387716463236828</c:v>
                </c:pt>
                <c:pt idx="27">
                  <c:v>85.552637643093817</c:v>
                </c:pt>
                <c:pt idx="28">
                  <c:v>82.777260481022608</c:v>
                </c:pt>
                <c:pt idx="29">
                  <c:v>81.195297659084673</c:v>
                </c:pt>
                <c:pt idx="30">
                  <c:v>80.863688172328665</c:v>
                </c:pt>
              </c:numCache>
            </c:numRef>
          </c:yVal>
          <c:smooth val="1"/>
          <c:extLst>
            <c:ext xmlns:c16="http://schemas.microsoft.com/office/drawing/2014/chart" uri="{C3380CC4-5D6E-409C-BE32-E72D297353CC}">
              <c16:uniqueId val="{00000001-DBC0-6C4D-A4A4-306808B39F67}"/>
            </c:ext>
          </c:extLst>
        </c:ser>
        <c:dLbls>
          <c:showLegendKey val="0"/>
          <c:showVal val="0"/>
          <c:showCatName val="0"/>
          <c:showSerName val="0"/>
          <c:showPercent val="0"/>
          <c:showBubbleSize val="0"/>
        </c:dLbls>
        <c:axId val="1887436800"/>
        <c:axId val="1853584704"/>
      </c:scatterChart>
      <c:valAx>
        <c:axId val="1887436800"/>
        <c:scaling>
          <c:orientation val="minMax"/>
          <c:max val="2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dirty="0">
                    <a:solidFill>
                      <a:schemeClr val="tx1"/>
                    </a:solidFill>
                  </a:rPr>
                  <a:t>Time (sec)</a:t>
                </a:r>
              </a:p>
            </c:rich>
          </c:tx>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crossAx val="1853584704"/>
        <c:crosses val="autoZero"/>
        <c:crossBetween val="midCat"/>
      </c:valAx>
      <c:valAx>
        <c:axId val="18535847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r>
                  <a:rPr lang="en-US" dirty="0">
                    <a:solidFill>
                      <a:schemeClr val="tx1"/>
                    </a:solidFill>
                  </a:rPr>
                  <a:t>Integral</a:t>
                </a:r>
              </a:p>
            </c:rich>
          </c:tx>
          <c:overlay val="0"/>
          <c:spPr>
            <a:noFill/>
            <a:ln>
              <a:noFill/>
            </a:ln>
            <a:effectLst/>
          </c:spPr>
          <c:txPr>
            <a:bodyPr rot="-54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JP"/>
          </a:p>
        </c:txPr>
        <c:crossAx val="188743680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400"/>
      </a:pPr>
      <a:endParaRPr lang="en-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Sheet1!$B$1</c:f>
              <c:strCache>
                <c:ptCount val="1"/>
                <c:pt idx="0">
                  <c:v>Light Intensity</c:v>
                </c:pt>
              </c:strCache>
            </c:strRef>
          </c:tx>
          <c:spPr>
            <a:ln w="19050" cap="rnd">
              <a:solidFill>
                <a:schemeClr val="accent1"/>
              </a:solidFill>
              <a:round/>
            </a:ln>
            <a:effectLst/>
          </c:spPr>
          <c:marker>
            <c:symbol val="none"/>
          </c:marker>
          <c:dPt>
            <c:idx val="20"/>
            <c:marker>
              <c:symbol val="none"/>
            </c:marker>
            <c:bubble3D val="0"/>
            <c:extLst>
              <c:ext xmlns:c16="http://schemas.microsoft.com/office/drawing/2014/chart" uri="{C3380CC4-5D6E-409C-BE32-E72D297353CC}">
                <c16:uniqueId val="{00000000-3D36-EE42-95D1-4083D067CAF1}"/>
              </c:ext>
            </c:extLst>
          </c:dPt>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Sheet1!$C$2:$C$22</c:f>
              <c:numCache>
                <c:formatCode>General</c:formatCode>
                <c:ptCount val="21"/>
                <c:pt idx="0">
                  <c:v>0</c:v>
                </c:pt>
                <c:pt idx="1">
                  <c:v>6.7473807069415344</c:v>
                </c:pt>
                <c:pt idx="2">
                  <c:v>11.985638465105076</c:v>
                </c:pt>
                <c:pt idx="3">
                  <c:v>15.73012523130771</c:v>
                </c:pt>
                <c:pt idx="4">
                  <c:v>18.03152110302635</c:v>
                </c:pt>
                <c:pt idx="5">
                  <c:v>18.979692387111726</c:v>
                </c:pt>
                <c:pt idx="6">
                  <c:v>18.703030998826023</c:v>
                </c:pt>
                <c:pt idx="7">
                  <c:v>17.364457886010655</c:v>
                </c:pt>
                <c:pt idx="8">
                  <c:v>15.154957113761355</c:v>
                </c:pt>
                <c:pt idx="9">
                  <c:v>12.285366266651387</c:v>
                </c:pt>
                <c:pt idx="10">
                  <c:v>8.9770821615593519</c:v>
                </c:pt>
                <c:pt idx="11">
                  <c:v>5.4522998864618799</c:v>
                </c:pt>
                <c:pt idx="12">
                  <c:v>1.9243637462709131</c:v>
                </c:pt>
                <c:pt idx="13">
                  <c:v>-1.4112408851753244</c:v>
                </c:pt>
                <c:pt idx="14">
                  <c:v>-4.3847903461202478</c:v>
                </c:pt>
                <c:pt idx="15">
                  <c:v>-6.8587358249081234</c:v>
                </c:pt>
                <c:pt idx="16">
                  <c:v>-8.7323364843222464</c:v>
                </c:pt>
                <c:pt idx="17">
                  <c:v>-9.9443262025398198</c:v>
                </c:pt>
                <c:pt idx="18">
                  <c:v>-10.473536974983183</c:v>
                </c:pt>
                <c:pt idx="19">
                  <c:v>-10.337511610090118</c:v>
                </c:pt>
                <c:pt idx="20">
                  <c:v>-9.5892427466313848</c:v>
                </c:pt>
              </c:numCache>
            </c:numRef>
          </c:yVal>
          <c:smooth val="1"/>
          <c:extLst>
            <c:ext xmlns:c16="http://schemas.microsoft.com/office/drawing/2014/chart" uri="{C3380CC4-5D6E-409C-BE32-E72D297353CC}">
              <c16:uniqueId val="{00000001-3D36-EE42-95D1-4083D067CAF1}"/>
            </c:ext>
          </c:extLst>
        </c:ser>
        <c:ser>
          <c:idx val="1"/>
          <c:order val="1"/>
          <c:spPr>
            <a:ln w="19050" cap="rnd">
              <a:solidFill>
                <a:schemeClr val="accent2"/>
              </a:solidFill>
              <a:prstDash val="dash"/>
              <a:round/>
            </a:ln>
            <a:effectLst/>
          </c:spPr>
          <c:marker>
            <c:symbol val="none"/>
          </c:marker>
          <c:dPt>
            <c:idx val="0"/>
            <c:marker>
              <c:symbol val="none"/>
            </c:marker>
            <c:bubble3D val="0"/>
            <c:extLst>
              <c:ext xmlns:c16="http://schemas.microsoft.com/office/drawing/2014/chart" uri="{C3380CC4-5D6E-409C-BE32-E72D297353CC}">
                <c16:uniqueId val="{00000003-3D36-EE42-95D1-4083D067CAF1}"/>
              </c:ext>
            </c:extLst>
          </c:dPt>
          <c:xVal>
            <c:numRef>
              <c:f>Sheet1!$A$22:$A$52</c:f>
              <c:numCache>
                <c:formatCode>General</c:formatCode>
                <c:ptCount val="31"/>
                <c:pt idx="0">
                  <c:v>20</c:v>
                </c:pt>
                <c:pt idx="1">
                  <c:v>21</c:v>
                </c:pt>
                <c:pt idx="2">
                  <c:v>22</c:v>
                </c:pt>
                <c:pt idx="3">
                  <c:v>23</c:v>
                </c:pt>
                <c:pt idx="4">
                  <c:v>24</c:v>
                </c:pt>
                <c:pt idx="5">
                  <c:v>25</c:v>
                </c:pt>
                <c:pt idx="6">
                  <c:v>26</c:v>
                </c:pt>
                <c:pt idx="7">
                  <c:v>27</c:v>
                </c:pt>
                <c:pt idx="8">
                  <c:v>28</c:v>
                </c:pt>
                <c:pt idx="9">
                  <c:v>29</c:v>
                </c:pt>
                <c:pt idx="10">
                  <c:v>30</c:v>
                </c:pt>
                <c:pt idx="11">
                  <c:v>31</c:v>
                </c:pt>
                <c:pt idx="12">
                  <c:v>32</c:v>
                </c:pt>
                <c:pt idx="13">
                  <c:v>33</c:v>
                </c:pt>
                <c:pt idx="14">
                  <c:v>34</c:v>
                </c:pt>
                <c:pt idx="15">
                  <c:v>35</c:v>
                </c:pt>
                <c:pt idx="16">
                  <c:v>36</c:v>
                </c:pt>
                <c:pt idx="17">
                  <c:v>37</c:v>
                </c:pt>
                <c:pt idx="18">
                  <c:v>38</c:v>
                </c:pt>
                <c:pt idx="19">
                  <c:v>39</c:v>
                </c:pt>
                <c:pt idx="20">
                  <c:v>40</c:v>
                </c:pt>
                <c:pt idx="21">
                  <c:v>41</c:v>
                </c:pt>
                <c:pt idx="22">
                  <c:v>42</c:v>
                </c:pt>
                <c:pt idx="23">
                  <c:v>43</c:v>
                </c:pt>
                <c:pt idx="24">
                  <c:v>44</c:v>
                </c:pt>
                <c:pt idx="25">
                  <c:v>45</c:v>
                </c:pt>
                <c:pt idx="26">
                  <c:v>46</c:v>
                </c:pt>
                <c:pt idx="27">
                  <c:v>47</c:v>
                </c:pt>
                <c:pt idx="28">
                  <c:v>48</c:v>
                </c:pt>
                <c:pt idx="29">
                  <c:v>49</c:v>
                </c:pt>
                <c:pt idx="30">
                  <c:v>50</c:v>
                </c:pt>
              </c:numCache>
            </c:numRef>
          </c:xVal>
          <c:yVal>
            <c:numRef>
              <c:f>Sheet1!$C$22:$C$52</c:f>
              <c:numCache>
                <c:formatCode>General</c:formatCode>
                <c:ptCount val="31"/>
                <c:pt idx="0">
                  <c:v>-9.5892427466313848</c:v>
                </c:pt>
                <c:pt idx="1">
                  <c:v>-8.3122692912250855</c:v>
                </c:pt>
                <c:pt idx="2">
                  <c:v>-6.6144405522224261</c:v>
                </c:pt>
                <c:pt idx="3">
                  <c:v>-4.6207188863568973</c:v>
                </c:pt>
                <c:pt idx="4">
                  <c:v>-2.4654308664611122</c:v>
                </c:pt>
                <c:pt idx="5">
                  <c:v>-0.28439328469334413</c:v>
                </c:pt>
                <c:pt idx="6">
                  <c:v>1.792666567398463</c:v>
                </c:pt>
                <c:pt idx="7">
                  <c:v>3.6490060036266314</c:v>
                </c:pt>
                <c:pt idx="8">
                  <c:v>5.1867363056746498</c:v>
                </c:pt>
                <c:pt idx="9">
                  <c:v>6.3313913770115846</c:v>
                </c:pt>
                <c:pt idx="10">
                  <c:v>7.0349998258105444</c:v>
                </c:pt>
                <c:pt idx="11">
                  <c:v>7.2775520422768949</c:v>
                </c:pt>
                <c:pt idx="12">
                  <c:v>7.0668446187384433</c:v>
                </c:pt>
                <c:pt idx="13">
                  <c:v>6.4367735598093532</c:v>
                </c:pt>
                <c:pt idx="14">
                  <c:v>5.4442303133419756</c:v>
                </c:pt>
                <c:pt idx="15">
                  <c:v>4.1648263583612817</c:v>
                </c:pt>
                <c:pt idx="16">
                  <c:v>2.6877292515766698</c:v>
                </c:pt>
                <c:pt idx="17">
                  <c:v>1.1099328854070194</c:v>
                </c:pt>
                <c:pt idx="18">
                  <c:v>-0.46969450288630554</c:v>
                </c:pt>
                <c:pt idx="19">
                  <c:v>-1.9562399609526935</c:v>
                </c:pt>
                <c:pt idx="20">
                  <c:v>-3.2641266653362209</c:v>
                </c:pt>
                <c:pt idx="21">
                  <c:v>-4.3217554729693859</c:v>
                </c:pt>
                <c:pt idx="22">
                  <c:v>-5.075167845990407</c:v>
                </c:pt>
                <c:pt idx="23">
                  <c:v>-5.4905539693623311</c:v>
                </c:pt>
                <c:pt idx="24">
                  <c:v>-5.5555011475039109</c:v>
                </c:pt>
                <c:pt idx="25">
                  <c:v>-5.278952713697791</c:v>
                </c:pt>
                <c:pt idx="26">
                  <c:v>-4.6899223644022925</c:v>
                </c:pt>
                <c:pt idx="27">
                  <c:v>-3.8350788201430035</c:v>
                </c:pt>
                <c:pt idx="28">
                  <c:v>-2.7753771620712158</c:v>
                </c:pt>
                <c:pt idx="29">
                  <c:v>-1.5819628219379354</c:v>
                </c:pt>
                <c:pt idx="30">
                  <c:v>-0.3316094867560011</c:v>
                </c:pt>
              </c:numCache>
            </c:numRef>
          </c:yVal>
          <c:smooth val="1"/>
          <c:extLst>
            <c:ext xmlns:c16="http://schemas.microsoft.com/office/drawing/2014/chart" uri="{C3380CC4-5D6E-409C-BE32-E72D297353CC}">
              <c16:uniqueId val="{00000002-3D36-EE42-95D1-4083D067CAF1}"/>
            </c:ext>
          </c:extLst>
        </c:ser>
        <c:dLbls>
          <c:showLegendKey val="0"/>
          <c:showVal val="0"/>
          <c:showCatName val="0"/>
          <c:showSerName val="0"/>
          <c:showPercent val="0"/>
          <c:showBubbleSize val="0"/>
        </c:dLbls>
        <c:axId val="1887436800"/>
        <c:axId val="1853584704"/>
      </c:scatterChart>
      <c:valAx>
        <c:axId val="1887436800"/>
        <c:scaling>
          <c:orientation val="minMax"/>
          <c:max val="30"/>
          <c:min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dirty="0"/>
                  <a:t>Time (sec)</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53584704"/>
        <c:crosses val="autoZero"/>
        <c:crossBetween val="midCat"/>
        <c:majorUnit val="10"/>
      </c:valAx>
      <c:valAx>
        <c:axId val="1853584704"/>
        <c:scaling>
          <c:orientation val="minMax"/>
          <c:max val="15"/>
          <c:min val="-1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dirty="0"/>
                  <a:t>Error</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8743680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Sheet1!$B$1</c:f>
              <c:strCache>
                <c:ptCount val="1"/>
                <c:pt idx="0">
                  <c:v>Light Intensity</c:v>
                </c:pt>
              </c:strCache>
            </c:strRef>
          </c:tx>
          <c:spPr>
            <a:ln w="19050" cap="rnd">
              <a:solidFill>
                <a:schemeClr val="accent1"/>
              </a:solidFill>
              <a:round/>
            </a:ln>
            <a:effectLst/>
          </c:spPr>
          <c:marker>
            <c:symbol val="none"/>
          </c:marker>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Sheet1!$G$2:$G$22</c:f>
              <c:numCache>
                <c:formatCode>General</c:formatCode>
                <c:ptCount val="21"/>
                <c:pt idx="0">
                  <c:v>0</c:v>
                </c:pt>
                <c:pt idx="1">
                  <c:v>6.7473807069415344</c:v>
                </c:pt>
                <c:pt idx="2">
                  <c:v>5.2382577581635417</c:v>
                </c:pt>
                <c:pt idx="3">
                  <c:v>3.744486766202634</c:v>
                </c:pt>
                <c:pt idx="4">
                  <c:v>2.3013958717186398</c:v>
                </c:pt>
                <c:pt idx="5">
                  <c:v>0.94817128408537599</c:v>
                </c:pt>
                <c:pt idx="6">
                  <c:v>-0.27666138828570297</c:v>
                </c:pt>
                <c:pt idx="7">
                  <c:v>-1.3385731128153679</c:v>
                </c:pt>
                <c:pt idx="8">
                  <c:v>-2.2095007722492994</c:v>
                </c:pt>
                <c:pt idx="9">
                  <c:v>-2.8695908471099685</c:v>
                </c:pt>
                <c:pt idx="10">
                  <c:v>-3.3082841050920351</c:v>
                </c:pt>
                <c:pt idx="11">
                  <c:v>-3.524782275097472</c:v>
                </c:pt>
                <c:pt idx="12">
                  <c:v>-3.5279361401909668</c:v>
                </c:pt>
                <c:pt idx="13">
                  <c:v>-3.3356046314462375</c:v>
                </c:pt>
                <c:pt idx="14">
                  <c:v>-2.9735494609449233</c:v>
                </c:pt>
                <c:pt idx="15">
                  <c:v>-2.4739454787878756</c:v>
                </c:pt>
                <c:pt idx="16">
                  <c:v>-1.873600659414123</c:v>
                </c:pt>
                <c:pt idx="17">
                  <c:v>-1.2119897182175734</c:v>
                </c:pt>
                <c:pt idx="18">
                  <c:v>-0.52921077244336345</c:v>
                </c:pt>
                <c:pt idx="19">
                  <c:v>0.13602536489306516</c:v>
                </c:pt>
                <c:pt idx="20">
                  <c:v>0.74826886345873334</c:v>
                </c:pt>
              </c:numCache>
            </c:numRef>
          </c:yVal>
          <c:smooth val="1"/>
          <c:extLst>
            <c:ext xmlns:c16="http://schemas.microsoft.com/office/drawing/2014/chart" uri="{C3380CC4-5D6E-409C-BE32-E72D297353CC}">
              <c16:uniqueId val="{00000000-152C-E444-88FE-B6F83B2ED185}"/>
            </c:ext>
          </c:extLst>
        </c:ser>
        <c:ser>
          <c:idx val="1"/>
          <c:order val="1"/>
          <c:spPr>
            <a:ln w="19050" cap="rnd">
              <a:solidFill>
                <a:schemeClr val="accent2"/>
              </a:solidFill>
              <a:prstDash val="dash"/>
              <a:round/>
            </a:ln>
            <a:effectLst/>
          </c:spPr>
          <c:marker>
            <c:symbol val="none"/>
          </c:marker>
          <c:xVal>
            <c:numRef>
              <c:f>Sheet1!$A$22:$A$52</c:f>
              <c:numCache>
                <c:formatCode>General</c:formatCode>
                <c:ptCount val="31"/>
                <c:pt idx="0">
                  <c:v>20</c:v>
                </c:pt>
                <c:pt idx="1">
                  <c:v>21</c:v>
                </c:pt>
                <c:pt idx="2">
                  <c:v>22</c:v>
                </c:pt>
                <c:pt idx="3">
                  <c:v>23</c:v>
                </c:pt>
                <c:pt idx="4">
                  <c:v>24</c:v>
                </c:pt>
                <c:pt idx="5">
                  <c:v>25</c:v>
                </c:pt>
                <c:pt idx="6">
                  <c:v>26</c:v>
                </c:pt>
                <c:pt idx="7">
                  <c:v>27</c:v>
                </c:pt>
                <c:pt idx="8">
                  <c:v>28</c:v>
                </c:pt>
                <c:pt idx="9">
                  <c:v>29</c:v>
                </c:pt>
                <c:pt idx="10">
                  <c:v>30</c:v>
                </c:pt>
                <c:pt idx="11">
                  <c:v>31</c:v>
                </c:pt>
                <c:pt idx="12">
                  <c:v>32</c:v>
                </c:pt>
                <c:pt idx="13">
                  <c:v>33</c:v>
                </c:pt>
                <c:pt idx="14">
                  <c:v>34</c:v>
                </c:pt>
                <c:pt idx="15">
                  <c:v>35</c:v>
                </c:pt>
                <c:pt idx="16">
                  <c:v>36</c:v>
                </c:pt>
                <c:pt idx="17">
                  <c:v>37</c:v>
                </c:pt>
                <c:pt idx="18">
                  <c:v>38</c:v>
                </c:pt>
                <c:pt idx="19">
                  <c:v>39</c:v>
                </c:pt>
                <c:pt idx="20">
                  <c:v>40</c:v>
                </c:pt>
                <c:pt idx="21">
                  <c:v>41</c:v>
                </c:pt>
                <c:pt idx="22">
                  <c:v>42</c:v>
                </c:pt>
                <c:pt idx="23">
                  <c:v>43</c:v>
                </c:pt>
                <c:pt idx="24">
                  <c:v>44</c:v>
                </c:pt>
                <c:pt idx="25">
                  <c:v>45</c:v>
                </c:pt>
                <c:pt idx="26">
                  <c:v>46</c:v>
                </c:pt>
                <c:pt idx="27">
                  <c:v>47</c:v>
                </c:pt>
                <c:pt idx="28">
                  <c:v>48</c:v>
                </c:pt>
                <c:pt idx="29">
                  <c:v>49</c:v>
                </c:pt>
                <c:pt idx="30">
                  <c:v>50</c:v>
                </c:pt>
              </c:numCache>
            </c:numRef>
          </c:xVal>
          <c:yVal>
            <c:numRef>
              <c:f>Sheet1!$G$22:$G$52</c:f>
              <c:numCache>
                <c:formatCode>General</c:formatCode>
                <c:ptCount val="31"/>
                <c:pt idx="0">
                  <c:v>0.74826886345873334</c:v>
                </c:pt>
                <c:pt idx="1">
                  <c:v>1.2769734554062993</c:v>
                </c:pt>
                <c:pt idx="2">
                  <c:v>1.6978287390026594</c:v>
                </c:pt>
                <c:pt idx="3">
                  <c:v>1.9937216658655288</c:v>
                </c:pt>
                <c:pt idx="4">
                  <c:v>2.1552880198957851</c:v>
                </c:pt>
                <c:pt idx="5">
                  <c:v>2.1810375817677681</c:v>
                </c:pt>
                <c:pt idx="6">
                  <c:v>2.0770598520918071</c:v>
                </c:pt>
                <c:pt idx="7">
                  <c:v>1.8563394362281684</c:v>
                </c:pt>
                <c:pt idx="8">
                  <c:v>1.5377303020480184</c:v>
                </c:pt>
                <c:pt idx="9">
                  <c:v>1.1446550713369348</c:v>
                </c:pt>
                <c:pt idx="10">
                  <c:v>0.70360844879895978</c:v>
                </c:pt>
                <c:pt idx="11">
                  <c:v>0.2425522164663505</c:v>
                </c:pt>
                <c:pt idx="12">
                  <c:v>-0.21070742353845162</c:v>
                </c:pt>
                <c:pt idx="13">
                  <c:v>-0.6300710589290901</c:v>
                </c:pt>
                <c:pt idx="14">
                  <c:v>-0.99254324646737757</c:v>
                </c:pt>
                <c:pt idx="15">
                  <c:v>-1.2794039549806939</c:v>
                </c:pt>
                <c:pt idx="16">
                  <c:v>-1.4770971067846119</c:v>
                </c:pt>
                <c:pt idx="17">
                  <c:v>-1.5777963661696504</c:v>
                </c:pt>
                <c:pt idx="18">
                  <c:v>-1.5796273882933249</c:v>
                </c:pt>
                <c:pt idx="19">
                  <c:v>-1.4865454580663879</c:v>
                </c:pt>
                <c:pt idx="20">
                  <c:v>-1.3078867043835274</c:v>
                </c:pt>
                <c:pt idx="21">
                  <c:v>-1.057628807633165</c:v>
                </c:pt>
                <c:pt idx="22">
                  <c:v>-0.75341237302102115</c:v>
                </c:pt>
                <c:pt idx="23">
                  <c:v>-0.41538612337192404</c:v>
                </c:pt>
                <c:pt idx="24">
                  <c:v>-6.4947178141579798E-2</c:v>
                </c:pt>
                <c:pt idx="25">
                  <c:v>0.27654843380611993</c:v>
                </c:pt>
                <c:pt idx="26">
                  <c:v>0.58903034929549847</c:v>
                </c:pt>
                <c:pt idx="27">
                  <c:v>0.85484354425928899</c:v>
                </c:pt>
                <c:pt idx="28">
                  <c:v>1.0597016580717877</c:v>
                </c:pt>
                <c:pt idx="29">
                  <c:v>1.1934143401332804</c:v>
                </c:pt>
                <c:pt idx="30">
                  <c:v>1.2503533351819343</c:v>
                </c:pt>
              </c:numCache>
            </c:numRef>
          </c:yVal>
          <c:smooth val="1"/>
          <c:extLst>
            <c:ext xmlns:c16="http://schemas.microsoft.com/office/drawing/2014/chart" uri="{C3380CC4-5D6E-409C-BE32-E72D297353CC}">
              <c16:uniqueId val="{00000001-152C-E444-88FE-B6F83B2ED185}"/>
            </c:ext>
          </c:extLst>
        </c:ser>
        <c:dLbls>
          <c:showLegendKey val="0"/>
          <c:showVal val="0"/>
          <c:showCatName val="0"/>
          <c:showSerName val="0"/>
          <c:showPercent val="0"/>
          <c:showBubbleSize val="0"/>
        </c:dLbls>
        <c:axId val="1887436800"/>
        <c:axId val="1853584704"/>
      </c:scatterChart>
      <c:valAx>
        <c:axId val="1887436800"/>
        <c:scaling>
          <c:orientation val="minMax"/>
          <c:max val="30"/>
          <c:min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dirty="0"/>
                  <a:t>Time (sec)</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53584704"/>
        <c:crosses val="autoZero"/>
        <c:crossBetween val="midCat"/>
        <c:majorUnit val="10"/>
      </c:valAx>
      <c:valAx>
        <c:axId val="18535847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dirty="0"/>
                  <a:t>Derivative</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JP"/>
          </a:p>
        </c:txPr>
        <c:crossAx val="188743680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354B44E-40A3-0E46-B16A-9BF1250A248B}" type="datetimeFigureOut">
              <a:rPr lang="en-US" smtClean="0"/>
              <a:t>10/2/24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CDF1604-CF25-2840-A4A3-96CDE3604995}" type="slidenum">
              <a:rPr lang="en-US" smtClean="0"/>
              <a:t>‹#›</a:t>
            </a:fld>
            <a:endParaRPr lang="en-US"/>
          </a:p>
        </p:txBody>
      </p:sp>
    </p:spTree>
    <p:extLst>
      <p:ext uri="{BB962C8B-B14F-4D97-AF65-F5344CB8AC3E}">
        <p14:creationId xmlns:p14="http://schemas.microsoft.com/office/powerpoint/2010/main" val="17563578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6AD16C-2DB4-6642-BAD4-9ED973A087A0}" type="datetimeFigureOut">
              <a:rPr lang="en-US" smtClean="0"/>
              <a:t>10/2/24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5BF589-3978-3C45-966B-D7B7A71F2A02}" type="slidenum">
              <a:rPr lang="en-US" smtClean="0"/>
              <a:t>‹#›</a:t>
            </a:fld>
            <a:endParaRPr lang="en-US"/>
          </a:p>
        </p:txBody>
      </p:sp>
    </p:spTree>
    <p:extLst>
      <p:ext uri="{BB962C8B-B14F-4D97-AF65-F5344CB8AC3E}">
        <p14:creationId xmlns:p14="http://schemas.microsoft.com/office/powerpoint/2010/main" val="317884166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5BF589-3978-3C45-966B-D7B7A71F2A02}" type="slidenum">
              <a:rPr lang="en-US" smtClean="0"/>
              <a:t>1</a:t>
            </a:fld>
            <a:endParaRPr lang="en-US"/>
          </a:p>
        </p:txBody>
      </p:sp>
    </p:spTree>
    <p:extLst>
      <p:ext uri="{BB962C8B-B14F-4D97-AF65-F5344CB8AC3E}">
        <p14:creationId xmlns:p14="http://schemas.microsoft.com/office/powerpoint/2010/main" val="1994090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800" b="0" i="0" dirty="0">
                <a:solidFill>
                  <a:srgbClr val="000000"/>
                </a:solidFill>
                <a:effectLst/>
                <a:latin typeface="Arial" panose="020B0604020202020204" pitchFamily="34" charset="0"/>
              </a:rPr>
              <a:t>f the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keeps the same sign for several loops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grows bigger and bigger. For example, if we check the light sensor and calculate that the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is 1, then a short time later we check the sensor again and the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is 2, then the next time the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is 2 again, then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will be 1+2+2=5.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is 5 but the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at this particular step is only 2. The integral can be a large factor in the correction but it usually takes a while for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to build up to the point where it starts to contribute.</a:t>
            </a:r>
          </a:p>
          <a:p>
            <a:pPr algn="just"/>
            <a:endParaRPr lang="en-US" sz="1800" b="0" i="0" dirty="0">
              <a:solidFill>
                <a:srgbClr val="000000"/>
              </a:solidFill>
              <a:effectLst/>
              <a:latin typeface="Arial" panose="020B0604020202020204" pitchFamily="34" charset="0"/>
            </a:endParaRPr>
          </a:p>
          <a:p>
            <a:pPr algn="just"/>
            <a:r>
              <a:rPr lang="en-US" sz="1800" b="0" i="0" dirty="0">
                <a:solidFill>
                  <a:srgbClr val="000000"/>
                </a:solidFill>
                <a:effectLst/>
                <a:latin typeface="Arial" panose="020B0604020202020204" pitchFamily="34" charset="0"/>
              </a:rPr>
              <a:t>Another thing that the integral does is it helps remove small errors. If in our line follower the light sensor is pretty close to the line's edge, but not exactly on it, then the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will be small and it will only take a small correction to fix. You might be able to fix that small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by changing </a:t>
            </a:r>
            <a:r>
              <a:rPr lang="en-US" sz="1800" b="1" i="0" dirty="0" err="1">
                <a:solidFill>
                  <a:srgbClr val="000000"/>
                </a:solidFill>
                <a:effectLst/>
                <a:latin typeface="Arial" panose="020B0604020202020204" pitchFamily="34" charset="0"/>
              </a:rPr>
              <a:t>Kp</a:t>
            </a:r>
            <a:r>
              <a:rPr lang="en-US" sz="1800" b="0" i="0" dirty="0">
                <a:solidFill>
                  <a:srgbClr val="000000"/>
                </a:solidFill>
                <a:effectLst/>
                <a:latin typeface="Arial" panose="020B0604020202020204" pitchFamily="34" charset="0"/>
              </a:rPr>
              <a:t> in the proportional term but that will often lead to a robot that oscillates (wobbles back and forth).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term is perfect for fixing small errors. Since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adds up the </a:t>
            </a:r>
            <a:r>
              <a:rPr lang="en-US" sz="1800" b="1" i="0" dirty="0">
                <a:solidFill>
                  <a:srgbClr val="000000"/>
                </a:solidFill>
                <a:effectLst/>
                <a:latin typeface="Arial" panose="020B0604020202020204" pitchFamily="34" charset="0"/>
              </a:rPr>
              <a:t>error</a:t>
            </a:r>
            <a:r>
              <a:rPr lang="en-US" sz="1800" b="0" i="0" dirty="0">
                <a:solidFill>
                  <a:srgbClr val="000000"/>
                </a:solidFill>
                <a:effectLst/>
                <a:latin typeface="Arial" panose="020B0604020202020204" pitchFamily="34" charset="0"/>
              </a:rPr>
              <a:t>s, several consecutive small </a:t>
            </a:r>
            <a:r>
              <a:rPr lang="en-US" sz="1800" b="1" i="0" dirty="0">
                <a:solidFill>
                  <a:srgbClr val="000000"/>
                </a:solidFill>
                <a:effectLst/>
                <a:latin typeface="Arial" panose="020B0604020202020204" pitchFamily="34" charset="0"/>
              </a:rPr>
              <a:t>error</a:t>
            </a:r>
            <a:r>
              <a:rPr lang="en-US" sz="1800" b="0" i="0" dirty="0">
                <a:solidFill>
                  <a:srgbClr val="000000"/>
                </a:solidFill>
                <a:effectLst/>
                <a:latin typeface="Arial" panose="020B0604020202020204" pitchFamily="34" charset="0"/>
              </a:rPr>
              <a:t>s</a:t>
            </a:r>
            <a:r>
              <a:rPr lang="en-US" sz="1800" b="1" i="0" dirty="0">
                <a:solidFill>
                  <a:srgbClr val="000000"/>
                </a:solidFill>
                <a:effectLst/>
                <a:latin typeface="Arial" panose="020B0604020202020204" pitchFamily="34" charset="0"/>
              </a:rPr>
              <a:t> </a:t>
            </a:r>
            <a:r>
              <a:rPr lang="en-US" sz="1800" b="0" i="0" dirty="0">
                <a:solidFill>
                  <a:srgbClr val="000000"/>
                </a:solidFill>
                <a:effectLst/>
                <a:latin typeface="Arial" panose="020B0604020202020204" pitchFamily="34" charset="0"/>
              </a:rPr>
              <a:t>eventually makes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big enough to make a difference.</a:t>
            </a:r>
          </a:p>
          <a:p>
            <a:pPr algn="just"/>
            <a:endParaRPr lang="en-US" sz="1800" b="0" i="0" dirty="0">
              <a:solidFill>
                <a:srgbClr val="000000"/>
              </a:solidFill>
              <a:effectLst/>
              <a:latin typeface="Arial" panose="020B0604020202020204" pitchFamily="34" charset="0"/>
            </a:endParaRPr>
          </a:p>
          <a:p>
            <a:pPr algn="just"/>
            <a:r>
              <a:rPr lang="en-US" sz="1800" b="0" i="0" dirty="0">
                <a:solidFill>
                  <a:srgbClr val="000000"/>
                </a:solidFill>
                <a:effectLst/>
                <a:latin typeface="Arial" panose="020B0604020202020204" pitchFamily="34" charset="0"/>
              </a:rPr>
              <a:t>One way to think about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term is that it is the controller's "memory".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is the cumulative history of the </a:t>
            </a:r>
            <a:r>
              <a:rPr lang="en-US" sz="1800" b="1" i="0" dirty="0">
                <a:solidFill>
                  <a:srgbClr val="000000"/>
                </a:solidFill>
                <a:effectLst/>
                <a:latin typeface="Arial" panose="020B0604020202020204" pitchFamily="34" charset="0"/>
              </a:rPr>
              <a:t>error</a:t>
            </a:r>
            <a:r>
              <a:rPr lang="en-US" sz="1800" b="0" i="0" dirty="0">
                <a:solidFill>
                  <a:srgbClr val="000000"/>
                </a:solidFill>
                <a:effectLst/>
                <a:latin typeface="Arial" panose="020B0604020202020204" pitchFamily="34" charset="0"/>
              </a:rPr>
              <a:t> and gives the controller a method to fix errors that persist for a long time.</a:t>
            </a:r>
          </a:p>
          <a:p>
            <a:pPr algn="just"/>
            <a:endParaRPr lang="en-US" sz="1800" b="0" i="0" dirty="0">
              <a:solidFill>
                <a:srgbClr val="000000"/>
              </a:solidFill>
              <a:effectLst/>
              <a:latin typeface="Arial" panose="020B0604020202020204" pitchFamily="34" charset="0"/>
            </a:endParaRPr>
          </a:p>
          <a:p>
            <a:pPr algn="just"/>
            <a:r>
              <a:rPr lang="en-US" sz="1800" b="0" i="0" dirty="0">
                <a:solidFill>
                  <a:srgbClr val="000000"/>
                </a:solidFill>
                <a:effectLst/>
                <a:latin typeface="Arial" panose="020B0604020202020204" pitchFamily="34" charset="0"/>
              </a:rPr>
              <a:t>One last  detail should be mentioned about the </a:t>
            </a:r>
            <a:r>
              <a:rPr lang="en-US" sz="1800" b="1" i="0" dirty="0">
                <a:solidFill>
                  <a:srgbClr val="000000"/>
                </a:solidFill>
                <a:effectLst/>
                <a:latin typeface="Arial" panose="020B0604020202020204" pitchFamily="34" charset="0"/>
              </a:rPr>
              <a:t>integral</a:t>
            </a:r>
            <a:r>
              <a:rPr lang="en-US" sz="1800" b="0" i="0" dirty="0">
                <a:solidFill>
                  <a:srgbClr val="000000"/>
                </a:solidFill>
                <a:effectLst/>
                <a:latin typeface="Arial" panose="020B0604020202020204" pitchFamily="34" charset="0"/>
              </a:rPr>
              <a:t>. Usually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can only be moved towards zero, where it doesn't contribute anything to the controller, by having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values added that are the opposite sign of most of the ones that we have already collected in </a:t>
            </a:r>
            <a:r>
              <a:rPr lang="en-US" sz="1800" b="1" i="0" dirty="0">
                <a:solidFill>
                  <a:srgbClr val="000000"/>
                </a:solidFill>
                <a:effectLst/>
                <a:latin typeface="Arial" panose="020B0604020202020204" pitchFamily="34" charset="0"/>
              </a:rPr>
              <a:t>integral</a:t>
            </a:r>
            <a:r>
              <a:rPr lang="en-US" sz="1800" b="0" i="0" dirty="0">
                <a:solidFill>
                  <a:srgbClr val="000000"/>
                </a:solidFill>
                <a:effectLst/>
                <a:latin typeface="Arial" panose="020B0604020202020204" pitchFamily="34" charset="0"/>
              </a:rPr>
              <a:t>.  For example, if over several cycles through the loop the </a:t>
            </a:r>
            <a:r>
              <a:rPr lang="en-US" sz="1800" b="1" i="0" dirty="0">
                <a:solidFill>
                  <a:srgbClr val="000000"/>
                </a:solidFill>
                <a:effectLst/>
                <a:latin typeface="Arial" panose="020B0604020202020204" pitchFamily="34" charset="0"/>
              </a:rPr>
              <a:t>error</a:t>
            </a:r>
            <a:r>
              <a:rPr lang="en-US" sz="1800" b="0" i="0" dirty="0">
                <a:solidFill>
                  <a:srgbClr val="000000"/>
                </a:solidFill>
                <a:effectLst/>
                <a:latin typeface="Arial" panose="020B0604020202020204" pitchFamily="34" charset="0"/>
              </a:rPr>
              <a:t>s are 1,2,2,3,2,1 that adds up to an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of 11. But the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at the last data point is only 1, which is much smaller than the </a:t>
            </a:r>
            <a:r>
              <a:rPr lang="en-US" sz="1800" b="1" i="0" dirty="0">
                <a:solidFill>
                  <a:srgbClr val="000000"/>
                </a:solidFill>
                <a:effectLst/>
                <a:latin typeface="Arial" panose="020B0604020202020204" pitchFamily="34" charset="0"/>
              </a:rPr>
              <a:t>integral</a:t>
            </a:r>
            <a:r>
              <a:rPr lang="en-US" sz="1800" b="0" i="0" dirty="0">
                <a:solidFill>
                  <a:srgbClr val="000000"/>
                </a:solidFill>
                <a:effectLst/>
                <a:latin typeface="Arial" panose="020B0604020202020204" pitchFamily="34" charset="0"/>
              </a:rPr>
              <a:t> at that point. The only way for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to move towards zero is to get a string of negative </a:t>
            </a:r>
            <a:r>
              <a:rPr lang="en-US" sz="1800" b="1" i="0" dirty="0">
                <a:solidFill>
                  <a:srgbClr val="000000"/>
                </a:solidFill>
                <a:effectLst/>
                <a:latin typeface="Arial" panose="020B0604020202020204" pitchFamily="34" charset="0"/>
              </a:rPr>
              <a:t>error</a:t>
            </a:r>
            <a:r>
              <a:rPr lang="en-US" sz="1800" b="0" i="0" dirty="0">
                <a:solidFill>
                  <a:srgbClr val="000000"/>
                </a:solidFill>
                <a:effectLst/>
                <a:latin typeface="Arial" panose="020B0604020202020204" pitchFamily="34" charset="0"/>
              </a:rPr>
              <a:t>s to counter balance the earlier string of positive </a:t>
            </a:r>
            <a:r>
              <a:rPr lang="en-US" sz="1800" b="1" i="0" dirty="0">
                <a:solidFill>
                  <a:srgbClr val="000000"/>
                </a:solidFill>
                <a:effectLst/>
                <a:latin typeface="Arial" panose="020B0604020202020204" pitchFamily="34" charset="0"/>
              </a:rPr>
              <a:t>error</a:t>
            </a:r>
            <a:r>
              <a:rPr lang="en-US" sz="1800" b="0" i="0" dirty="0">
                <a:solidFill>
                  <a:srgbClr val="000000"/>
                </a:solidFill>
                <a:effectLst/>
                <a:latin typeface="Arial" panose="020B0604020202020204" pitchFamily="34" charset="0"/>
              </a:rPr>
              <a:t>s to "wind down" the </a:t>
            </a:r>
            <a:r>
              <a:rPr lang="en-US" sz="1800" b="1" i="0" dirty="0">
                <a:solidFill>
                  <a:srgbClr val="000000"/>
                </a:solidFill>
                <a:effectLst/>
                <a:latin typeface="Arial" panose="020B0604020202020204" pitchFamily="34" charset="0"/>
              </a:rPr>
              <a:t>integral</a:t>
            </a:r>
            <a:r>
              <a:rPr lang="en-US" sz="1800" b="0" i="0" dirty="0">
                <a:solidFill>
                  <a:srgbClr val="000000"/>
                </a:solidFill>
                <a:effectLst/>
                <a:latin typeface="Arial" panose="020B0604020202020204" pitchFamily="34" charset="0"/>
              </a:rPr>
              <a:t>. For example, if the next few errors are -2,-2,-3 then the integral will drop from 11 to 4 and we would still need more negative </a:t>
            </a:r>
            <a:r>
              <a:rPr lang="en-US" sz="1800" b="1" i="0" dirty="0">
                <a:solidFill>
                  <a:srgbClr val="000000"/>
                </a:solidFill>
                <a:effectLst/>
                <a:latin typeface="Arial" panose="020B0604020202020204" pitchFamily="34" charset="0"/>
              </a:rPr>
              <a:t>errors </a:t>
            </a:r>
            <a:r>
              <a:rPr lang="en-US" sz="1800" b="0" i="0" dirty="0">
                <a:solidFill>
                  <a:srgbClr val="000000"/>
                </a:solidFill>
                <a:effectLst/>
                <a:latin typeface="Arial" panose="020B0604020202020204" pitchFamily="34" charset="0"/>
              </a:rPr>
              <a:t>to get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down to zero. In addition,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wants the total </a:t>
            </a:r>
            <a:r>
              <a:rPr lang="en-US" sz="1800" b="1" i="0" dirty="0">
                <a:solidFill>
                  <a:srgbClr val="000000"/>
                </a:solidFill>
                <a:effectLst/>
                <a:latin typeface="Arial" panose="020B0604020202020204" pitchFamily="34" charset="0"/>
              </a:rPr>
              <a:t>error </a:t>
            </a:r>
            <a:r>
              <a:rPr lang="en-US" sz="1800" b="0" i="0" dirty="0">
                <a:solidFill>
                  <a:srgbClr val="000000"/>
                </a:solidFill>
                <a:effectLst/>
                <a:latin typeface="Arial" panose="020B0604020202020204" pitchFamily="34" charset="0"/>
              </a:rPr>
              <a:t>to be evenly distributed between positive and negative errors.</a:t>
            </a:r>
          </a:p>
          <a:p>
            <a:pPr algn="just"/>
            <a:endParaRPr lang="en-US" sz="1800" b="0" i="0" dirty="0">
              <a:solidFill>
                <a:srgbClr val="000000"/>
              </a:solidFill>
              <a:effectLst/>
              <a:latin typeface="Arial" panose="020B0604020202020204" pitchFamily="34" charset="0"/>
            </a:endParaRPr>
          </a:p>
          <a:p>
            <a:pPr algn="just"/>
            <a:r>
              <a:rPr lang="en-US" sz="1800" b="0" i="0" dirty="0">
                <a:solidFill>
                  <a:srgbClr val="000000"/>
                </a:solidFill>
                <a:effectLst/>
                <a:latin typeface="Arial" panose="020B0604020202020204" pitchFamily="34" charset="0"/>
              </a:rPr>
              <a:t>If something happens that pushes our line following robot to the left of the line's edge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term not only wants to get back to the line's edge it also wants to overshoot the edge to the right by as much as the original disturbance was the left. So the integral tends to "wind-up" if there are large errors that persist for a while. This can cause problems with controllers that include an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term. Sometimes this tendency of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term to want to overshoot when it tries to correct the </a:t>
            </a:r>
            <a:r>
              <a:rPr lang="en-US" sz="1800" b="1" i="0" dirty="0">
                <a:solidFill>
                  <a:srgbClr val="000000"/>
                </a:solidFill>
                <a:effectLst/>
                <a:latin typeface="Arial" panose="020B0604020202020204" pitchFamily="34" charset="0"/>
              </a:rPr>
              <a:t>error</a:t>
            </a:r>
            <a:r>
              <a:rPr lang="en-US" sz="1800" b="0" i="0" dirty="0">
                <a:solidFill>
                  <a:srgbClr val="000000"/>
                </a:solidFill>
                <a:effectLst/>
                <a:latin typeface="Arial" panose="020B0604020202020204" pitchFamily="34" charset="0"/>
              </a:rPr>
              <a:t> is a big enough problem that the programmer must do something to the </a:t>
            </a:r>
            <a:r>
              <a:rPr lang="en-US" sz="1800" b="1" i="0" dirty="0">
                <a:solidFill>
                  <a:srgbClr val="000000"/>
                </a:solidFill>
                <a:effectLst/>
                <a:latin typeface="Arial" panose="020B0604020202020204" pitchFamily="34" charset="0"/>
              </a:rPr>
              <a:t>integral </a:t>
            </a:r>
            <a:r>
              <a:rPr lang="en-US" sz="1800" b="0" i="0" dirty="0">
                <a:solidFill>
                  <a:srgbClr val="000000"/>
                </a:solidFill>
                <a:effectLst/>
                <a:latin typeface="Arial" panose="020B0604020202020204" pitchFamily="34" charset="0"/>
              </a:rPr>
              <a:t>term so it won't cause problems. </a:t>
            </a:r>
          </a:p>
          <a:p>
            <a:pPr algn="just"/>
            <a:endParaRPr lang="en-US" sz="1800" b="0" i="0" dirty="0">
              <a:solidFill>
                <a:srgbClr val="000000"/>
              </a:solidFill>
              <a:effectLst/>
              <a:latin typeface="Arial" panose="020B0604020202020204" pitchFamily="34" charset="0"/>
            </a:endParaRPr>
          </a:p>
          <a:p>
            <a:endParaRPr lang="en-JP" dirty="0"/>
          </a:p>
        </p:txBody>
      </p:sp>
      <p:sp>
        <p:nvSpPr>
          <p:cNvPr id="4" name="Slide Number Placeholder 3"/>
          <p:cNvSpPr>
            <a:spLocks noGrp="1"/>
          </p:cNvSpPr>
          <p:nvPr>
            <p:ph type="sldNum" sz="quarter" idx="5"/>
          </p:nvPr>
        </p:nvSpPr>
        <p:spPr/>
        <p:txBody>
          <a:bodyPr/>
          <a:lstStyle/>
          <a:p>
            <a:fld id="{1E5BF589-3978-3C45-966B-D7B7A71F2A02}" type="slidenum">
              <a:rPr lang="en-US" smtClean="0"/>
              <a:t>25</a:t>
            </a:fld>
            <a:endParaRPr lang="en-US"/>
          </a:p>
        </p:txBody>
      </p:sp>
    </p:spTree>
    <p:extLst>
      <p:ext uri="{BB962C8B-B14F-4D97-AF65-F5344CB8AC3E}">
        <p14:creationId xmlns:p14="http://schemas.microsoft.com/office/powerpoint/2010/main" val="1633306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Arial" panose="020B0604020202020204" pitchFamily="34" charset="0"/>
              </a:rPr>
              <a:t>If the current </a:t>
            </a:r>
            <a:r>
              <a:rPr lang="en-US" b="1" i="0" dirty="0">
                <a:solidFill>
                  <a:srgbClr val="000000"/>
                </a:solidFill>
                <a:effectLst/>
                <a:latin typeface="Arial" panose="020B0604020202020204" pitchFamily="34" charset="0"/>
              </a:rPr>
              <a:t>error </a:t>
            </a:r>
            <a:r>
              <a:rPr lang="en-US" b="0" i="0" dirty="0">
                <a:solidFill>
                  <a:srgbClr val="000000"/>
                </a:solidFill>
                <a:effectLst/>
                <a:latin typeface="Arial" panose="020B0604020202020204" pitchFamily="34" charset="0"/>
              </a:rPr>
              <a:t>is </a:t>
            </a:r>
            <a:r>
              <a:rPr lang="en-US" b="0" i="0" u="sng" dirty="0">
                <a:solidFill>
                  <a:srgbClr val="000000"/>
                </a:solidFill>
                <a:effectLst/>
                <a:latin typeface="Arial" panose="020B0604020202020204" pitchFamily="34" charset="0"/>
              </a:rPr>
              <a:t>worse</a:t>
            </a:r>
            <a:r>
              <a:rPr lang="en-US" b="0" i="0" dirty="0">
                <a:solidFill>
                  <a:srgbClr val="000000"/>
                </a:solidFill>
                <a:effectLst/>
                <a:latin typeface="Arial" panose="020B0604020202020204" pitchFamily="34" charset="0"/>
              </a:rPr>
              <a:t> than the previous </a:t>
            </a:r>
            <a:r>
              <a:rPr lang="en-US" b="1" i="0" dirty="0">
                <a:solidFill>
                  <a:srgbClr val="000000"/>
                </a:solidFill>
                <a:effectLst/>
                <a:latin typeface="Arial" panose="020B0604020202020204" pitchFamily="34" charset="0"/>
              </a:rPr>
              <a:t>error </a:t>
            </a:r>
            <a:r>
              <a:rPr lang="en-US" b="0" i="0" dirty="0">
                <a:solidFill>
                  <a:srgbClr val="000000"/>
                </a:solidFill>
                <a:effectLst/>
                <a:latin typeface="Arial" panose="020B0604020202020204" pitchFamily="34" charset="0"/>
              </a:rPr>
              <a:t>then the D term tries to correct the </a:t>
            </a:r>
            <a:r>
              <a:rPr lang="en-US" b="1" i="0" dirty="0">
                <a:solidFill>
                  <a:srgbClr val="000000"/>
                </a:solidFill>
                <a:effectLst/>
                <a:latin typeface="Arial" panose="020B0604020202020204" pitchFamily="34" charset="0"/>
              </a:rPr>
              <a:t>error</a:t>
            </a:r>
            <a:r>
              <a:rPr lang="en-US" b="0" i="0" dirty="0">
                <a:solidFill>
                  <a:srgbClr val="000000"/>
                </a:solidFill>
                <a:effectLst/>
                <a:latin typeface="Arial" panose="020B0604020202020204" pitchFamily="34" charset="0"/>
              </a:rPr>
              <a:t>. If he current </a:t>
            </a:r>
            <a:r>
              <a:rPr lang="en-US" b="1" i="0" dirty="0">
                <a:solidFill>
                  <a:srgbClr val="000000"/>
                </a:solidFill>
                <a:effectLst/>
                <a:latin typeface="Arial" panose="020B0604020202020204" pitchFamily="34" charset="0"/>
              </a:rPr>
              <a:t>error </a:t>
            </a:r>
            <a:r>
              <a:rPr lang="en-US" b="0" i="0" dirty="0">
                <a:solidFill>
                  <a:srgbClr val="000000"/>
                </a:solidFill>
                <a:effectLst/>
                <a:latin typeface="Arial" panose="020B0604020202020204" pitchFamily="34" charset="0"/>
              </a:rPr>
              <a:t>is </a:t>
            </a:r>
            <a:r>
              <a:rPr lang="en-US" b="0" i="0" u="sng" dirty="0">
                <a:solidFill>
                  <a:srgbClr val="000000"/>
                </a:solidFill>
                <a:effectLst/>
                <a:latin typeface="Arial" panose="020B0604020202020204" pitchFamily="34" charset="0"/>
              </a:rPr>
              <a:t>better</a:t>
            </a:r>
            <a:r>
              <a:rPr lang="en-US" b="0" i="0" dirty="0">
                <a:solidFill>
                  <a:srgbClr val="000000"/>
                </a:solidFill>
                <a:effectLst/>
                <a:latin typeface="Arial" panose="020B0604020202020204" pitchFamily="34" charset="0"/>
              </a:rPr>
              <a:t> than the previous </a:t>
            </a:r>
            <a:r>
              <a:rPr lang="en-US" b="1" i="0" dirty="0">
                <a:solidFill>
                  <a:srgbClr val="000000"/>
                </a:solidFill>
                <a:effectLst/>
                <a:latin typeface="Arial" panose="020B0604020202020204" pitchFamily="34" charset="0"/>
              </a:rPr>
              <a:t>error </a:t>
            </a:r>
            <a:r>
              <a:rPr lang="en-US" b="0" i="0" dirty="0">
                <a:solidFill>
                  <a:srgbClr val="000000"/>
                </a:solidFill>
                <a:effectLst/>
                <a:latin typeface="Arial" panose="020B0604020202020204" pitchFamily="34" charset="0"/>
              </a:rPr>
              <a:t>then the D term tries to stop the controller from correcting the </a:t>
            </a:r>
            <a:r>
              <a:rPr lang="en-US" b="1" i="0" dirty="0">
                <a:solidFill>
                  <a:srgbClr val="000000"/>
                </a:solidFill>
                <a:effectLst/>
                <a:latin typeface="Arial" panose="020B0604020202020204" pitchFamily="34" charset="0"/>
              </a:rPr>
              <a:t>error</a:t>
            </a:r>
            <a:r>
              <a:rPr lang="en-US" b="0" i="0" dirty="0">
                <a:solidFill>
                  <a:srgbClr val="000000"/>
                </a:solidFill>
                <a:effectLst/>
                <a:latin typeface="Arial" panose="020B0604020202020204" pitchFamily="34" charset="0"/>
              </a:rPr>
              <a:t>. It is the second case that is particularly useful. If the </a:t>
            </a:r>
            <a:r>
              <a:rPr lang="en-US" b="1" i="0" dirty="0">
                <a:solidFill>
                  <a:srgbClr val="000000"/>
                </a:solidFill>
                <a:effectLst/>
                <a:latin typeface="Arial" panose="020B0604020202020204" pitchFamily="34" charset="0"/>
              </a:rPr>
              <a:t>error </a:t>
            </a:r>
            <a:r>
              <a:rPr lang="en-US" b="0" i="0" dirty="0">
                <a:solidFill>
                  <a:srgbClr val="000000"/>
                </a:solidFill>
                <a:effectLst/>
                <a:latin typeface="Arial" panose="020B0604020202020204" pitchFamily="34" charset="0"/>
              </a:rPr>
              <a:t>is getting close to zero then we are approaching the point where we want to stop correcting. Since the system probably takes a while to respond to changes in the motors' power we want to start reducing the motor power before the </a:t>
            </a:r>
            <a:r>
              <a:rPr lang="en-US" b="1" i="0" dirty="0">
                <a:solidFill>
                  <a:srgbClr val="000000"/>
                </a:solidFill>
                <a:effectLst/>
                <a:latin typeface="Arial" panose="020B0604020202020204" pitchFamily="34" charset="0"/>
              </a:rPr>
              <a:t>error </a:t>
            </a:r>
            <a:r>
              <a:rPr lang="en-US" b="0" i="0" dirty="0">
                <a:solidFill>
                  <a:srgbClr val="000000"/>
                </a:solidFill>
                <a:effectLst/>
                <a:latin typeface="Arial" panose="020B0604020202020204" pitchFamily="34" charset="0"/>
              </a:rPr>
              <a:t>has actually gone to zero, otherwise we will overshoot.</a:t>
            </a:r>
            <a:endParaRPr lang="en-JP" dirty="0"/>
          </a:p>
        </p:txBody>
      </p:sp>
      <p:sp>
        <p:nvSpPr>
          <p:cNvPr id="4" name="Slide Number Placeholder 3"/>
          <p:cNvSpPr>
            <a:spLocks noGrp="1"/>
          </p:cNvSpPr>
          <p:nvPr>
            <p:ph type="sldNum" sz="quarter" idx="5"/>
          </p:nvPr>
        </p:nvSpPr>
        <p:spPr/>
        <p:txBody>
          <a:bodyPr/>
          <a:lstStyle/>
          <a:p>
            <a:fld id="{1E5BF589-3978-3C45-966B-D7B7A71F2A02}" type="slidenum">
              <a:rPr lang="en-US" smtClean="0"/>
              <a:t>26</a:t>
            </a:fld>
            <a:endParaRPr lang="en-US"/>
          </a:p>
        </p:txBody>
      </p:sp>
    </p:spTree>
    <p:extLst>
      <p:ext uri="{BB962C8B-B14F-4D97-AF65-F5344CB8AC3E}">
        <p14:creationId xmlns:p14="http://schemas.microsoft.com/office/powerpoint/2010/main" val="3776098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BE38AD-3224-E642-BF56-F5FDC2B0CE4B}" type="datetime1">
              <a:rPr lang="en-US" smtClean="0"/>
              <a:t>10/2/24</a:t>
            </a:fld>
            <a:endParaRPr lang="en-US"/>
          </a:p>
        </p:txBody>
      </p:sp>
      <p:sp>
        <p:nvSpPr>
          <p:cNvPr id="5" name="Footer Placeholder 4"/>
          <p:cNvSpPr>
            <a:spLocks noGrp="1"/>
          </p:cNvSpPr>
          <p:nvPr>
            <p:ph type="ftr" sz="quarter" idx="11"/>
          </p:nvPr>
        </p:nvSpPr>
        <p:spPr>
          <a:xfrm>
            <a:off x="199698" y="6437032"/>
            <a:ext cx="6124902" cy="365125"/>
          </a:xfrm>
          <a:prstGeom prst="rect">
            <a:avLst/>
          </a:prstGeom>
        </p:spPr>
        <p:txBody>
          <a:bodyPr/>
          <a:lstStyle/>
          <a:p>
            <a:r>
              <a:rPr lang="en-US" dirty="0"/>
              <a:t>© 2020 EV3Lessons.com, Last edit 12/27/2019</a:t>
            </a:r>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
        <p:nvSpPr>
          <p:cNvPr id="7" name="Rectangle 6"/>
          <p:cNvSpPr/>
          <p:nvPr/>
        </p:nvSpPr>
        <p:spPr>
          <a:xfrm>
            <a:off x="1" y="-1"/>
            <a:ext cx="9144000" cy="1920240"/>
          </a:xfrm>
          <a:prstGeom prst="rect">
            <a:avLst/>
          </a:prstGeom>
          <a:solidFill>
            <a:schemeClr val="bg2">
              <a:lumMod val="2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tx1">
                  <a:lumMod val="85000"/>
                  <a:lumOff val="15000"/>
                </a:schemeClr>
              </a:solidFill>
              <a:latin typeface="+mj-lt"/>
              <a:ea typeface="+mj-ea"/>
              <a:cs typeface="+mj-cs"/>
            </a:endParaRPr>
          </a:p>
        </p:txBody>
      </p:sp>
      <p:grpSp>
        <p:nvGrpSpPr>
          <p:cNvPr id="8" name="Group 16"/>
          <p:cNvGrpSpPr/>
          <p:nvPr/>
        </p:nvGrpSpPr>
        <p:grpSpPr>
          <a:xfrm>
            <a:off x="0" y="1920240"/>
            <a:ext cx="9144000" cy="137411"/>
            <a:chOff x="284163" y="1759424"/>
            <a:chExt cx="8576373" cy="137411"/>
          </a:xfrm>
        </p:grpSpPr>
        <p:sp>
          <p:nvSpPr>
            <p:cNvPr id="9" name="Rectangle 8"/>
            <p:cNvSpPr/>
            <p:nvPr/>
          </p:nvSpPr>
          <p:spPr>
            <a:xfrm>
              <a:off x="284163" y="1759424"/>
              <a:ext cx="2743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57200" y="2855890"/>
            <a:ext cx="8229600" cy="1088136"/>
          </a:xfrm>
          <a:noFill/>
        </p:spPr>
        <p:txBody>
          <a:bodyPr vert="horz" lIns="91440" tIns="45720" rIns="91440" bIns="45720" rtlCol="0" anchor="b" anchorCtr="0">
            <a:normAutofit/>
          </a:bodyPr>
          <a:lstStyle>
            <a:lvl1pPr marL="0" algn="ctr" defTabSz="914400" rtl="0" eaLnBrk="1" latinLnBrk="0" hangingPunct="1">
              <a:lnSpc>
                <a:spcPts val="4600"/>
              </a:lnSpc>
              <a:spcBef>
                <a:spcPct val="0"/>
              </a:spcBef>
              <a:buNone/>
              <a:defRPr sz="4000" kern="1200" baseline="0">
                <a:solidFill>
                  <a:schemeClr val="tx1"/>
                </a:solidFill>
                <a:latin typeface="+mj-lt"/>
                <a:ea typeface="+mj-ea"/>
                <a:cs typeface="+mj-cs"/>
              </a:defRPr>
            </a:lvl1pPr>
          </a:lstStyle>
          <a:p>
            <a:r>
              <a:rPr lang="en-US"/>
              <a:t>Click to edit Master title style</a:t>
            </a:r>
            <a:endParaRPr dirty="0"/>
          </a:p>
        </p:txBody>
      </p:sp>
      <p:sp>
        <p:nvSpPr>
          <p:cNvPr id="3" name="Subtitle 2"/>
          <p:cNvSpPr>
            <a:spLocks noGrp="1"/>
          </p:cNvSpPr>
          <p:nvPr>
            <p:ph type="subTitle" idx="1"/>
          </p:nvPr>
        </p:nvSpPr>
        <p:spPr>
          <a:xfrm>
            <a:off x="457200" y="4075497"/>
            <a:ext cx="8229600" cy="484632"/>
          </a:xfrm>
        </p:spPr>
        <p:txBody>
          <a:bodyPr vert="horz" lIns="91440" tIns="45720" rIns="91440" bIns="45720" rtlCol="0">
            <a:normAutofit/>
          </a:bodyPr>
          <a:lstStyle>
            <a:lvl1pPr marL="0" indent="0" algn="ctr"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tx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329321" y="365291"/>
            <a:ext cx="5046247" cy="1200329"/>
          </a:xfrm>
          <a:prstGeom prst="rect">
            <a:avLst/>
          </a:prstGeom>
          <a:noFill/>
        </p:spPr>
        <p:txBody>
          <a:bodyPr wrap="square" rtlCol="0">
            <a:spAutoFit/>
          </a:bodyPr>
          <a:lstStyle/>
          <a:p>
            <a:r>
              <a:rPr lang="en-US" sz="3600" dirty="0">
                <a:solidFill>
                  <a:schemeClr val="bg1"/>
                </a:solidFill>
              </a:rPr>
              <a:t>ADVANCED EV3 PROGRAMMING LESSON</a:t>
            </a:r>
          </a:p>
        </p:txBody>
      </p:sp>
      <p:cxnSp>
        <p:nvCxnSpPr>
          <p:cNvPr id="17" name="Straight Connector 16"/>
          <p:cNvCxnSpPr/>
          <p:nvPr/>
        </p:nvCxnSpPr>
        <p:spPr>
          <a:xfrm>
            <a:off x="457200" y="4012165"/>
            <a:ext cx="82296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099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7A85163F-D250-C345-AB7B-84E75A4B6D76}" type="datetime1">
              <a:rPr lang="en-US" smtClean="0"/>
              <a:t>10/2/24</a:t>
            </a:fld>
            <a:endParaRPr lang="en-US"/>
          </a:p>
        </p:txBody>
      </p:sp>
      <p:sp>
        <p:nvSpPr>
          <p:cNvPr id="5" name="Footer Placeholder 4"/>
          <p:cNvSpPr>
            <a:spLocks noGrp="1"/>
          </p:cNvSpPr>
          <p:nvPr>
            <p:ph type="ftr" sz="quarter" idx="11"/>
          </p:nvPr>
        </p:nvSpPr>
        <p:spPr>
          <a:xfrm>
            <a:off x="199698" y="6437032"/>
            <a:ext cx="6124902" cy="365125"/>
          </a:xfrm>
          <a:prstGeom prst="rect">
            <a:avLst/>
          </a:prstGeom>
        </p:spPr>
        <p:txBody>
          <a:bodyPr/>
          <a:lstStyle/>
          <a:p>
            <a:r>
              <a:rPr lang="en-US" dirty="0"/>
              <a:t>© 2020 EV3Lessons.com, Last edit 12/27/2019</a:t>
            </a:r>
          </a:p>
        </p:txBody>
      </p:sp>
      <p:sp>
        <p:nvSpPr>
          <p:cNvPr id="6" name="Slide Number Placeholder 5"/>
          <p:cNvSpPr>
            <a:spLocks noGrp="1"/>
          </p:cNvSpPr>
          <p:nvPr>
            <p:ph type="sldNum" sz="quarter" idx="12"/>
          </p:nvPr>
        </p:nvSpPr>
        <p:spPr/>
        <p:txBody>
          <a:bodyPr/>
          <a:lstStyle/>
          <a:p>
            <a:fld id="{4382A7F7-08BF-4252-8141-63FB96055BBB}" type="slidenum">
              <a:rPr lang="en-US" smtClean="0"/>
              <a:t>‹#›</a:t>
            </a:fld>
            <a:endParaRPr lang="en-US"/>
          </a:p>
        </p:txBody>
      </p:sp>
      <p:grpSp>
        <p:nvGrpSpPr>
          <p:cNvPr id="12" name="Group 11"/>
          <p:cNvGrpSpPr/>
          <p:nvPr/>
        </p:nvGrpSpPr>
        <p:grpSpPr>
          <a:xfrm>
            <a:off x="0" y="1188720"/>
            <a:ext cx="9144000" cy="137411"/>
            <a:chOff x="284163" y="1577847"/>
            <a:chExt cx="8576373" cy="137411"/>
          </a:xfrm>
        </p:grpSpPr>
        <p:sp>
          <p:nvSpPr>
            <p:cNvPr id="13" name="Rectangle 12"/>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6" name="Title 1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96687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0" name="Title 19"/>
          <p:cNvSpPr>
            <a:spLocks noGrp="1"/>
          </p:cNvSpPr>
          <p:nvPr>
            <p:ph type="title"/>
          </p:nvPr>
        </p:nvSpPr>
        <p:spPr>
          <a:xfrm>
            <a:off x="0" y="5075171"/>
            <a:ext cx="9143999" cy="1782829"/>
          </a:xfrm>
        </p:spPr>
        <p:txBody>
          <a:bodyPr/>
          <a:lstStyle/>
          <a:p>
            <a:r>
              <a:rPr lang="en-US"/>
              <a:t>Click to edit Master title style</a:t>
            </a:r>
          </a:p>
        </p:txBody>
      </p:sp>
      <p:grpSp>
        <p:nvGrpSpPr>
          <p:cNvPr id="15" name="Group 14"/>
          <p:cNvGrpSpPr/>
          <p:nvPr/>
        </p:nvGrpSpPr>
        <p:grpSpPr>
          <a:xfrm>
            <a:off x="0" y="4937760"/>
            <a:ext cx="9144000" cy="137411"/>
            <a:chOff x="284163" y="1577847"/>
            <a:chExt cx="8576373" cy="137411"/>
          </a:xfrm>
        </p:grpSpPr>
        <p:sp>
          <p:nvSpPr>
            <p:cNvPr id="16" name="Rectangle 15"/>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4" name="Date Placeholder 3"/>
          <p:cNvSpPr>
            <a:spLocks noGrp="1"/>
          </p:cNvSpPr>
          <p:nvPr>
            <p:ph type="dt" sz="half" idx="10"/>
          </p:nvPr>
        </p:nvSpPr>
        <p:spPr/>
        <p:txBody>
          <a:bodyPr/>
          <a:lstStyle/>
          <a:p>
            <a:fld id="{EAF5553A-C7D4-1348-9F3E-713CF0D2859A}" type="datetime1">
              <a:rPr lang="en-US" smtClean="0"/>
              <a:t>10/2/24</a:t>
            </a:fld>
            <a:endParaRPr lang="en-US" dirty="0"/>
          </a:p>
        </p:txBody>
      </p:sp>
      <p:sp>
        <p:nvSpPr>
          <p:cNvPr id="5" name="Footer Placeholder 4"/>
          <p:cNvSpPr>
            <a:spLocks noGrp="1"/>
          </p:cNvSpPr>
          <p:nvPr>
            <p:ph type="ftr" sz="quarter" idx="11"/>
          </p:nvPr>
        </p:nvSpPr>
        <p:spPr>
          <a:xfrm>
            <a:off x="199698" y="6437032"/>
            <a:ext cx="6124902" cy="365125"/>
          </a:xfrm>
          <a:prstGeom prst="rect">
            <a:avLst/>
          </a:prstGeom>
        </p:spPr>
        <p:txBody>
          <a:bodyPr/>
          <a:lstStyle/>
          <a:p>
            <a:r>
              <a:rPr lang="en-US" dirty="0"/>
              <a:t>© 2020 EV3Lessons.com, Last edit 12/27/2019</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4382A7F7-08BF-4252-8141-63FB96055BBB}" type="slidenum">
              <a:rPr lang="en-US" smtClean="0"/>
              <a:t>‹#›</a:t>
            </a:fld>
            <a:endParaRPr lang="en-US"/>
          </a:p>
        </p:txBody>
      </p:sp>
    </p:spTree>
    <p:extLst>
      <p:ext uri="{BB962C8B-B14F-4D97-AF65-F5344CB8AC3E}">
        <p14:creationId xmlns:p14="http://schemas.microsoft.com/office/powerpoint/2010/main" val="769972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grpSp>
        <p:nvGrpSpPr>
          <p:cNvPr id="17" name="Group 16"/>
          <p:cNvGrpSpPr/>
          <p:nvPr/>
        </p:nvGrpSpPr>
        <p:grpSpPr>
          <a:xfrm>
            <a:off x="0" y="1188720"/>
            <a:ext cx="9144000" cy="137411"/>
            <a:chOff x="284163" y="1577847"/>
            <a:chExt cx="8576373" cy="137411"/>
          </a:xfrm>
        </p:grpSpPr>
        <p:sp>
          <p:nvSpPr>
            <p:cNvPr id="18" name="Rectangle 17"/>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Rectangle 19"/>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ED0F671-7C82-4445-93E0-7C45FBB92E2E}" type="datetime1">
              <a:rPr lang="en-US" smtClean="0"/>
              <a:t>10/2/24</a:t>
            </a:fld>
            <a:endParaRPr lang="en-US"/>
          </a:p>
        </p:txBody>
      </p:sp>
      <p:sp>
        <p:nvSpPr>
          <p:cNvPr id="7" name="Slide Number Placeholder 6"/>
          <p:cNvSpPr>
            <a:spLocks noGrp="1"/>
          </p:cNvSpPr>
          <p:nvPr>
            <p:ph type="sldNum" sz="quarter" idx="12"/>
          </p:nvPr>
        </p:nvSpPr>
        <p:spPr/>
        <p:txBody>
          <a:bodyPr/>
          <a:lstStyle/>
          <a:p>
            <a:fld id="{4382A7F7-08BF-4252-8141-63FB96055BBB}" type="slidenum">
              <a:rPr lang="en-US" smtClean="0"/>
              <a:t>‹#›</a:t>
            </a:fld>
            <a:endParaRPr lang="en-US"/>
          </a:p>
        </p:txBody>
      </p:sp>
      <p:sp>
        <p:nvSpPr>
          <p:cNvPr id="11" name="Rectangle 10"/>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8863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t>Click to edit Master title style</a:t>
            </a:r>
          </a:p>
        </p:txBody>
      </p:sp>
      <p:grpSp>
        <p:nvGrpSpPr>
          <p:cNvPr id="20" name="Group 19"/>
          <p:cNvGrpSpPr/>
          <p:nvPr/>
        </p:nvGrpSpPr>
        <p:grpSpPr>
          <a:xfrm>
            <a:off x="0" y="1188720"/>
            <a:ext cx="9144000" cy="137411"/>
            <a:chOff x="284163" y="1577847"/>
            <a:chExt cx="8576373" cy="137411"/>
          </a:xfrm>
        </p:grpSpPr>
        <p:sp>
          <p:nvSpPr>
            <p:cNvPr id="21" name="Rectangle 20"/>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Rectangle 21"/>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3" name="Rectangle 22"/>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0F1B9124-8841-B744-B5C6-AB2045E21DDE}" type="datetime1">
              <a:rPr lang="en-US" smtClean="0"/>
              <a:t>10/2/24</a:t>
            </a:fld>
            <a:endParaRPr lang="en-US"/>
          </a:p>
        </p:txBody>
      </p:sp>
      <p:sp>
        <p:nvSpPr>
          <p:cNvPr id="8" name="Footer Placeholder 7"/>
          <p:cNvSpPr>
            <a:spLocks noGrp="1"/>
          </p:cNvSpPr>
          <p:nvPr>
            <p:ph type="ftr" sz="quarter" idx="11"/>
          </p:nvPr>
        </p:nvSpPr>
        <p:spPr>
          <a:xfrm>
            <a:off x="199698" y="6437032"/>
            <a:ext cx="6124902" cy="365125"/>
          </a:xfrm>
          <a:prstGeom prst="rect">
            <a:avLst/>
          </a:prstGeom>
        </p:spPr>
        <p:txBody>
          <a:bodyPr/>
          <a:lstStyle/>
          <a:p>
            <a:r>
              <a:rPr lang="en-US"/>
              <a:t>© 2020 EV3Lessons.com, Last edit 12/27/2019</a:t>
            </a:r>
          </a:p>
        </p:txBody>
      </p:sp>
      <p:sp>
        <p:nvSpPr>
          <p:cNvPr id="9" name="Slide Number Placeholder 8"/>
          <p:cNvSpPr>
            <a:spLocks noGrp="1"/>
          </p:cNvSpPr>
          <p:nvPr>
            <p:ph type="sldNum" sz="quarter" idx="12"/>
          </p:nvPr>
        </p:nvSpPr>
        <p:spPr/>
        <p:txBody>
          <a:bodyPr/>
          <a:lstStyle/>
          <a:p>
            <a:fld id="{4382A7F7-08BF-4252-8141-63FB96055BBB}" type="slidenum">
              <a:rPr lang="en-US" smtClean="0"/>
              <a:t>‹#›</a:t>
            </a:fld>
            <a:endParaRPr lang="en-US"/>
          </a:p>
        </p:txBody>
      </p:sp>
    </p:spTree>
    <p:extLst>
      <p:ext uri="{BB962C8B-B14F-4D97-AF65-F5344CB8AC3E}">
        <p14:creationId xmlns:p14="http://schemas.microsoft.com/office/powerpoint/2010/main" val="812726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grpSp>
        <p:nvGrpSpPr>
          <p:cNvPr id="16" name="Group 15"/>
          <p:cNvGrpSpPr/>
          <p:nvPr/>
        </p:nvGrpSpPr>
        <p:grpSpPr>
          <a:xfrm>
            <a:off x="0" y="1188720"/>
            <a:ext cx="9144000" cy="137411"/>
            <a:chOff x="284163" y="1577847"/>
            <a:chExt cx="8576373" cy="137411"/>
          </a:xfrm>
        </p:grpSpPr>
        <p:sp>
          <p:nvSpPr>
            <p:cNvPr id="17" name="Rectangle 16"/>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 name="Date Placeholder 2"/>
          <p:cNvSpPr>
            <a:spLocks noGrp="1"/>
          </p:cNvSpPr>
          <p:nvPr>
            <p:ph type="dt" sz="half" idx="10"/>
          </p:nvPr>
        </p:nvSpPr>
        <p:spPr/>
        <p:txBody>
          <a:bodyPr/>
          <a:lstStyle/>
          <a:p>
            <a:fld id="{24842E90-A949-5F44-A52E-562B5AD34EBF}" type="datetime1">
              <a:rPr lang="en-US" smtClean="0"/>
              <a:t>10/2/24</a:t>
            </a:fld>
            <a:endParaRPr lang="en-US"/>
          </a:p>
        </p:txBody>
      </p:sp>
      <p:sp>
        <p:nvSpPr>
          <p:cNvPr id="4" name="Footer Placeholder 3"/>
          <p:cNvSpPr>
            <a:spLocks noGrp="1"/>
          </p:cNvSpPr>
          <p:nvPr>
            <p:ph type="ftr" sz="quarter" idx="11"/>
          </p:nvPr>
        </p:nvSpPr>
        <p:spPr>
          <a:xfrm>
            <a:off x="199698" y="6437032"/>
            <a:ext cx="6124902" cy="365125"/>
          </a:xfrm>
          <a:prstGeom prst="rect">
            <a:avLst/>
          </a:prstGeom>
        </p:spPr>
        <p:txBody>
          <a:bodyPr/>
          <a:lstStyle/>
          <a:p>
            <a:r>
              <a:rPr lang="en-US"/>
              <a:t>© 2020 EV3Lessons.com, Last edit 12/27/2019</a:t>
            </a:r>
          </a:p>
        </p:txBody>
      </p:sp>
      <p:sp>
        <p:nvSpPr>
          <p:cNvPr id="5" name="Slide Number Placeholder 4"/>
          <p:cNvSpPr>
            <a:spLocks noGrp="1"/>
          </p:cNvSpPr>
          <p:nvPr>
            <p:ph type="sldNum" sz="quarter" idx="12"/>
          </p:nvPr>
        </p:nvSpPr>
        <p:spPr/>
        <p:txBody>
          <a:bodyPr/>
          <a:lstStyle/>
          <a:p>
            <a:fld id="{4382A7F7-08BF-4252-8141-63FB96055BBB}" type="slidenum">
              <a:rPr lang="en-US" smtClean="0"/>
              <a:t>‹#›</a:t>
            </a:fld>
            <a:endParaRPr lang="en-US"/>
          </a:p>
        </p:txBody>
      </p:sp>
    </p:spTree>
    <p:extLst>
      <p:ext uri="{BB962C8B-B14F-4D97-AF65-F5344CB8AC3E}">
        <p14:creationId xmlns:p14="http://schemas.microsoft.com/office/powerpoint/2010/main" val="150193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13" name="Group 12"/>
          <p:cNvGrpSpPr/>
          <p:nvPr/>
        </p:nvGrpSpPr>
        <p:grpSpPr>
          <a:xfrm>
            <a:off x="0" y="1188720"/>
            <a:ext cx="9144000" cy="137411"/>
            <a:chOff x="284163" y="1577847"/>
            <a:chExt cx="8576373" cy="137411"/>
          </a:xfrm>
        </p:grpSpPr>
        <p:sp>
          <p:nvSpPr>
            <p:cNvPr id="14" name="Rectangle 13"/>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Rectangle 15"/>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A5F63EC4-95DA-1A44-88B2-6A9F0B9BDE8D}" type="datetime1">
              <a:rPr lang="en-US" smtClean="0"/>
              <a:t>10/2/24</a:t>
            </a:fld>
            <a:endParaRPr lang="en-US"/>
          </a:p>
        </p:txBody>
      </p:sp>
      <p:sp>
        <p:nvSpPr>
          <p:cNvPr id="5" name="Footer Placeholder 4"/>
          <p:cNvSpPr>
            <a:spLocks noGrp="1"/>
          </p:cNvSpPr>
          <p:nvPr>
            <p:ph type="ftr" sz="quarter" idx="11"/>
          </p:nvPr>
        </p:nvSpPr>
        <p:spPr>
          <a:xfrm>
            <a:off x="199698" y="6437032"/>
            <a:ext cx="6124902" cy="365125"/>
          </a:xfrm>
          <a:prstGeom prst="rect">
            <a:avLst/>
          </a:prstGeom>
        </p:spPr>
        <p:txBody>
          <a:bodyPr/>
          <a:lstStyle/>
          <a:p>
            <a:r>
              <a:rPr lang="en-US"/>
              <a:t>© 2020 EV3Lessons.com, Last edit 12/27/2019</a:t>
            </a:r>
          </a:p>
        </p:txBody>
      </p:sp>
      <p:sp>
        <p:nvSpPr>
          <p:cNvPr id="6" name="Slide Number Placeholder 5"/>
          <p:cNvSpPr>
            <a:spLocks noGrp="1"/>
          </p:cNvSpPr>
          <p:nvPr>
            <p:ph type="sldNum" sz="quarter" idx="12"/>
          </p:nvPr>
        </p:nvSpPr>
        <p:spPr/>
        <p:txBody>
          <a:bodyPr/>
          <a:lstStyle/>
          <a:p>
            <a:fld id="{4382A7F7-08BF-4252-8141-63FB96055BBB}" type="slidenum">
              <a:rPr lang="en-US" smtClean="0"/>
              <a:t>‹#›</a:t>
            </a:fld>
            <a:endParaRPr lang="en-US"/>
          </a:p>
        </p:txBody>
      </p:sp>
      <p:sp>
        <p:nvSpPr>
          <p:cNvPr id="17" name="Title 16"/>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4120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6" name="Title 15"/>
          <p:cNvSpPr>
            <a:spLocks noGrp="1"/>
          </p:cNvSpPr>
          <p:nvPr>
            <p:ph type="title"/>
          </p:nvPr>
        </p:nvSpPr>
        <p:spPr>
          <a:xfrm rot="5400000">
            <a:off x="5257800" y="2965449"/>
            <a:ext cx="6858000" cy="914400"/>
          </a:xfrm>
        </p:spPr>
        <p:txBody>
          <a:bodyPr>
            <a:normAutofit/>
          </a:bodyPr>
          <a:lstStyle>
            <a:lvl1pPr algn="ctr">
              <a:defRPr sz="3600"/>
            </a:lvl1pPr>
          </a:lstStyle>
          <a:p>
            <a:r>
              <a:rPr lang="en-US"/>
              <a:t>Click to edit Master title style</a:t>
            </a: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3679924" y="6437032"/>
            <a:ext cx="2133600" cy="365125"/>
          </a:xfrm>
        </p:spPr>
        <p:txBody>
          <a:bodyPr/>
          <a:lstStyle/>
          <a:p>
            <a:fld id="{E1A80AEF-0399-4A4B-B712-0D3CD4E77C2A}" type="datetime1">
              <a:rPr lang="en-US" smtClean="0"/>
              <a:t>10/2/24</a:t>
            </a:fld>
            <a:endParaRPr lang="en-US"/>
          </a:p>
        </p:txBody>
      </p:sp>
      <p:sp>
        <p:nvSpPr>
          <p:cNvPr id="5" name="Footer Placeholder 4"/>
          <p:cNvSpPr>
            <a:spLocks noGrp="1"/>
          </p:cNvSpPr>
          <p:nvPr>
            <p:ph type="ftr" sz="quarter" idx="11"/>
          </p:nvPr>
        </p:nvSpPr>
        <p:spPr>
          <a:xfrm>
            <a:off x="199698" y="6437032"/>
            <a:ext cx="6124902" cy="365125"/>
          </a:xfrm>
          <a:prstGeom prst="rect">
            <a:avLst/>
          </a:prstGeom>
        </p:spPr>
        <p:txBody>
          <a:bodyPr/>
          <a:lstStyle/>
          <a:p>
            <a:r>
              <a:rPr lang="en-US"/>
              <a:t>© 2020 EV3Lessons.com, Last edit 12/27/2019</a:t>
            </a:r>
          </a:p>
        </p:txBody>
      </p:sp>
      <p:sp>
        <p:nvSpPr>
          <p:cNvPr id="6" name="Slide Number Placeholder 5"/>
          <p:cNvSpPr>
            <a:spLocks noGrp="1"/>
          </p:cNvSpPr>
          <p:nvPr>
            <p:ph type="sldNum" sz="quarter" idx="12"/>
          </p:nvPr>
        </p:nvSpPr>
        <p:spPr>
          <a:xfrm>
            <a:off x="7477031" y="6439714"/>
            <a:ext cx="630621" cy="359760"/>
          </a:xfrm>
        </p:spPr>
        <p:txBody>
          <a:bodyPr/>
          <a:lstStyle/>
          <a:p>
            <a:fld id="{4382A7F7-08BF-4252-8141-63FB96055BBB}" type="slidenum">
              <a:rPr lang="en-US" smtClean="0"/>
              <a:t>‹#›</a:t>
            </a:fld>
            <a:endParaRPr lang="en-US"/>
          </a:p>
        </p:txBody>
      </p:sp>
      <p:grpSp>
        <p:nvGrpSpPr>
          <p:cNvPr id="12" name="Group 11"/>
          <p:cNvGrpSpPr/>
          <p:nvPr/>
        </p:nvGrpSpPr>
        <p:grpSpPr>
          <a:xfrm rot="5400000">
            <a:off x="4753323" y="3358675"/>
            <a:ext cx="6861177" cy="137475"/>
            <a:chOff x="284163" y="1577847"/>
            <a:chExt cx="8576373" cy="137411"/>
          </a:xfrm>
        </p:grpSpPr>
        <p:sp>
          <p:nvSpPr>
            <p:cNvPr id="13" name="Rectangle 12"/>
            <p:cNvSpPr/>
            <p:nvPr/>
          </p:nvSpPr>
          <p:spPr>
            <a:xfrm>
              <a:off x="284163" y="1577847"/>
              <a:ext cx="1600200" cy="1374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1885174" y="1577847"/>
              <a:ext cx="2743200" cy="13741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4626864" y="1577847"/>
              <a:ext cx="4233672" cy="13741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836735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E52099-EDDE-A143-975E-847C4643E6BD}" type="datetime1">
              <a:rPr lang="en-US" smtClean="0"/>
              <a:t>10/2/24</a:t>
            </a:fld>
            <a:endParaRPr lang="en-US" dirty="0"/>
          </a:p>
        </p:txBody>
      </p:sp>
      <p:sp>
        <p:nvSpPr>
          <p:cNvPr id="4" name="Footer Placeholder 3"/>
          <p:cNvSpPr>
            <a:spLocks noGrp="1"/>
          </p:cNvSpPr>
          <p:nvPr>
            <p:ph type="ftr" sz="quarter" idx="11"/>
          </p:nvPr>
        </p:nvSpPr>
        <p:spPr>
          <a:xfrm>
            <a:off x="199698" y="6437032"/>
            <a:ext cx="6124902" cy="365125"/>
          </a:xfrm>
          <a:prstGeom prst="rect">
            <a:avLst/>
          </a:prstGeom>
        </p:spPr>
        <p:txBody>
          <a:bodyPr/>
          <a:lstStyle/>
          <a:p>
            <a:r>
              <a:rPr lang="en-US"/>
              <a:t>© 2020 EV3Lessons.com, Last edit 12/27/2019</a:t>
            </a:r>
            <a:endParaRPr lang="en-US" dirty="0"/>
          </a:p>
        </p:txBody>
      </p:sp>
      <p:sp>
        <p:nvSpPr>
          <p:cNvPr id="5" name="Slide Number Placeholder 4"/>
          <p:cNvSpPr>
            <a:spLocks noGrp="1"/>
          </p:cNvSpPr>
          <p:nvPr>
            <p:ph type="sldNum" sz="quarter" idx="12"/>
          </p:nvPr>
        </p:nvSpPr>
        <p:spPr/>
        <p:txBody>
          <a:bodyPr/>
          <a:lstStyle/>
          <a:p>
            <a:fld id="{4382A7F7-08BF-4252-8141-63FB96055BBB}" type="slidenum">
              <a:rPr lang="en-US" smtClean="0"/>
              <a:t>‹#›</a:t>
            </a:fld>
            <a:endParaRPr lang="en-US"/>
          </a:p>
        </p:txBody>
      </p:sp>
      <p:sp>
        <p:nvSpPr>
          <p:cNvPr id="7" name="Text Placeholder 6"/>
          <p:cNvSpPr>
            <a:spLocks noGrp="1"/>
          </p:cNvSpPr>
          <p:nvPr>
            <p:ph type="body" sz="quarter" idx="13"/>
          </p:nvPr>
        </p:nvSpPr>
        <p:spPr>
          <a:xfrm>
            <a:off x="199698" y="1554163"/>
            <a:ext cx="8737927" cy="4741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2547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Slide with Pictur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66823B-C5C3-3348-857D-1380B98F4D0B}" type="datetime1">
              <a:rPr lang="en-US" smtClean="0"/>
              <a:t>10/2/24</a:t>
            </a:fld>
            <a:endParaRPr lang="en-US"/>
          </a:p>
        </p:txBody>
      </p:sp>
      <p:sp>
        <p:nvSpPr>
          <p:cNvPr id="5" name="Footer Placeholder 4"/>
          <p:cNvSpPr>
            <a:spLocks noGrp="1"/>
          </p:cNvSpPr>
          <p:nvPr>
            <p:ph type="ftr" sz="quarter" idx="11"/>
          </p:nvPr>
        </p:nvSpPr>
        <p:spPr>
          <a:xfrm>
            <a:off x="199698" y="6437032"/>
            <a:ext cx="6124902" cy="365125"/>
          </a:xfrm>
          <a:prstGeom prst="rect">
            <a:avLst/>
          </a:prstGeom>
        </p:spPr>
        <p:txBody>
          <a:bodyPr/>
          <a:lstStyle/>
          <a:p>
            <a:r>
              <a:rPr lang="en-US"/>
              <a:t>© 2020 EV3Lessons.com, Last edit 12/27/2019</a:t>
            </a:r>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1690395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4163" y="1818870"/>
            <a:ext cx="8574087" cy="43072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2784041" y="6434349"/>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942AD35E-500E-1A49-BB25-12B2F8E5C5E8}" type="datetime1">
              <a:rPr lang="en-US" smtClean="0"/>
              <a:t>10/2/24</a:t>
            </a:fld>
            <a:endParaRPr lang="en-US" dirty="0"/>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r>
              <a:rPr lang="en-US" dirty="0"/>
              <a:t>© 2020 EV3Lessons.com, Last edit 12/27/2019</a:t>
            </a:r>
          </a:p>
        </p:txBody>
      </p:sp>
      <p:sp>
        <p:nvSpPr>
          <p:cNvPr id="2" name="Title Placeholder 1"/>
          <p:cNvSpPr>
            <a:spLocks noGrp="1"/>
          </p:cNvSpPr>
          <p:nvPr>
            <p:ph type="title"/>
          </p:nvPr>
        </p:nvSpPr>
        <p:spPr>
          <a:xfrm>
            <a:off x="0" y="0"/>
            <a:ext cx="9143999" cy="1188720"/>
          </a:xfrm>
          <a:prstGeom prst="rect">
            <a:avLst/>
          </a:prstGeom>
          <a:solidFill>
            <a:schemeClr val="bg2">
              <a:lumMod val="25000"/>
            </a:schemeClr>
          </a:solidFill>
        </p:spPr>
        <p:txBody>
          <a:bodyPr vert="horz" lIns="91440" tIns="45720" rIns="91440" bIns="45720" rtlCol="0" anchor="ctr">
            <a:normAutofit/>
          </a:bodyPr>
          <a:lstStyle/>
          <a:p>
            <a:r>
              <a:rPr lang="en-US"/>
              <a:t>Click to edit Master title style</a:t>
            </a:r>
            <a:endParaRPr dirty="0"/>
          </a:p>
        </p:txBody>
      </p:sp>
      <p:sp>
        <p:nvSpPr>
          <p:cNvPr id="6" name="Slide Number Placeholder 5"/>
          <p:cNvSpPr>
            <a:spLocks noGrp="1"/>
          </p:cNvSpPr>
          <p:nvPr>
            <p:ph type="sldNum" sz="quarter" idx="4"/>
          </p:nvPr>
        </p:nvSpPr>
        <p:spPr>
          <a:xfrm>
            <a:off x="8297915" y="6439714"/>
            <a:ext cx="630621" cy="359760"/>
          </a:xfrm>
          <a:prstGeom prst="rect">
            <a:avLst/>
          </a:prstGeom>
          <a:ln>
            <a:noFill/>
          </a:ln>
        </p:spPr>
        <p:txBody>
          <a:bodyPr vert="horz" lIns="91440" tIns="45720" rIns="91440" bIns="45720" rtlCol="0" anchor="ctr"/>
          <a:lstStyle>
            <a:lvl1pPr algn="r">
              <a:defRPr sz="1400" b="1">
                <a:solidFill>
                  <a:schemeClr val="tx1"/>
                </a:solidFill>
              </a:defRPr>
            </a:lvl1pPr>
          </a:lstStyle>
          <a:p>
            <a:fld id="{4382A7F7-08BF-4252-8141-63FB96055BBB}" type="slidenum">
              <a:rPr lang="en-US" smtClean="0"/>
              <a:t>‹#›</a:t>
            </a:fld>
            <a:endParaRPr lang="en-US"/>
          </a:p>
        </p:txBody>
      </p:sp>
    </p:spTree>
    <p:extLst>
      <p:ext uri="{BB962C8B-B14F-4D97-AF65-F5344CB8AC3E}">
        <p14:creationId xmlns:p14="http://schemas.microsoft.com/office/powerpoint/2010/main" val="1024830716"/>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Lst>
  <p:hf sldNum="0" hdr="0" dt="0"/>
  <p:txStyles>
    <p:titleStyle>
      <a:lvl1pPr marL="231775" indent="3175" algn="l" defTabSz="914400" rtl="0" eaLnBrk="1" latinLnBrk="0" hangingPunct="1">
        <a:spcBef>
          <a:spcPct val="0"/>
        </a:spcBef>
        <a:buNone/>
        <a:tabLst/>
        <a:defRPr sz="4200" kern="1200">
          <a:solidFill>
            <a:schemeClr val="bg1"/>
          </a:solidFill>
          <a:latin typeface="Calibri" charset="0"/>
          <a:ea typeface="Calibri" charset="0"/>
          <a:cs typeface="Calibri" charset="0"/>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smartrobotsdesignlab/ev3_linefollowe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2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smartrobotsdesignlab/ev3_linefollower"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hyperlink" Target="https://assets.education.lego.com/v3/assets/blt293eea581807678a/bltb470b9ea6e38f8d4/5f8802fc4376310c19e33714/getting-started-with-micropython-v2_enus.pdf?locale=en-us" TargetMode="External"/><Relationship Id="rId2" Type="http://schemas.openxmlformats.org/officeDocument/2006/relationships/hyperlink" Target="https://code.visualstudio.com/download" TargetMode="External"/><Relationship Id="rId1" Type="http://schemas.openxmlformats.org/officeDocument/2006/relationships/slideLayout" Target="../slideLayouts/slideLayout2.xml"/><Relationship Id="rId6" Type="http://schemas.openxmlformats.org/officeDocument/2006/relationships/hyperlink" Target="https://pybricks.com/ev3-micropython/" TargetMode="External"/><Relationship Id="rId5" Type="http://schemas.openxmlformats.org/officeDocument/2006/relationships/hyperlink" Target="https://pybricks.com/ev3-micropython/examples/robot_educator_line.html" TargetMode="External"/><Relationship Id="rId4" Type="http://schemas.openxmlformats.org/officeDocument/2006/relationships/hyperlink" Target="https://assets.education.lego.com/v3/assets/blt293eea581807678a/bltc8481dd2666822ff/5f8801e3f4f4cf0fa39d2fef/ev3-rem-driving-base.pdf?locale=en-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PID Controller &amp; Tuning</a:t>
            </a:r>
            <a:br>
              <a:rPr lang="en-US" dirty="0"/>
            </a:br>
            <a:r>
              <a:rPr lang="en-US" dirty="0"/>
              <a:t>for a Line Following Robot</a:t>
            </a:r>
          </a:p>
        </p:txBody>
      </p:sp>
      <p:sp>
        <p:nvSpPr>
          <p:cNvPr id="13" name="Subtitle 12"/>
          <p:cNvSpPr>
            <a:spLocks noGrp="1"/>
          </p:cNvSpPr>
          <p:nvPr>
            <p:ph type="subTitle" idx="1"/>
          </p:nvPr>
        </p:nvSpPr>
        <p:spPr>
          <a:xfrm>
            <a:off x="457200" y="6425935"/>
            <a:ext cx="8229600" cy="484632"/>
          </a:xfrm>
        </p:spPr>
        <p:txBody>
          <a:bodyPr/>
          <a:lstStyle/>
          <a:p>
            <a:r>
              <a:rPr lang="en-US" dirty="0"/>
              <a:t>Based on materials by Sanjay and Arvind </a:t>
            </a:r>
            <a:r>
              <a:rPr lang="en-US" dirty="0" err="1"/>
              <a:t>Seshan</a:t>
            </a:r>
            <a:endParaRPr lang="en-US" dirty="0"/>
          </a:p>
        </p:txBody>
      </p:sp>
      <p:pic>
        <p:nvPicPr>
          <p:cNvPr id="6" name="Picture 5" descr="A picture containing drawing&#10;&#10;Description automatically generated">
            <a:extLst>
              <a:ext uri="{FF2B5EF4-FFF2-40B4-BE49-F238E27FC236}">
                <a16:creationId xmlns:a16="http://schemas.microsoft.com/office/drawing/2014/main" id="{E7BF44BA-D01F-1F4D-964A-3969DA6655E8}"/>
              </a:ext>
            </a:extLst>
          </p:cNvPr>
          <p:cNvPicPr>
            <a:picLocks noChangeAspect="1"/>
          </p:cNvPicPr>
          <p:nvPr/>
        </p:nvPicPr>
        <p:blipFill rotWithShape="1">
          <a:blip r:embed="rId3"/>
          <a:srcRect l="2055" t="7277" r="2818" b="5432"/>
          <a:stretch/>
        </p:blipFill>
        <p:spPr>
          <a:xfrm>
            <a:off x="5294149" y="268395"/>
            <a:ext cx="3603295" cy="1385142"/>
          </a:xfrm>
          <a:prstGeom prst="rect">
            <a:avLst/>
          </a:prstGeom>
        </p:spPr>
      </p:pic>
      <p:sp>
        <p:nvSpPr>
          <p:cNvPr id="4" name="TextBox 3">
            <a:extLst>
              <a:ext uri="{FF2B5EF4-FFF2-40B4-BE49-F238E27FC236}">
                <a16:creationId xmlns:a16="http://schemas.microsoft.com/office/drawing/2014/main" id="{8F26BD0C-8127-058C-B7CD-E8EA093B45EC}"/>
              </a:ext>
            </a:extLst>
          </p:cNvPr>
          <p:cNvSpPr txBox="1"/>
          <p:nvPr/>
        </p:nvSpPr>
        <p:spPr>
          <a:xfrm>
            <a:off x="3203468" y="1282615"/>
            <a:ext cx="184731" cy="369332"/>
          </a:xfrm>
          <a:prstGeom prst="rect">
            <a:avLst/>
          </a:prstGeom>
          <a:noFill/>
        </p:spPr>
        <p:txBody>
          <a:bodyPr wrap="none" rtlCol="0">
            <a:spAutoFit/>
          </a:bodyPr>
          <a:lstStyle/>
          <a:p>
            <a:endParaRPr lang="en-JP" dirty="0"/>
          </a:p>
        </p:txBody>
      </p:sp>
      <p:sp>
        <p:nvSpPr>
          <p:cNvPr id="8" name="Subtitle 12">
            <a:extLst>
              <a:ext uri="{FF2B5EF4-FFF2-40B4-BE49-F238E27FC236}">
                <a16:creationId xmlns:a16="http://schemas.microsoft.com/office/drawing/2014/main" id="{14428512-D7F5-5EF2-F810-8BB901D4F252}"/>
              </a:ext>
            </a:extLst>
          </p:cNvPr>
          <p:cNvSpPr txBox="1">
            <a:spLocks/>
          </p:cNvSpPr>
          <p:nvPr/>
        </p:nvSpPr>
        <p:spPr>
          <a:xfrm>
            <a:off x="457200" y="4063224"/>
            <a:ext cx="8229600" cy="969044"/>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tx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Jose Salazar</a:t>
            </a:r>
          </a:p>
          <a:p>
            <a:r>
              <a:rPr lang="en-US" dirty="0"/>
              <a:t>03/10/2024</a:t>
            </a:r>
          </a:p>
        </p:txBody>
      </p:sp>
    </p:spTree>
    <p:extLst>
      <p:ext uri="{BB962C8B-B14F-4D97-AF65-F5344CB8AC3E}">
        <p14:creationId xmlns:p14="http://schemas.microsoft.com/office/powerpoint/2010/main" val="3648421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Learn about PID controllers, how they work, and how to tune them</a:t>
            </a:r>
          </a:p>
          <a:p>
            <a:r>
              <a:rPr lang="en-US" dirty="0"/>
              <a:t>Use a PID controller to make a robot follow a line</a:t>
            </a:r>
          </a:p>
          <a:p>
            <a:endParaRPr lang="en-US" dirty="0"/>
          </a:p>
          <a:p>
            <a:r>
              <a:rPr lang="en-US" b="1" dirty="0"/>
              <a:t>Prerequisites:</a:t>
            </a:r>
            <a:r>
              <a:rPr lang="en-US" dirty="0"/>
              <a:t> </a:t>
            </a:r>
          </a:p>
          <a:p>
            <a:pPr lvl="1"/>
            <a:r>
              <a:rPr lang="en-US" dirty="0"/>
              <a:t>Basic programming in Python</a:t>
            </a:r>
          </a:p>
          <a:p>
            <a:pPr lvl="1"/>
            <a:r>
              <a:rPr lang="en-US" dirty="0"/>
              <a:t>VS Code installed on PC</a:t>
            </a:r>
          </a:p>
          <a:p>
            <a:endParaRPr lang="en-US" dirty="0"/>
          </a:p>
          <a:p>
            <a:endParaRPr lang="en-US" dirty="0"/>
          </a:p>
        </p:txBody>
      </p:sp>
      <p:sp>
        <p:nvSpPr>
          <p:cNvPr id="2" name="Title 1"/>
          <p:cNvSpPr>
            <a:spLocks noGrp="1"/>
          </p:cNvSpPr>
          <p:nvPr>
            <p:ph type="title"/>
          </p:nvPr>
        </p:nvSpPr>
        <p:spPr/>
        <p:txBody>
          <a:bodyPr/>
          <a:lstStyle/>
          <a:p>
            <a:r>
              <a:rPr lang="en-US"/>
              <a:t>Lesson Objectives</a:t>
            </a:r>
            <a:endParaRPr lang="en-US" dirty="0"/>
          </a:p>
        </p:txBody>
      </p:sp>
    </p:spTree>
    <p:extLst>
      <p:ext uri="{BB962C8B-B14F-4D97-AF65-F5344CB8AC3E}">
        <p14:creationId xmlns:p14="http://schemas.microsoft.com/office/powerpoint/2010/main" val="3076009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510FB7-E26B-0C9D-554F-95AAED83F4A1}"/>
              </a:ext>
            </a:extLst>
          </p:cNvPr>
          <p:cNvSpPr>
            <a:spLocks noGrp="1"/>
          </p:cNvSpPr>
          <p:nvPr>
            <p:ph idx="1"/>
          </p:nvPr>
        </p:nvSpPr>
        <p:spPr>
          <a:xfrm>
            <a:off x="284163" y="3991227"/>
            <a:ext cx="8574087" cy="2661076"/>
          </a:xfrm>
        </p:spPr>
        <p:txBody>
          <a:bodyPr/>
          <a:lstStyle/>
          <a:p>
            <a:r>
              <a:rPr lang="en-JP" dirty="0"/>
              <a:t>Open VS Code</a:t>
            </a:r>
          </a:p>
          <a:p>
            <a:r>
              <a:rPr lang="en-US" dirty="0"/>
              <a:t>Open the extensions tab</a:t>
            </a:r>
          </a:p>
          <a:p>
            <a:r>
              <a:rPr lang="en-US" dirty="0"/>
              <a:t>Search for EV3 </a:t>
            </a:r>
            <a:r>
              <a:rPr lang="en-US" dirty="0" err="1"/>
              <a:t>MycroPython</a:t>
            </a:r>
            <a:endParaRPr lang="en-US" dirty="0"/>
          </a:p>
          <a:p>
            <a:r>
              <a:rPr lang="en-US" dirty="0"/>
              <a:t>Install the EV3 </a:t>
            </a:r>
            <a:r>
              <a:rPr lang="en-US" dirty="0" err="1"/>
              <a:t>MicroPython</a:t>
            </a:r>
            <a:r>
              <a:rPr lang="en-US" dirty="0"/>
              <a:t> extension</a:t>
            </a:r>
            <a:endParaRPr lang="en-JP" dirty="0"/>
          </a:p>
        </p:txBody>
      </p:sp>
      <p:sp>
        <p:nvSpPr>
          <p:cNvPr id="4" name="Title 3">
            <a:extLst>
              <a:ext uri="{FF2B5EF4-FFF2-40B4-BE49-F238E27FC236}">
                <a16:creationId xmlns:a16="http://schemas.microsoft.com/office/drawing/2014/main" id="{09DA91B5-CEF0-A93E-C6FB-8158ED9C731B}"/>
              </a:ext>
            </a:extLst>
          </p:cNvPr>
          <p:cNvSpPr>
            <a:spLocks noGrp="1"/>
          </p:cNvSpPr>
          <p:nvPr>
            <p:ph type="title"/>
          </p:nvPr>
        </p:nvSpPr>
        <p:spPr/>
        <p:txBody>
          <a:bodyPr/>
          <a:lstStyle/>
          <a:p>
            <a:r>
              <a:rPr lang="en-JP" dirty="0"/>
              <a:t>Environment Setup</a:t>
            </a:r>
          </a:p>
        </p:txBody>
      </p:sp>
      <p:pic>
        <p:nvPicPr>
          <p:cNvPr id="5" name="Picture 4">
            <a:extLst>
              <a:ext uri="{FF2B5EF4-FFF2-40B4-BE49-F238E27FC236}">
                <a16:creationId xmlns:a16="http://schemas.microsoft.com/office/drawing/2014/main" id="{14550631-E10C-9922-384F-2E23686C7E6E}"/>
              </a:ext>
            </a:extLst>
          </p:cNvPr>
          <p:cNvPicPr>
            <a:picLocks noChangeAspect="1"/>
          </p:cNvPicPr>
          <p:nvPr/>
        </p:nvPicPr>
        <p:blipFill>
          <a:blip r:embed="rId2"/>
          <a:stretch>
            <a:fillRect/>
          </a:stretch>
        </p:blipFill>
        <p:spPr>
          <a:xfrm>
            <a:off x="1770842" y="1548510"/>
            <a:ext cx="5600727" cy="2262086"/>
          </a:xfrm>
          <a:prstGeom prst="rect">
            <a:avLst/>
          </a:prstGeom>
        </p:spPr>
      </p:pic>
    </p:spTree>
    <p:extLst>
      <p:ext uri="{BB962C8B-B14F-4D97-AF65-F5344CB8AC3E}">
        <p14:creationId xmlns:p14="http://schemas.microsoft.com/office/powerpoint/2010/main" val="381654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A59EA1-4D5A-2A63-C10E-A69EF24D2E1F}"/>
              </a:ext>
            </a:extLst>
          </p:cNvPr>
          <p:cNvSpPr>
            <a:spLocks noGrp="1"/>
          </p:cNvSpPr>
          <p:nvPr>
            <p:ph idx="1"/>
          </p:nvPr>
        </p:nvSpPr>
        <p:spPr>
          <a:xfrm>
            <a:off x="284163" y="1818870"/>
            <a:ext cx="5275880" cy="4307294"/>
          </a:xfrm>
        </p:spPr>
        <p:txBody>
          <a:bodyPr/>
          <a:lstStyle/>
          <a:p>
            <a:r>
              <a:rPr lang="en-JP" dirty="0"/>
              <a:t>We will use a differential base created using LEGO Mindstorms EV3</a:t>
            </a:r>
          </a:p>
          <a:p>
            <a:pPr lvl="1"/>
            <a:r>
              <a:rPr lang="en-JP" dirty="0"/>
              <a:t>Programmable using LEGO building blocks, Scratch or MicroPython</a:t>
            </a:r>
          </a:p>
          <a:p>
            <a:pPr lvl="1"/>
            <a:r>
              <a:rPr lang="en-JP" dirty="0"/>
              <a:t>Light sensor used to detect reflection</a:t>
            </a:r>
          </a:p>
          <a:p>
            <a:r>
              <a:rPr lang="en-JP" dirty="0"/>
              <a:t>We will use VS Code to write and upload the MicroPython program</a:t>
            </a:r>
          </a:p>
        </p:txBody>
      </p:sp>
      <p:sp>
        <p:nvSpPr>
          <p:cNvPr id="4" name="Title 3">
            <a:extLst>
              <a:ext uri="{FF2B5EF4-FFF2-40B4-BE49-F238E27FC236}">
                <a16:creationId xmlns:a16="http://schemas.microsoft.com/office/drawing/2014/main" id="{A3AB2EB4-CC41-98A2-ACCB-34E23751D084}"/>
              </a:ext>
            </a:extLst>
          </p:cNvPr>
          <p:cNvSpPr>
            <a:spLocks noGrp="1"/>
          </p:cNvSpPr>
          <p:nvPr>
            <p:ph type="title"/>
          </p:nvPr>
        </p:nvSpPr>
        <p:spPr/>
        <p:txBody>
          <a:bodyPr/>
          <a:lstStyle/>
          <a:p>
            <a:r>
              <a:rPr lang="en-JP" dirty="0"/>
              <a:t>Line-following Platform</a:t>
            </a:r>
          </a:p>
        </p:txBody>
      </p:sp>
      <p:pic>
        <p:nvPicPr>
          <p:cNvPr id="1028" name="Picture 4">
            <a:extLst>
              <a:ext uri="{FF2B5EF4-FFF2-40B4-BE49-F238E27FC236}">
                <a16:creationId xmlns:a16="http://schemas.microsoft.com/office/drawing/2014/main" id="{31239C8E-C96E-A584-4A92-0F154C2AFB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7573" y="1818870"/>
            <a:ext cx="3050045" cy="20434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toy robot on a white surface&#10;&#10;Description automatically generated">
            <a:extLst>
              <a:ext uri="{FF2B5EF4-FFF2-40B4-BE49-F238E27FC236}">
                <a16:creationId xmlns:a16="http://schemas.microsoft.com/office/drawing/2014/main" id="{EADDE818-E16D-85B8-1E4C-68EB2EB344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7573" y="4105223"/>
            <a:ext cx="3050046" cy="2287535"/>
          </a:xfrm>
          <a:prstGeom prst="rect">
            <a:avLst/>
          </a:prstGeom>
        </p:spPr>
      </p:pic>
      <p:sp>
        <p:nvSpPr>
          <p:cNvPr id="10" name="TextBox 9">
            <a:extLst>
              <a:ext uri="{FF2B5EF4-FFF2-40B4-BE49-F238E27FC236}">
                <a16:creationId xmlns:a16="http://schemas.microsoft.com/office/drawing/2014/main" id="{C3D6F9DA-AC06-79A5-0629-3585CE9B183D}"/>
              </a:ext>
            </a:extLst>
          </p:cNvPr>
          <p:cNvSpPr txBox="1"/>
          <p:nvPr/>
        </p:nvSpPr>
        <p:spPr>
          <a:xfrm>
            <a:off x="46027" y="6481797"/>
            <a:ext cx="7717168" cy="307777"/>
          </a:xfrm>
          <a:prstGeom prst="rect">
            <a:avLst/>
          </a:prstGeom>
          <a:noFill/>
        </p:spPr>
        <p:txBody>
          <a:bodyPr wrap="square">
            <a:spAutoFit/>
          </a:bodyPr>
          <a:lstStyle/>
          <a:p>
            <a:r>
              <a:rPr lang="en-JP" sz="1400" b="1" dirty="0"/>
              <a:t>Robot reference:</a:t>
            </a:r>
            <a:r>
              <a:rPr lang="en-JP" sz="1400" dirty="0"/>
              <a:t> https://pybricks.com/ev3-micropython/examples/robot_educator_line.html</a:t>
            </a:r>
          </a:p>
        </p:txBody>
      </p:sp>
    </p:spTree>
    <p:extLst>
      <p:ext uri="{BB962C8B-B14F-4D97-AF65-F5344CB8AC3E}">
        <p14:creationId xmlns:p14="http://schemas.microsoft.com/office/powerpoint/2010/main" val="2255876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F193F8-0603-AA3A-6C83-94AE1A8EE744}"/>
              </a:ext>
            </a:extLst>
          </p:cNvPr>
          <p:cNvSpPr>
            <a:spLocks noGrp="1"/>
          </p:cNvSpPr>
          <p:nvPr>
            <p:ph idx="1"/>
          </p:nvPr>
        </p:nvSpPr>
        <p:spPr>
          <a:xfrm>
            <a:off x="284164" y="1818870"/>
            <a:ext cx="4993582" cy="4307294"/>
          </a:xfrm>
        </p:spPr>
        <p:txBody>
          <a:bodyPr>
            <a:normAutofit fontScale="92500" lnSpcReduction="20000"/>
          </a:bodyPr>
          <a:lstStyle/>
          <a:p>
            <a:r>
              <a:rPr lang="en-US" b="1" dirty="0"/>
              <a:t>Edge Following Strategy</a:t>
            </a:r>
            <a:r>
              <a:rPr lang="en-US" dirty="0"/>
              <a:t>: Instead of following the line, follow its edge</a:t>
            </a:r>
          </a:p>
          <a:p>
            <a:pPr lvl="1"/>
            <a:r>
              <a:rPr lang="en-US" dirty="0"/>
              <a:t>If the sensor detects white, it's unclear whether the robot is left or right of the line.</a:t>
            </a:r>
          </a:p>
          <a:p>
            <a:pPr lvl="1"/>
            <a:r>
              <a:rPr lang="en-US" dirty="0"/>
              <a:t>By following the line's edge, the robot can tell its position: if the sensor detects white, it’s right of the edge; if black, it’s left</a:t>
            </a:r>
          </a:p>
          <a:p>
            <a:r>
              <a:rPr lang="en-US" dirty="0"/>
              <a:t>This method is called </a:t>
            </a:r>
            <a:r>
              <a:rPr lang="en-US" b="1" dirty="0"/>
              <a:t>Right Hand Line Follower</a:t>
            </a:r>
            <a:endParaRPr lang="en-US" dirty="0"/>
          </a:p>
          <a:p>
            <a:r>
              <a:rPr lang="en-US" b="1" dirty="0"/>
              <a:t>Sensor Calibration</a:t>
            </a:r>
            <a:r>
              <a:rPr lang="en-US" dirty="0"/>
              <a:t>: we need to know the sensor's white and black readings</a:t>
            </a:r>
            <a:endParaRPr lang="en-JP" dirty="0"/>
          </a:p>
        </p:txBody>
      </p:sp>
      <p:sp>
        <p:nvSpPr>
          <p:cNvPr id="4" name="Title 3">
            <a:extLst>
              <a:ext uri="{FF2B5EF4-FFF2-40B4-BE49-F238E27FC236}">
                <a16:creationId xmlns:a16="http://schemas.microsoft.com/office/drawing/2014/main" id="{BF05609E-AFB0-4917-07A6-8A66A67EFD4F}"/>
              </a:ext>
            </a:extLst>
          </p:cNvPr>
          <p:cNvSpPr>
            <a:spLocks noGrp="1"/>
          </p:cNvSpPr>
          <p:nvPr>
            <p:ph type="title"/>
          </p:nvPr>
        </p:nvSpPr>
        <p:spPr/>
        <p:txBody>
          <a:bodyPr/>
          <a:lstStyle/>
          <a:p>
            <a:r>
              <a:rPr lang="en-JP" dirty="0"/>
              <a:t>Challenge: Line-following</a:t>
            </a:r>
          </a:p>
        </p:txBody>
      </p:sp>
      <p:pic>
        <p:nvPicPr>
          <p:cNvPr id="2050" name="Picture 2" descr="Basic_bot.">
            <a:extLst>
              <a:ext uri="{FF2B5EF4-FFF2-40B4-BE49-F238E27FC236}">
                <a16:creationId xmlns:a16="http://schemas.microsoft.com/office/drawing/2014/main" id="{BA5E9989-39C7-EE89-B0F1-B3924644E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679368" y="4214227"/>
            <a:ext cx="1468043" cy="199293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w does the color sensor work? | FLLCasts">
            <a:extLst>
              <a:ext uri="{FF2B5EF4-FFF2-40B4-BE49-F238E27FC236}">
                <a16:creationId xmlns:a16="http://schemas.microsoft.com/office/drawing/2014/main" id="{FEE209AB-511F-76F0-BE0B-3846CA600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8478" y="1818871"/>
            <a:ext cx="3129824" cy="17605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1B18B7-1461-AAE0-BBA1-4914A6D58C47}"/>
              </a:ext>
            </a:extLst>
          </p:cNvPr>
          <p:cNvSpPr txBox="1"/>
          <p:nvPr/>
        </p:nvSpPr>
        <p:spPr>
          <a:xfrm>
            <a:off x="6390060" y="3586695"/>
            <a:ext cx="2046660" cy="307777"/>
          </a:xfrm>
          <a:prstGeom prst="rect">
            <a:avLst/>
          </a:prstGeom>
          <a:noFill/>
        </p:spPr>
        <p:txBody>
          <a:bodyPr wrap="square">
            <a:spAutoFit/>
          </a:bodyPr>
          <a:lstStyle/>
          <a:p>
            <a:pPr algn="ctr"/>
            <a:r>
              <a:rPr lang="en-JP" sz="1400" dirty="0"/>
              <a:t>Light sensor</a:t>
            </a:r>
          </a:p>
        </p:txBody>
      </p:sp>
      <p:sp>
        <p:nvSpPr>
          <p:cNvPr id="6" name="TextBox 5">
            <a:extLst>
              <a:ext uri="{FF2B5EF4-FFF2-40B4-BE49-F238E27FC236}">
                <a16:creationId xmlns:a16="http://schemas.microsoft.com/office/drawing/2014/main" id="{AEE29A76-B1D2-855C-8479-9B2D56BEFB76}"/>
              </a:ext>
            </a:extLst>
          </p:cNvPr>
          <p:cNvSpPr txBox="1"/>
          <p:nvPr/>
        </p:nvSpPr>
        <p:spPr>
          <a:xfrm>
            <a:off x="6390060" y="6207157"/>
            <a:ext cx="2046660" cy="523220"/>
          </a:xfrm>
          <a:prstGeom prst="rect">
            <a:avLst/>
          </a:prstGeom>
          <a:noFill/>
        </p:spPr>
        <p:txBody>
          <a:bodyPr wrap="square">
            <a:spAutoFit/>
          </a:bodyPr>
          <a:lstStyle/>
          <a:p>
            <a:pPr algn="ctr"/>
            <a:r>
              <a:rPr lang="en-JP" sz="1400" dirty="0"/>
              <a:t>Light sensor measuring the value of reflection</a:t>
            </a:r>
          </a:p>
        </p:txBody>
      </p:sp>
      <p:sp>
        <p:nvSpPr>
          <p:cNvPr id="9" name="Rectangle 8">
            <a:extLst>
              <a:ext uri="{FF2B5EF4-FFF2-40B4-BE49-F238E27FC236}">
                <a16:creationId xmlns:a16="http://schemas.microsoft.com/office/drawing/2014/main" id="{E452DF56-ED2A-EB04-970B-F0D101BF29B7}"/>
              </a:ext>
            </a:extLst>
          </p:cNvPr>
          <p:cNvSpPr/>
          <p:nvPr/>
        </p:nvSpPr>
        <p:spPr>
          <a:xfrm>
            <a:off x="6771807" y="5482651"/>
            <a:ext cx="157396" cy="367259"/>
          </a:xfrm>
          <a:prstGeom prst="rect">
            <a:avLst/>
          </a:prstGeom>
          <a:solidFill>
            <a:schemeClr val="bg1"/>
          </a:solidFill>
          <a:ln>
            <a:noFill/>
          </a:ln>
          <a:effectLs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JP"/>
          </a:p>
        </p:txBody>
      </p:sp>
      <p:sp>
        <p:nvSpPr>
          <p:cNvPr id="10" name="Rectangle 9">
            <a:extLst>
              <a:ext uri="{FF2B5EF4-FFF2-40B4-BE49-F238E27FC236}">
                <a16:creationId xmlns:a16="http://schemas.microsoft.com/office/drawing/2014/main" id="{76E342EB-6F2C-CFD8-1D5F-2B4E2704AA14}"/>
              </a:ext>
            </a:extLst>
          </p:cNvPr>
          <p:cNvSpPr/>
          <p:nvPr/>
        </p:nvSpPr>
        <p:spPr>
          <a:xfrm>
            <a:off x="7883578" y="5482651"/>
            <a:ext cx="157396" cy="367259"/>
          </a:xfrm>
          <a:prstGeom prst="rect">
            <a:avLst/>
          </a:prstGeom>
          <a:solidFill>
            <a:schemeClr val="bg1"/>
          </a:solidFill>
          <a:ln>
            <a:noFill/>
          </a:ln>
          <a:effectLs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523108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Reflected light sensor readings show how “dark” the measured area is on average</a:t>
            </a:r>
          </a:p>
          <a:p>
            <a:r>
              <a:rPr lang="en-US" dirty="0"/>
              <a:t>Calibrated readings should range from 100 (on just white) to 0 (on just black)</a:t>
            </a:r>
          </a:p>
        </p:txBody>
      </p:sp>
      <p:sp>
        <p:nvSpPr>
          <p:cNvPr id="2" name="Title 1"/>
          <p:cNvSpPr>
            <a:spLocks noGrp="1"/>
          </p:cNvSpPr>
          <p:nvPr>
            <p:ph type="title"/>
          </p:nvPr>
        </p:nvSpPr>
        <p:spPr/>
        <p:txBody>
          <a:bodyPr/>
          <a:lstStyle/>
          <a:p>
            <a:r>
              <a:rPr lang="en-US" dirty="0"/>
              <a:t>How Far Is the Robot From The Line?</a:t>
            </a:r>
          </a:p>
        </p:txBody>
      </p:sp>
      <p:cxnSp>
        <p:nvCxnSpPr>
          <p:cNvPr id="6" name="Straight Connector 5"/>
          <p:cNvCxnSpPr/>
          <p:nvPr/>
        </p:nvCxnSpPr>
        <p:spPr>
          <a:xfrm>
            <a:off x="1623560" y="4938584"/>
            <a:ext cx="5974373" cy="0"/>
          </a:xfrm>
          <a:prstGeom prst="line">
            <a:avLst/>
          </a:prstGeom>
          <a:ln w="466725">
            <a:solidFill>
              <a:schemeClr val="tx1"/>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663893" y="3692674"/>
            <a:ext cx="290147" cy="290147"/>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 name="TextBox 7"/>
          <p:cNvSpPr txBox="1"/>
          <p:nvPr/>
        </p:nvSpPr>
        <p:spPr>
          <a:xfrm>
            <a:off x="4502100" y="3711701"/>
            <a:ext cx="2206245" cy="300082"/>
          </a:xfrm>
          <a:prstGeom prst="rect">
            <a:avLst/>
          </a:prstGeom>
          <a:noFill/>
        </p:spPr>
        <p:txBody>
          <a:bodyPr wrap="none" rtlCol="0">
            <a:spAutoFit/>
          </a:bodyPr>
          <a:lstStyle/>
          <a:p>
            <a:r>
              <a:rPr lang="en-US" sz="1350" dirty="0"/>
              <a:t>Light Sensor Measured Area:</a:t>
            </a:r>
          </a:p>
        </p:txBody>
      </p:sp>
      <p:sp>
        <p:nvSpPr>
          <p:cNvPr id="9" name="TextBox 8"/>
          <p:cNvSpPr txBox="1"/>
          <p:nvPr/>
        </p:nvSpPr>
        <p:spPr>
          <a:xfrm>
            <a:off x="7800476" y="4803340"/>
            <a:ext cx="474810" cy="300082"/>
          </a:xfrm>
          <a:prstGeom prst="rect">
            <a:avLst/>
          </a:prstGeom>
          <a:noFill/>
        </p:spPr>
        <p:txBody>
          <a:bodyPr wrap="none" rtlCol="0">
            <a:spAutoFit/>
          </a:bodyPr>
          <a:lstStyle/>
          <a:p>
            <a:r>
              <a:rPr lang="en-US" sz="1350" dirty="0"/>
              <a:t>Line</a:t>
            </a:r>
          </a:p>
        </p:txBody>
      </p:sp>
      <p:sp>
        <p:nvSpPr>
          <p:cNvPr id="10" name="Oval 9"/>
          <p:cNvSpPr/>
          <p:nvPr/>
        </p:nvSpPr>
        <p:spPr>
          <a:xfrm>
            <a:off x="1726195" y="4386789"/>
            <a:ext cx="290147" cy="290147"/>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2" name="TextBox 11"/>
          <p:cNvSpPr txBox="1"/>
          <p:nvPr/>
        </p:nvSpPr>
        <p:spPr>
          <a:xfrm>
            <a:off x="1305200" y="4042168"/>
            <a:ext cx="1178721" cy="300082"/>
          </a:xfrm>
          <a:prstGeom prst="rect">
            <a:avLst/>
          </a:prstGeom>
          <a:noFill/>
        </p:spPr>
        <p:txBody>
          <a:bodyPr wrap="none" rtlCol="0">
            <a:spAutoFit/>
          </a:bodyPr>
          <a:lstStyle/>
          <a:p>
            <a:r>
              <a:rPr lang="en-US" sz="1350" dirty="0"/>
              <a:t>Reading = 100</a:t>
            </a:r>
          </a:p>
        </p:txBody>
      </p:sp>
      <p:sp>
        <p:nvSpPr>
          <p:cNvPr id="13" name="Oval 12"/>
          <p:cNvSpPr/>
          <p:nvPr/>
        </p:nvSpPr>
        <p:spPr>
          <a:xfrm>
            <a:off x="2644990" y="4785789"/>
            <a:ext cx="290147" cy="290147"/>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4" name="TextBox 13"/>
          <p:cNvSpPr txBox="1"/>
          <p:nvPr/>
        </p:nvSpPr>
        <p:spPr>
          <a:xfrm>
            <a:off x="2223996" y="4441168"/>
            <a:ext cx="1002390" cy="300082"/>
          </a:xfrm>
          <a:prstGeom prst="rect">
            <a:avLst/>
          </a:prstGeom>
          <a:noFill/>
        </p:spPr>
        <p:txBody>
          <a:bodyPr wrap="none" rtlCol="0">
            <a:spAutoFit/>
          </a:bodyPr>
          <a:lstStyle/>
          <a:p>
            <a:r>
              <a:rPr lang="en-US" sz="1350" dirty="0"/>
              <a:t>Reading = 0</a:t>
            </a:r>
          </a:p>
        </p:txBody>
      </p:sp>
      <p:sp>
        <p:nvSpPr>
          <p:cNvPr id="15" name="Oval 14"/>
          <p:cNvSpPr/>
          <p:nvPr/>
        </p:nvSpPr>
        <p:spPr>
          <a:xfrm>
            <a:off x="3640330" y="4607746"/>
            <a:ext cx="290147" cy="290147"/>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6" name="TextBox 15"/>
          <p:cNvSpPr txBox="1"/>
          <p:nvPr/>
        </p:nvSpPr>
        <p:spPr>
          <a:xfrm>
            <a:off x="3219336" y="4263124"/>
            <a:ext cx="1090555" cy="300082"/>
          </a:xfrm>
          <a:prstGeom prst="rect">
            <a:avLst/>
          </a:prstGeom>
          <a:noFill/>
        </p:spPr>
        <p:txBody>
          <a:bodyPr wrap="none" rtlCol="0">
            <a:spAutoFit/>
          </a:bodyPr>
          <a:lstStyle/>
          <a:p>
            <a:r>
              <a:rPr lang="en-US" sz="1350" dirty="0"/>
              <a:t>Reading = 50</a:t>
            </a:r>
          </a:p>
        </p:txBody>
      </p:sp>
      <p:sp>
        <p:nvSpPr>
          <p:cNvPr id="17" name="Oval 16"/>
          <p:cNvSpPr/>
          <p:nvPr/>
        </p:nvSpPr>
        <p:spPr>
          <a:xfrm>
            <a:off x="4708204" y="4683529"/>
            <a:ext cx="290147" cy="290147"/>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8" name="TextBox 17"/>
          <p:cNvSpPr txBox="1"/>
          <p:nvPr/>
        </p:nvSpPr>
        <p:spPr>
          <a:xfrm>
            <a:off x="4287210" y="4338908"/>
            <a:ext cx="1090555" cy="300082"/>
          </a:xfrm>
          <a:prstGeom prst="rect">
            <a:avLst/>
          </a:prstGeom>
          <a:noFill/>
        </p:spPr>
        <p:txBody>
          <a:bodyPr wrap="none" rtlCol="0">
            <a:spAutoFit/>
          </a:bodyPr>
          <a:lstStyle/>
          <a:p>
            <a:r>
              <a:rPr lang="en-US" sz="1350" dirty="0"/>
              <a:t>Reading = 25</a:t>
            </a:r>
          </a:p>
        </p:txBody>
      </p:sp>
      <p:sp>
        <p:nvSpPr>
          <p:cNvPr id="19" name="Oval 18"/>
          <p:cNvSpPr/>
          <p:nvPr/>
        </p:nvSpPr>
        <p:spPr>
          <a:xfrm>
            <a:off x="5900948" y="4553140"/>
            <a:ext cx="290147" cy="290147"/>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0" name="TextBox 19"/>
          <p:cNvSpPr txBox="1"/>
          <p:nvPr/>
        </p:nvSpPr>
        <p:spPr>
          <a:xfrm>
            <a:off x="5479954" y="4208518"/>
            <a:ext cx="1090555" cy="300082"/>
          </a:xfrm>
          <a:prstGeom prst="rect">
            <a:avLst/>
          </a:prstGeom>
          <a:noFill/>
        </p:spPr>
        <p:txBody>
          <a:bodyPr wrap="none" rtlCol="0">
            <a:spAutoFit/>
          </a:bodyPr>
          <a:lstStyle/>
          <a:p>
            <a:r>
              <a:rPr lang="en-US" sz="1350" dirty="0"/>
              <a:t>Reading = 75</a:t>
            </a:r>
          </a:p>
        </p:txBody>
      </p:sp>
    </p:spTree>
    <p:extLst>
      <p:ext uri="{BB962C8B-B14F-4D97-AF65-F5344CB8AC3E}">
        <p14:creationId xmlns:p14="http://schemas.microsoft.com/office/powerpoint/2010/main" val="221080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Computing an error </a:t>
            </a:r>
            <a:r>
              <a:rPr lang="en-US" dirty="0">
                <a:sym typeface="Wingdings"/>
              </a:rPr>
              <a:t> how far is the robot from a target</a:t>
            </a:r>
          </a:p>
          <a:p>
            <a:pPr lvl="1"/>
            <a:r>
              <a:rPr lang="en-US" dirty="0">
                <a:sym typeface="Wingdings"/>
              </a:rPr>
              <a:t>Robots follow the edge of line </a:t>
            </a:r>
            <a:r>
              <a:rPr lang="en-US" dirty="0">
                <a:sym typeface="Wingdings" panose="05000000000000000000" pitchFamily="2" charset="2"/>
              </a:rPr>
              <a:t> target should be a sensor reading of 50</a:t>
            </a:r>
          </a:p>
          <a:p>
            <a:pPr lvl="2"/>
            <a:r>
              <a:rPr lang="en-US" dirty="0">
                <a:sym typeface="Wingdings" panose="05000000000000000000" pitchFamily="2" charset="2"/>
              </a:rPr>
              <a:t>We actually calibrate and take the average between black/white values</a:t>
            </a:r>
          </a:p>
          <a:p>
            <a:pPr lvl="1"/>
            <a:r>
              <a:rPr lang="en-US" dirty="0">
                <a:sym typeface="Wingdings"/>
              </a:rPr>
              <a:t>Error should indicate how far the sensor’s value is from a reading of 50</a:t>
            </a:r>
          </a:p>
          <a:p>
            <a:r>
              <a:rPr lang="en-US" b="1" dirty="0">
                <a:sym typeface="Wingdings"/>
              </a:rPr>
              <a:t>Making a correction </a:t>
            </a:r>
            <a:r>
              <a:rPr lang="en-US" dirty="0">
                <a:sym typeface="Wingdings"/>
              </a:rPr>
              <a:t> The robot should control the wheel speed to make up for this mistake</a:t>
            </a:r>
          </a:p>
        </p:txBody>
      </p:sp>
      <p:sp>
        <p:nvSpPr>
          <p:cNvPr id="2" name="Title 1"/>
          <p:cNvSpPr>
            <a:spLocks noGrp="1"/>
          </p:cNvSpPr>
          <p:nvPr>
            <p:ph type="title"/>
          </p:nvPr>
        </p:nvSpPr>
        <p:spPr/>
        <p:txBody>
          <a:bodyPr/>
          <a:lstStyle/>
          <a:p>
            <a:r>
              <a:rPr lang="en-US" dirty="0"/>
              <a:t>Line-Following &amp; Error Correction</a:t>
            </a:r>
          </a:p>
        </p:txBody>
      </p:sp>
    </p:spTree>
    <p:extLst>
      <p:ext uri="{BB962C8B-B14F-4D97-AF65-F5344CB8AC3E}">
        <p14:creationId xmlns:p14="http://schemas.microsoft.com/office/powerpoint/2010/main" val="145179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2F9728-FCB4-4795-9D9A-A6FCCC66976D}"/>
              </a:ext>
            </a:extLst>
          </p:cNvPr>
          <p:cNvSpPr>
            <a:spLocks noGrp="1"/>
          </p:cNvSpPr>
          <p:nvPr>
            <p:ph idx="1"/>
          </p:nvPr>
        </p:nvSpPr>
        <p:spPr/>
        <p:txBody>
          <a:bodyPr/>
          <a:lstStyle/>
          <a:p>
            <a:r>
              <a:rPr lang="en-JP" dirty="0"/>
              <a:t>Simplest solution: 2-level &amp; 3-level line follower</a:t>
            </a:r>
          </a:p>
          <a:p>
            <a:pPr lvl="1"/>
            <a:endParaRPr lang="en-JP" dirty="0"/>
          </a:p>
          <a:p>
            <a:pPr lvl="1"/>
            <a:endParaRPr lang="en-JP" dirty="0"/>
          </a:p>
          <a:p>
            <a:pPr lvl="1"/>
            <a:endParaRPr lang="en-JP" dirty="0"/>
          </a:p>
          <a:p>
            <a:pPr lvl="1"/>
            <a:endParaRPr lang="en-JP" dirty="0"/>
          </a:p>
          <a:p>
            <a:pPr lvl="1"/>
            <a:endParaRPr lang="en-JP" dirty="0"/>
          </a:p>
          <a:p>
            <a:pPr lvl="1"/>
            <a:endParaRPr lang="en-JP" dirty="0"/>
          </a:p>
          <a:p>
            <a:pPr lvl="1"/>
            <a:r>
              <a:rPr lang="en-JP" dirty="0"/>
              <a:t>If-else based strategy</a:t>
            </a:r>
          </a:p>
          <a:p>
            <a:pPr lvl="1"/>
            <a:r>
              <a:rPr lang="en-JP" dirty="0"/>
              <a:t>Let’s implement these control strategies as a baseline!</a:t>
            </a:r>
          </a:p>
        </p:txBody>
      </p:sp>
      <p:sp>
        <p:nvSpPr>
          <p:cNvPr id="4" name="Title 3">
            <a:extLst>
              <a:ext uri="{FF2B5EF4-FFF2-40B4-BE49-F238E27FC236}">
                <a16:creationId xmlns:a16="http://schemas.microsoft.com/office/drawing/2014/main" id="{5A3D2121-10B5-3930-B898-B6ADA48735C4}"/>
              </a:ext>
            </a:extLst>
          </p:cNvPr>
          <p:cNvSpPr>
            <a:spLocks noGrp="1"/>
          </p:cNvSpPr>
          <p:nvPr>
            <p:ph type="title"/>
          </p:nvPr>
        </p:nvSpPr>
        <p:spPr/>
        <p:txBody>
          <a:bodyPr/>
          <a:lstStyle/>
          <a:p>
            <a:r>
              <a:rPr lang="en-JP" dirty="0"/>
              <a:t>What are some simple strategies?</a:t>
            </a:r>
          </a:p>
        </p:txBody>
      </p:sp>
      <p:pic>
        <p:nvPicPr>
          <p:cNvPr id="21" name="Picture 20">
            <a:extLst>
              <a:ext uri="{FF2B5EF4-FFF2-40B4-BE49-F238E27FC236}">
                <a16:creationId xmlns:a16="http://schemas.microsoft.com/office/drawing/2014/main" id="{3EB29AB8-50B2-D7CA-EC81-23063D11305A}"/>
              </a:ext>
            </a:extLst>
          </p:cNvPr>
          <p:cNvPicPr>
            <a:picLocks noChangeAspect="1"/>
          </p:cNvPicPr>
          <p:nvPr/>
        </p:nvPicPr>
        <p:blipFill>
          <a:blip r:embed="rId2"/>
          <a:srcRect r="32906"/>
          <a:stretch/>
        </p:blipFill>
        <p:spPr>
          <a:xfrm>
            <a:off x="2040483" y="2457894"/>
            <a:ext cx="5061446" cy="2120900"/>
          </a:xfrm>
          <a:prstGeom prst="rect">
            <a:avLst/>
          </a:prstGeom>
        </p:spPr>
      </p:pic>
    </p:spTree>
    <p:extLst>
      <p:ext uri="{BB962C8B-B14F-4D97-AF65-F5344CB8AC3E}">
        <p14:creationId xmlns:p14="http://schemas.microsoft.com/office/powerpoint/2010/main" val="1235574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B81712-CCFE-E91A-966D-46D9590BDF02}"/>
              </a:ext>
            </a:extLst>
          </p:cNvPr>
          <p:cNvSpPr>
            <a:spLocks noGrp="1"/>
          </p:cNvSpPr>
          <p:nvPr>
            <p:ph idx="1"/>
          </p:nvPr>
        </p:nvSpPr>
        <p:spPr>
          <a:xfrm>
            <a:off x="284164" y="1818870"/>
            <a:ext cx="4015334" cy="4307294"/>
          </a:xfrm>
        </p:spPr>
        <p:txBody>
          <a:bodyPr/>
          <a:lstStyle/>
          <a:p>
            <a:r>
              <a:rPr lang="en-JP" dirty="0"/>
              <a:t>Follow these steps to create a new project</a:t>
            </a:r>
          </a:p>
          <a:p>
            <a:endParaRPr lang="en-JP" dirty="0"/>
          </a:p>
          <a:p>
            <a:endParaRPr lang="en-JP" dirty="0"/>
          </a:p>
          <a:p>
            <a:r>
              <a:rPr lang="en-JP" dirty="0"/>
              <a:t>After created, we’ll be writing our code in the main.py file, that can be found in the file explorer.</a:t>
            </a:r>
          </a:p>
        </p:txBody>
      </p:sp>
      <p:sp>
        <p:nvSpPr>
          <p:cNvPr id="4" name="Title 3">
            <a:extLst>
              <a:ext uri="{FF2B5EF4-FFF2-40B4-BE49-F238E27FC236}">
                <a16:creationId xmlns:a16="http://schemas.microsoft.com/office/drawing/2014/main" id="{E88FD461-6068-37AF-16BB-B9AFA1361B20}"/>
              </a:ext>
            </a:extLst>
          </p:cNvPr>
          <p:cNvSpPr>
            <a:spLocks noGrp="1"/>
          </p:cNvSpPr>
          <p:nvPr>
            <p:ph type="title"/>
          </p:nvPr>
        </p:nvSpPr>
        <p:spPr/>
        <p:txBody>
          <a:bodyPr/>
          <a:lstStyle/>
          <a:p>
            <a:r>
              <a:rPr lang="en-JP" dirty="0"/>
              <a:t>Creating our EV3 Project</a:t>
            </a:r>
          </a:p>
        </p:txBody>
      </p:sp>
      <p:pic>
        <p:nvPicPr>
          <p:cNvPr id="7" name="Picture 6">
            <a:extLst>
              <a:ext uri="{FF2B5EF4-FFF2-40B4-BE49-F238E27FC236}">
                <a16:creationId xmlns:a16="http://schemas.microsoft.com/office/drawing/2014/main" id="{9CD1FD3A-6600-317E-A7D6-6B894DE78582}"/>
              </a:ext>
            </a:extLst>
          </p:cNvPr>
          <p:cNvPicPr>
            <a:picLocks noChangeAspect="1"/>
          </p:cNvPicPr>
          <p:nvPr/>
        </p:nvPicPr>
        <p:blipFill>
          <a:blip r:embed="rId2"/>
          <a:stretch>
            <a:fillRect/>
          </a:stretch>
        </p:blipFill>
        <p:spPr>
          <a:xfrm>
            <a:off x="4572000" y="1703562"/>
            <a:ext cx="4484244" cy="1725438"/>
          </a:xfrm>
          <a:prstGeom prst="rect">
            <a:avLst/>
          </a:prstGeom>
        </p:spPr>
      </p:pic>
      <p:pic>
        <p:nvPicPr>
          <p:cNvPr id="8" name="Picture 7">
            <a:extLst>
              <a:ext uri="{FF2B5EF4-FFF2-40B4-BE49-F238E27FC236}">
                <a16:creationId xmlns:a16="http://schemas.microsoft.com/office/drawing/2014/main" id="{15C2611C-595B-ED9C-BC1F-68B629DD9942}"/>
              </a:ext>
            </a:extLst>
          </p:cNvPr>
          <p:cNvPicPr>
            <a:picLocks noChangeAspect="1"/>
          </p:cNvPicPr>
          <p:nvPr/>
        </p:nvPicPr>
        <p:blipFill>
          <a:blip r:embed="rId3"/>
          <a:stretch>
            <a:fillRect/>
          </a:stretch>
        </p:blipFill>
        <p:spPr>
          <a:xfrm>
            <a:off x="4572000" y="3999846"/>
            <a:ext cx="4484244" cy="2126318"/>
          </a:xfrm>
          <a:prstGeom prst="rect">
            <a:avLst/>
          </a:prstGeom>
        </p:spPr>
      </p:pic>
    </p:spTree>
    <p:extLst>
      <p:ext uri="{BB962C8B-B14F-4D97-AF65-F5344CB8AC3E}">
        <p14:creationId xmlns:p14="http://schemas.microsoft.com/office/powerpoint/2010/main" val="131214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8819FE-E347-7FF9-24B5-E0D6BE301761}"/>
              </a:ext>
            </a:extLst>
          </p:cNvPr>
          <p:cNvSpPr>
            <a:spLocks noGrp="1"/>
          </p:cNvSpPr>
          <p:nvPr>
            <p:ph idx="1"/>
          </p:nvPr>
        </p:nvSpPr>
        <p:spPr>
          <a:xfrm>
            <a:off x="284163" y="1818870"/>
            <a:ext cx="4705675" cy="4739376"/>
          </a:xfrm>
        </p:spPr>
        <p:txBody>
          <a:bodyPr>
            <a:normAutofit/>
          </a:bodyPr>
          <a:lstStyle/>
          <a:p>
            <a:r>
              <a:rPr lang="en-JP" dirty="0"/>
              <a:t>To connect the EV3, follow these steps →</a:t>
            </a:r>
          </a:p>
          <a:p>
            <a:endParaRPr lang="en-JP" dirty="0"/>
          </a:p>
          <a:p>
            <a:endParaRPr lang="en-JP" dirty="0"/>
          </a:p>
          <a:p>
            <a:r>
              <a:rPr lang="en-JP" dirty="0"/>
              <a:t>To run your program, follow this steps after connecting with your robot →</a:t>
            </a:r>
          </a:p>
          <a:p>
            <a:r>
              <a:rPr lang="en-US" dirty="0"/>
              <a:t>L</a:t>
            </a:r>
            <a:r>
              <a:rPr lang="en-JP" dirty="0"/>
              <a:t>et’s try executing the sample program!</a:t>
            </a:r>
          </a:p>
        </p:txBody>
      </p:sp>
      <p:sp>
        <p:nvSpPr>
          <p:cNvPr id="4" name="Title 3">
            <a:extLst>
              <a:ext uri="{FF2B5EF4-FFF2-40B4-BE49-F238E27FC236}">
                <a16:creationId xmlns:a16="http://schemas.microsoft.com/office/drawing/2014/main" id="{7F6D7EFF-636A-631F-6C20-F45E59311A91}"/>
              </a:ext>
            </a:extLst>
          </p:cNvPr>
          <p:cNvSpPr>
            <a:spLocks noGrp="1"/>
          </p:cNvSpPr>
          <p:nvPr>
            <p:ph type="title"/>
          </p:nvPr>
        </p:nvSpPr>
        <p:spPr/>
        <p:txBody>
          <a:bodyPr/>
          <a:lstStyle/>
          <a:p>
            <a:r>
              <a:rPr lang="en-JP" dirty="0"/>
              <a:t>Connecting and executing our program</a:t>
            </a:r>
          </a:p>
        </p:txBody>
      </p:sp>
      <p:pic>
        <p:nvPicPr>
          <p:cNvPr id="5" name="Picture 4">
            <a:extLst>
              <a:ext uri="{FF2B5EF4-FFF2-40B4-BE49-F238E27FC236}">
                <a16:creationId xmlns:a16="http://schemas.microsoft.com/office/drawing/2014/main" id="{E4F32571-7F9E-1A7B-C7F8-C8CD9A311FE1}"/>
              </a:ext>
            </a:extLst>
          </p:cNvPr>
          <p:cNvPicPr>
            <a:picLocks noChangeAspect="1"/>
          </p:cNvPicPr>
          <p:nvPr/>
        </p:nvPicPr>
        <p:blipFill>
          <a:blip r:embed="rId2"/>
          <a:stretch>
            <a:fillRect/>
          </a:stretch>
        </p:blipFill>
        <p:spPr>
          <a:xfrm>
            <a:off x="5252219" y="1818870"/>
            <a:ext cx="3787321" cy="1855545"/>
          </a:xfrm>
          <a:prstGeom prst="rect">
            <a:avLst/>
          </a:prstGeom>
        </p:spPr>
      </p:pic>
      <p:pic>
        <p:nvPicPr>
          <p:cNvPr id="6" name="Picture 5">
            <a:extLst>
              <a:ext uri="{FF2B5EF4-FFF2-40B4-BE49-F238E27FC236}">
                <a16:creationId xmlns:a16="http://schemas.microsoft.com/office/drawing/2014/main" id="{DEB39172-7532-F4F3-6A17-0A669204B007}"/>
              </a:ext>
            </a:extLst>
          </p:cNvPr>
          <p:cNvPicPr>
            <a:picLocks noChangeAspect="1"/>
          </p:cNvPicPr>
          <p:nvPr/>
        </p:nvPicPr>
        <p:blipFill>
          <a:blip r:embed="rId3"/>
          <a:stretch>
            <a:fillRect/>
          </a:stretch>
        </p:blipFill>
        <p:spPr>
          <a:xfrm>
            <a:off x="5245876" y="4304565"/>
            <a:ext cx="3793663" cy="2172328"/>
          </a:xfrm>
          <a:prstGeom prst="rect">
            <a:avLst/>
          </a:prstGeom>
        </p:spPr>
      </p:pic>
    </p:spTree>
    <p:extLst>
      <p:ext uri="{BB962C8B-B14F-4D97-AF65-F5344CB8AC3E}">
        <p14:creationId xmlns:p14="http://schemas.microsoft.com/office/powerpoint/2010/main" val="1243919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CA086A-7126-B094-340E-E0734DFF53E8}"/>
              </a:ext>
            </a:extLst>
          </p:cNvPr>
          <p:cNvSpPr>
            <a:spLocks noGrp="1"/>
          </p:cNvSpPr>
          <p:nvPr>
            <p:ph idx="1"/>
          </p:nvPr>
        </p:nvSpPr>
        <p:spPr>
          <a:xfrm>
            <a:off x="284163" y="1818870"/>
            <a:ext cx="8574087" cy="4751488"/>
          </a:xfrm>
        </p:spPr>
        <p:txBody>
          <a:bodyPr>
            <a:normAutofit lnSpcReduction="10000"/>
          </a:bodyPr>
          <a:lstStyle/>
          <a:p>
            <a:r>
              <a:rPr lang="en-JP" dirty="0"/>
              <a:t>We’ll create a 2-level line-follower</a:t>
            </a:r>
          </a:p>
          <a:p>
            <a:r>
              <a:rPr lang="en-JP" dirty="0"/>
              <a:t>First step: go to Github repository </a:t>
            </a:r>
            <a:r>
              <a:rPr lang="en-US" dirty="0">
                <a:hlinkClick r:id="rId2"/>
              </a:rPr>
              <a:t>https://github.com/smartrobotsdesignlab/ev3_linefollower</a:t>
            </a:r>
            <a:r>
              <a:rPr lang="en-US" dirty="0"/>
              <a:t> and copy the contents of the </a:t>
            </a:r>
            <a:r>
              <a:rPr lang="en-US" dirty="0" err="1"/>
              <a:t>main_base.py</a:t>
            </a:r>
            <a:r>
              <a:rPr lang="en-US" dirty="0"/>
              <a:t> file into your </a:t>
            </a:r>
            <a:r>
              <a:rPr lang="en-US" dirty="0" err="1"/>
              <a:t>main.py</a:t>
            </a:r>
            <a:r>
              <a:rPr lang="en-US" dirty="0"/>
              <a:t> file</a:t>
            </a:r>
          </a:p>
          <a:p>
            <a:r>
              <a:rPr lang="en-US" dirty="0"/>
              <a:t>Verify that both motors move</a:t>
            </a:r>
          </a:p>
          <a:p>
            <a:pPr lvl="1"/>
            <a:r>
              <a:rPr lang="en-US" dirty="0"/>
              <a:t>Back button to stop the program</a:t>
            </a:r>
          </a:p>
          <a:p>
            <a:r>
              <a:rPr lang="en-US" dirty="0"/>
              <a:t>Implement the 2-level line follower:</a:t>
            </a:r>
          </a:p>
          <a:p>
            <a:pPr lvl="1"/>
            <a:r>
              <a:rPr lang="en-US" dirty="0"/>
              <a:t>Pseudo-code: </a:t>
            </a:r>
          </a:p>
          <a:p>
            <a:pPr lvl="2"/>
            <a:r>
              <a:rPr lang="en-US" dirty="0"/>
              <a:t>if measurement &lt;= threshold turn right (drive left motor), else turn left (drive right motor)</a:t>
            </a:r>
            <a:endParaRPr lang="en-JP" dirty="0"/>
          </a:p>
        </p:txBody>
      </p:sp>
      <p:sp>
        <p:nvSpPr>
          <p:cNvPr id="4" name="Title 3">
            <a:extLst>
              <a:ext uri="{FF2B5EF4-FFF2-40B4-BE49-F238E27FC236}">
                <a16:creationId xmlns:a16="http://schemas.microsoft.com/office/drawing/2014/main" id="{9C82BFF4-A08E-4A84-AA7E-88AAFD4AE70A}"/>
              </a:ext>
            </a:extLst>
          </p:cNvPr>
          <p:cNvSpPr>
            <a:spLocks noGrp="1"/>
          </p:cNvSpPr>
          <p:nvPr>
            <p:ph type="title"/>
          </p:nvPr>
        </p:nvSpPr>
        <p:spPr/>
        <p:txBody>
          <a:bodyPr/>
          <a:lstStyle/>
          <a:p>
            <a:r>
              <a:rPr lang="en-JP" dirty="0"/>
              <a:t>Create 2-level line-follower</a:t>
            </a:r>
          </a:p>
        </p:txBody>
      </p:sp>
    </p:spTree>
    <p:extLst>
      <p:ext uri="{BB962C8B-B14F-4D97-AF65-F5344CB8AC3E}">
        <p14:creationId xmlns:p14="http://schemas.microsoft.com/office/powerpoint/2010/main" val="3391120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94C7FC-513C-AFCB-5C6B-451453235BE8}"/>
              </a:ext>
            </a:extLst>
          </p:cNvPr>
          <p:cNvSpPr>
            <a:spLocks noGrp="1"/>
          </p:cNvSpPr>
          <p:nvPr>
            <p:ph idx="1"/>
          </p:nvPr>
        </p:nvSpPr>
        <p:spPr>
          <a:xfrm>
            <a:off x="284164" y="1818870"/>
            <a:ext cx="4735954" cy="4307294"/>
          </a:xfrm>
        </p:spPr>
        <p:txBody>
          <a:bodyPr/>
          <a:lstStyle/>
          <a:p>
            <a:r>
              <a:rPr lang="en-JP" dirty="0"/>
              <a:t>It can be implemented with a simple if-else statement:</a:t>
            </a:r>
          </a:p>
          <a:p>
            <a:r>
              <a:rPr lang="en-JP" dirty="0"/>
              <a:t>It works OK, but as expected it oscillates</a:t>
            </a:r>
          </a:p>
          <a:p>
            <a:r>
              <a:rPr lang="en-JP" dirty="0"/>
              <a:t>Can you turn it into a 3-level line follower? </a:t>
            </a:r>
          </a:p>
        </p:txBody>
      </p:sp>
      <p:sp>
        <p:nvSpPr>
          <p:cNvPr id="4" name="Title 3">
            <a:extLst>
              <a:ext uri="{FF2B5EF4-FFF2-40B4-BE49-F238E27FC236}">
                <a16:creationId xmlns:a16="http://schemas.microsoft.com/office/drawing/2014/main" id="{9E86935A-D6E6-034C-C559-D240F0BDFB54}"/>
              </a:ext>
            </a:extLst>
          </p:cNvPr>
          <p:cNvSpPr>
            <a:spLocks noGrp="1"/>
          </p:cNvSpPr>
          <p:nvPr>
            <p:ph type="title"/>
          </p:nvPr>
        </p:nvSpPr>
        <p:spPr/>
        <p:txBody>
          <a:bodyPr/>
          <a:lstStyle/>
          <a:p>
            <a:r>
              <a:rPr lang="en-JP" dirty="0"/>
              <a:t>2-Level &amp; 3-Level Solution</a:t>
            </a:r>
          </a:p>
        </p:txBody>
      </p:sp>
      <p:pic>
        <p:nvPicPr>
          <p:cNvPr id="5" name="Picture 4">
            <a:extLst>
              <a:ext uri="{FF2B5EF4-FFF2-40B4-BE49-F238E27FC236}">
                <a16:creationId xmlns:a16="http://schemas.microsoft.com/office/drawing/2014/main" id="{13C6D23E-D794-05A7-86B7-005AA8E9C0FB}"/>
              </a:ext>
            </a:extLst>
          </p:cNvPr>
          <p:cNvPicPr>
            <a:picLocks noChangeAspect="1"/>
          </p:cNvPicPr>
          <p:nvPr/>
        </p:nvPicPr>
        <p:blipFill>
          <a:blip r:embed="rId2"/>
          <a:stretch>
            <a:fillRect/>
          </a:stretch>
        </p:blipFill>
        <p:spPr>
          <a:xfrm>
            <a:off x="5298297" y="1609643"/>
            <a:ext cx="3561539" cy="2200795"/>
          </a:xfrm>
          <a:prstGeom prst="rect">
            <a:avLst/>
          </a:prstGeom>
        </p:spPr>
      </p:pic>
      <p:pic>
        <p:nvPicPr>
          <p:cNvPr id="7" name="Picture 6">
            <a:extLst>
              <a:ext uri="{FF2B5EF4-FFF2-40B4-BE49-F238E27FC236}">
                <a16:creationId xmlns:a16="http://schemas.microsoft.com/office/drawing/2014/main" id="{1C61B767-B1AA-2E19-12A5-C6D1562F1FBE}"/>
              </a:ext>
            </a:extLst>
          </p:cNvPr>
          <p:cNvPicPr>
            <a:picLocks noChangeAspect="1"/>
          </p:cNvPicPr>
          <p:nvPr/>
        </p:nvPicPr>
        <p:blipFill>
          <a:blip r:embed="rId3"/>
          <a:stretch>
            <a:fillRect/>
          </a:stretch>
        </p:blipFill>
        <p:spPr>
          <a:xfrm>
            <a:off x="5285119" y="4045193"/>
            <a:ext cx="3574717" cy="2406327"/>
          </a:xfrm>
          <a:prstGeom prst="rect">
            <a:avLst/>
          </a:prstGeom>
        </p:spPr>
      </p:pic>
    </p:spTree>
    <p:extLst>
      <p:ext uri="{BB962C8B-B14F-4D97-AF65-F5344CB8AC3E}">
        <p14:creationId xmlns:p14="http://schemas.microsoft.com/office/powerpoint/2010/main" val="3871304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B917A-FE24-395C-D732-5A57E35FCF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386C72-13A8-0450-7EDD-B4746A78ABFB}"/>
              </a:ext>
            </a:extLst>
          </p:cNvPr>
          <p:cNvSpPr>
            <a:spLocks noGrp="1"/>
          </p:cNvSpPr>
          <p:nvPr>
            <p:ph idx="1"/>
          </p:nvPr>
        </p:nvSpPr>
        <p:spPr>
          <a:xfrm>
            <a:off x="284164" y="1818869"/>
            <a:ext cx="5968356" cy="4736389"/>
          </a:xfrm>
        </p:spPr>
        <p:txBody>
          <a:bodyPr>
            <a:normAutofit lnSpcReduction="10000"/>
          </a:bodyPr>
          <a:lstStyle/>
          <a:p>
            <a:r>
              <a:rPr lang="en-JP" dirty="0"/>
              <a:t>To have a smoother motion, we could adjust the speed depending on how far the measurement is from the threshold</a:t>
            </a:r>
          </a:p>
          <a:p>
            <a:pPr lvl="1"/>
            <a:r>
              <a:rPr lang="en-US" dirty="0"/>
              <a:t>F</a:t>
            </a:r>
            <a:r>
              <a:rPr lang="en-JP" dirty="0"/>
              <a:t>urther from threshold, stronger correction</a:t>
            </a:r>
          </a:p>
          <a:p>
            <a:pPr lvl="1"/>
            <a:r>
              <a:rPr lang="en-JP" dirty="0"/>
              <a:t>Closer to threshold, smaller correction</a:t>
            </a:r>
          </a:p>
          <a:p>
            <a:r>
              <a:rPr lang="en-JP" dirty="0"/>
              <a:t>We could just adjust the speed proportionally to this difference</a:t>
            </a:r>
          </a:p>
          <a:p>
            <a:pPr lvl="1"/>
            <a:r>
              <a:rPr lang="en-JP" b="1" dirty="0"/>
              <a:t>Proportional control </a:t>
            </a:r>
            <a:r>
              <a:rPr lang="en-US" dirty="0">
                <a:sym typeface="Wingdings"/>
              </a:rPr>
              <a:t> make the robot take an action that is proportional to the error.  You must multiply the error by a scaling factor to determine the correction.</a:t>
            </a:r>
          </a:p>
        </p:txBody>
      </p:sp>
      <p:sp>
        <p:nvSpPr>
          <p:cNvPr id="4" name="Title 3">
            <a:extLst>
              <a:ext uri="{FF2B5EF4-FFF2-40B4-BE49-F238E27FC236}">
                <a16:creationId xmlns:a16="http://schemas.microsoft.com/office/drawing/2014/main" id="{87464BEF-81B5-9657-00AF-A5DA8112692F}"/>
              </a:ext>
            </a:extLst>
          </p:cNvPr>
          <p:cNvSpPr>
            <a:spLocks noGrp="1"/>
          </p:cNvSpPr>
          <p:nvPr>
            <p:ph type="title"/>
          </p:nvPr>
        </p:nvSpPr>
        <p:spPr/>
        <p:txBody>
          <a:bodyPr/>
          <a:lstStyle/>
          <a:p>
            <a:r>
              <a:rPr lang="en-JP" dirty="0"/>
              <a:t>What if we want a smoother motion?</a:t>
            </a:r>
          </a:p>
        </p:txBody>
      </p:sp>
      <p:pic>
        <p:nvPicPr>
          <p:cNvPr id="21" name="Picture 20">
            <a:extLst>
              <a:ext uri="{FF2B5EF4-FFF2-40B4-BE49-F238E27FC236}">
                <a16:creationId xmlns:a16="http://schemas.microsoft.com/office/drawing/2014/main" id="{04860659-96CC-D9C2-6272-145373F29631}"/>
              </a:ext>
            </a:extLst>
          </p:cNvPr>
          <p:cNvPicPr>
            <a:picLocks noChangeAspect="1"/>
          </p:cNvPicPr>
          <p:nvPr/>
        </p:nvPicPr>
        <p:blipFill>
          <a:blip r:embed="rId2"/>
          <a:srcRect l="67865"/>
          <a:stretch/>
        </p:blipFill>
        <p:spPr>
          <a:xfrm>
            <a:off x="6252520" y="2912067"/>
            <a:ext cx="2424219" cy="2120900"/>
          </a:xfrm>
          <a:prstGeom prst="rect">
            <a:avLst/>
          </a:prstGeom>
        </p:spPr>
      </p:pic>
    </p:spTree>
    <p:extLst>
      <p:ext uri="{BB962C8B-B14F-4D97-AF65-F5344CB8AC3E}">
        <p14:creationId xmlns:p14="http://schemas.microsoft.com/office/powerpoint/2010/main" val="3835827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2DC8A2-F062-7CED-25D2-A3B5C78DB7A1}"/>
              </a:ext>
            </a:extLst>
          </p:cNvPr>
          <p:cNvSpPr>
            <a:spLocks noGrp="1"/>
          </p:cNvSpPr>
          <p:nvPr>
            <p:ph idx="1"/>
          </p:nvPr>
        </p:nvSpPr>
        <p:spPr>
          <a:xfrm>
            <a:off x="284164" y="1818869"/>
            <a:ext cx="4738858" cy="4699319"/>
          </a:xfrm>
        </p:spPr>
        <p:txBody>
          <a:bodyPr>
            <a:normAutofit lnSpcReduction="10000"/>
          </a:bodyPr>
          <a:lstStyle/>
          <a:p>
            <a:r>
              <a:rPr lang="en-JP" dirty="0"/>
              <a:t>We need to actually measure the values for black and white</a:t>
            </a:r>
          </a:p>
          <a:p>
            <a:r>
              <a:rPr lang="en-JP" dirty="0"/>
              <a:t>This code will:</a:t>
            </a:r>
          </a:p>
          <a:p>
            <a:pPr lvl="1"/>
            <a:r>
              <a:rPr lang="en-JP" dirty="0"/>
              <a:t>Wait for a button press</a:t>
            </a:r>
          </a:p>
          <a:p>
            <a:pPr lvl="1"/>
            <a:r>
              <a:rPr lang="en-JP" dirty="0"/>
              <a:t>Measure value</a:t>
            </a:r>
          </a:p>
          <a:p>
            <a:pPr lvl="1"/>
            <a:r>
              <a:rPr lang="en-JP" dirty="0"/>
              <a:t>Repeat once</a:t>
            </a:r>
          </a:p>
          <a:p>
            <a:r>
              <a:rPr lang="en-JP" dirty="0"/>
              <a:t>First measurement will be read as white, second one as black</a:t>
            </a:r>
          </a:p>
          <a:p>
            <a:r>
              <a:rPr lang="en-JP" dirty="0"/>
              <a:t>Place the robot on a white space &amp; press button, then on a black space &amp; press button</a:t>
            </a:r>
          </a:p>
        </p:txBody>
      </p:sp>
      <p:sp>
        <p:nvSpPr>
          <p:cNvPr id="4" name="Title 3">
            <a:extLst>
              <a:ext uri="{FF2B5EF4-FFF2-40B4-BE49-F238E27FC236}">
                <a16:creationId xmlns:a16="http://schemas.microsoft.com/office/drawing/2014/main" id="{4617983B-38FD-63F0-8D8A-A108AC3DE718}"/>
              </a:ext>
            </a:extLst>
          </p:cNvPr>
          <p:cNvSpPr>
            <a:spLocks noGrp="1"/>
          </p:cNvSpPr>
          <p:nvPr>
            <p:ph type="title"/>
          </p:nvPr>
        </p:nvSpPr>
        <p:spPr/>
        <p:txBody>
          <a:bodyPr>
            <a:normAutofit/>
          </a:bodyPr>
          <a:lstStyle/>
          <a:p>
            <a:r>
              <a:rPr lang="en-JP" dirty="0"/>
              <a:t>But first! Measuring sensor values</a:t>
            </a:r>
          </a:p>
        </p:txBody>
      </p:sp>
      <p:pic>
        <p:nvPicPr>
          <p:cNvPr id="5" name="Picture 4">
            <a:extLst>
              <a:ext uri="{FF2B5EF4-FFF2-40B4-BE49-F238E27FC236}">
                <a16:creationId xmlns:a16="http://schemas.microsoft.com/office/drawing/2014/main" id="{4FE480E4-FD06-A7C4-0858-1B54FEA90F95}"/>
              </a:ext>
            </a:extLst>
          </p:cNvPr>
          <p:cNvPicPr>
            <a:picLocks noChangeAspect="1"/>
          </p:cNvPicPr>
          <p:nvPr/>
        </p:nvPicPr>
        <p:blipFill>
          <a:blip r:embed="rId2"/>
          <a:stretch>
            <a:fillRect/>
          </a:stretch>
        </p:blipFill>
        <p:spPr>
          <a:xfrm>
            <a:off x="5128054" y="2900028"/>
            <a:ext cx="3880536" cy="2536999"/>
          </a:xfrm>
          <a:prstGeom prst="rect">
            <a:avLst/>
          </a:prstGeom>
        </p:spPr>
      </p:pic>
    </p:spTree>
    <p:extLst>
      <p:ext uri="{BB962C8B-B14F-4D97-AF65-F5344CB8AC3E}">
        <p14:creationId xmlns:p14="http://schemas.microsoft.com/office/powerpoint/2010/main" val="2226330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8730" y="2063313"/>
            <a:ext cx="8245366" cy="3621712"/>
          </a:xfrm>
        </p:spPr>
        <p:txBody>
          <a:bodyPr>
            <a:normAutofit lnSpcReduction="10000"/>
          </a:bodyPr>
          <a:lstStyle/>
          <a:p>
            <a:pPr marL="0" indent="0">
              <a:buNone/>
            </a:pPr>
            <a:r>
              <a:rPr lang="en-US" dirty="0"/>
              <a:t>Pseudocode:</a:t>
            </a:r>
          </a:p>
          <a:p>
            <a:pPr marL="342900" indent="-342900">
              <a:buFont typeface="+mj-lt"/>
              <a:buAutoNum type="arabicPeriod"/>
            </a:pPr>
            <a:r>
              <a:rPr lang="en-US" dirty="0"/>
              <a:t>Compute the error = Distance from line = (Light sensor reading - Target Reading)</a:t>
            </a:r>
          </a:p>
          <a:p>
            <a:pPr marL="342900" indent="-342900">
              <a:buFont typeface="+mj-lt"/>
              <a:buAutoNum type="arabicPeriod"/>
            </a:pPr>
            <a:r>
              <a:rPr lang="en-US" dirty="0"/>
              <a:t>Scale the error to determine a correction amount.  Adjust your scaling factor to make you robot follow the line more smoothly.</a:t>
            </a:r>
          </a:p>
          <a:p>
            <a:pPr marL="342900" indent="-342900">
              <a:buFont typeface="+mj-lt"/>
              <a:buAutoNum type="arabicPeriod"/>
            </a:pPr>
            <a:r>
              <a:rPr lang="en-US" dirty="0"/>
              <a:t>Use the Correction value (computed in Step 2) to adjust the robot’s turn towards the line.</a:t>
            </a:r>
          </a:p>
        </p:txBody>
      </p:sp>
      <p:sp>
        <p:nvSpPr>
          <p:cNvPr id="2" name="Title 1"/>
          <p:cNvSpPr>
            <a:spLocks noGrp="1"/>
          </p:cNvSpPr>
          <p:nvPr>
            <p:ph type="title"/>
          </p:nvPr>
        </p:nvSpPr>
        <p:spPr/>
        <p:txBody>
          <a:bodyPr>
            <a:normAutofit fontScale="90000"/>
          </a:bodyPr>
          <a:lstStyle/>
          <a:p>
            <a:r>
              <a:rPr lang="en-US" dirty="0"/>
              <a:t>How do you make a Proportional Line Follower?</a:t>
            </a:r>
          </a:p>
        </p:txBody>
      </p:sp>
    </p:spTree>
    <p:extLst>
      <p:ext uri="{BB962C8B-B14F-4D97-AF65-F5344CB8AC3E}">
        <p14:creationId xmlns:p14="http://schemas.microsoft.com/office/powerpoint/2010/main" val="4113610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9E7F00B-108C-B447-EDDA-95BD25B2366D}"/>
              </a:ext>
            </a:extLst>
          </p:cNvPr>
          <p:cNvPicPr>
            <a:picLocks noChangeAspect="1"/>
          </p:cNvPicPr>
          <p:nvPr/>
        </p:nvPicPr>
        <p:blipFill>
          <a:blip r:embed="rId2"/>
          <a:stretch>
            <a:fillRect/>
          </a:stretch>
        </p:blipFill>
        <p:spPr>
          <a:xfrm>
            <a:off x="4572000" y="2477529"/>
            <a:ext cx="3901733" cy="3286075"/>
          </a:xfrm>
          <a:prstGeom prst="rect">
            <a:avLst/>
          </a:prstGeom>
        </p:spPr>
      </p:pic>
      <p:sp>
        <p:nvSpPr>
          <p:cNvPr id="2" name="Title 1"/>
          <p:cNvSpPr>
            <a:spLocks noGrp="1"/>
          </p:cNvSpPr>
          <p:nvPr>
            <p:ph type="title"/>
          </p:nvPr>
        </p:nvSpPr>
        <p:spPr/>
        <p:txBody>
          <a:bodyPr/>
          <a:lstStyle/>
          <a:p>
            <a:r>
              <a:rPr lang="en-US" dirty="0"/>
              <a:t>Let’s implement Proportional Control</a:t>
            </a:r>
          </a:p>
        </p:txBody>
      </p:sp>
      <p:graphicFrame>
        <p:nvGraphicFramePr>
          <p:cNvPr id="6" name="Table 5"/>
          <p:cNvGraphicFramePr>
            <a:graphicFrameLocks noGrp="1"/>
          </p:cNvGraphicFramePr>
          <p:nvPr>
            <p:extLst>
              <p:ext uri="{D42A27DB-BD31-4B8C-83A1-F6EECF244321}">
                <p14:modId xmlns:p14="http://schemas.microsoft.com/office/powerpoint/2010/main" val="2885633493"/>
              </p:ext>
            </p:extLst>
          </p:nvPr>
        </p:nvGraphicFramePr>
        <p:xfrm>
          <a:off x="185266" y="2801983"/>
          <a:ext cx="4028388" cy="2712368"/>
        </p:xfrm>
        <a:graphic>
          <a:graphicData uri="http://schemas.openxmlformats.org/drawingml/2006/table">
            <a:tbl>
              <a:tblPr firstRow="1" bandRow="1">
                <a:tableStyleId>{2D5ABB26-0587-4C30-8999-92F81FD0307C}</a:tableStyleId>
              </a:tblPr>
              <a:tblGrid>
                <a:gridCol w="4028388">
                  <a:extLst>
                    <a:ext uri="{9D8B030D-6E8A-4147-A177-3AD203B41FA5}">
                      <a16:colId xmlns:a16="http://schemas.microsoft.com/office/drawing/2014/main" val="20002"/>
                    </a:ext>
                  </a:extLst>
                </a:gridCol>
              </a:tblGrid>
              <a:tr h="268672">
                <a:tc>
                  <a:txBody>
                    <a:bodyPr/>
                    <a:lstStyle/>
                    <a:p>
                      <a:pPr algn="ctr"/>
                      <a:r>
                        <a:rPr lang="en-US" sz="1400" b="1" dirty="0"/>
                        <a:t>Compute Error</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C201"/>
                    </a:solidFill>
                  </a:tcPr>
                </a:tc>
                <a:extLst>
                  <a:ext uri="{0D108BD9-81ED-4DB2-BD59-A6C34878D82A}">
                    <a16:rowId xmlns:a16="http://schemas.microsoft.com/office/drawing/2014/main" val="10000"/>
                  </a:ext>
                </a:extLst>
              </a:tr>
              <a:tr h="1072267">
                <a:tc>
                  <a:txBody>
                    <a:bodyPr/>
                    <a:lstStyle/>
                    <a:p>
                      <a:r>
                        <a:rPr lang="en-US" sz="1400" dirty="0"/>
                        <a:t>Distance from line =</a:t>
                      </a:r>
                      <a:br>
                        <a:rPr lang="en-US" sz="1400" dirty="0"/>
                      </a:br>
                      <a:r>
                        <a:rPr lang="en-US" sz="1400" dirty="0"/>
                        <a:t>(Light sensor reading - Target Reading)</a:t>
                      </a:r>
                      <a:endParaRPr lang="en-US" sz="1400" baseline="0" dirty="0"/>
                    </a:p>
                    <a:p>
                      <a:endParaRPr lang="en-US" sz="1400" baseline="0" dirty="0"/>
                    </a:p>
                    <a:p>
                      <a:endParaRPr 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67530">
                <a:tc>
                  <a:txBody>
                    <a:bodyPr/>
                    <a:lstStyle/>
                    <a:p>
                      <a:pPr algn="ctr"/>
                      <a:r>
                        <a:rPr lang="en-US" sz="1400" b="1" dirty="0"/>
                        <a:t>Compute/Apply Correction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C342"/>
                    </a:solidFill>
                  </a:tcPr>
                </a:tc>
                <a:extLst>
                  <a:ext uri="{0D108BD9-81ED-4DB2-BD59-A6C34878D82A}">
                    <a16:rowId xmlns:a16="http://schemas.microsoft.com/office/drawing/2014/main" val="1682074227"/>
                  </a:ext>
                </a:extLst>
              </a:tr>
              <a:tr h="1076221">
                <a:tc>
                  <a:txBody>
                    <a:bodyPr/>
                    <a:lstStyle/>
                    <a:p>
                      <a:r>
                        <a:rPr lang="en-US" sz="1400" dirty="0"/>
                        <a:t>Scale the error to determine a correction amount. </a:t>
                      </a:r>
                      <a:br>
                        <a:rPr lang="en-US" sz="1400" dirty="0"/>
                      </a:br>
                      <a:endParaRPr lang="en-US" sz="1400" dirty="0"/>
                    </a:p>
                    <a:p>
                      <a:r>
                        <a:rPr lang="en-US" sz="1400" dirty="0"/>
                        <a:t>Use this to adjust the speed of each wheel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1293876"/>
                  </a:ext>
                </a:extLst>
              </a:tr>
            </a:tbl>
          </a:graphicData>
        </a:graphic>
      </p:graphicFrame>
      <p:cxnSp>
        <p:nvCxnSpPr>
          <p:cNvPr id="8" name="Straight Arrow Connector 7">
            <a:extLst>
              <a:ext uri="{FF2B5EF4-FFF2-40B4-BE49-F238E27FC236}">
                <a16:creationId xmlns:a16="http://schemas.microsoft.com/office/drawing/2014/main" id="{341ECA3E-9FAF-5AB6-9A9D-F7B2F26F1D10}"/>
              </a:ext>
            </a:extLst>
          </p:cNvPr>
          <p:cNvCxnSpPr/>
          <p:nvPr/>
        </p:nvCxnSpPr>
        <p:spPr>
          <a:xfrm>
            <a:off x="3101546" y="3385751"/>
            <a:ext cx="1717589" cy="4510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A537177-6B03-8013-F63F-79B66C7554C8}"/>
              </a:ext>
            </a:extLst>
          </p:cNvPr>
          <p:cNvCxnSpPr/>
          <p:nvPr/>
        </p:nvCxnSpPr>
        <p:spPr>
          <a:xfrm flipV="1">
            <a:off x="3904735" y="4263081"/>
            <a:ext cx="871151" cy="3336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386E25F-FC51-8E3B-03A3-04F7F4374594}"/>
              </a:ext>
            </a:extLst>
          </p:cNvPr>
          <p:cNvCxnSpPr/>
          <p:nvPr/>
        </p:nvCxnSpPr>
        <p:spPr>
          <a:xfrm flipV="1">
            <a:off x="3385751" y="4782065"/>
            <a:ext cx="1390135" cy="240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101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BCB5-E4FB-1743-B265-2FD167AE5D55}"/>
              </a:ext>
            </a:extLst>
          </p:cNvPr>
          <p:cNvSpPr>
            <a:spLocks noGrp="1"/>
          </p:cNvSpPr>
          <p:nvPr>
            <p:ph type="title"/>
          </p:nvPr>
        </p:nvSpPr>
        <p:spPr/>
        <p:txBody>
          <a:bodyPr/>
          <a:lstStyle/>
          <a:p>
            <a:r>
              <a:rPr lang="en-US" dirty="0"/>
              <a:t>Key Step: Tuning the Constant</a:t>
            </a:r>
          </a:p>
        </p:txBody>
      </p:sp>
      <mc:AlternateContent xmlns:mc="http://schemas.openxmlformats.org/markup-compatibility/2006">
        <mc:Choice xmlns:a14="http://schemas.microsoft.com/office/drawing/2010/main" Requires="a14">
          <p:sp>
            <p:nvSpPr>
              <p:cNvPr id="13" name="Content Placeholder 12">
                <a:extLst>
                  <a:ext uri="{FF2B5EF4-FFF2-40B4-BE49-F238E27FC236}">
                    <a16:creationId xmlns:a16="http://schemas.microsoft.com/office/drawing/2014/main" id="{D03BF9FA-538C-D643-A6D2-6C972D90F30A}"/>
                  </a:ext>
                </a:extLst>
              </p:cNvPr>
              <p:cNvSpPr>
                <a:spLocks noGrp="1"/>
              </p:cNvSpPr>
              <p:nvPr>
                <p:ph idx="1"/>
              </p:nvPr>
            </p:nvSpPr>
            <p:spPr>
              <a:xfrm>
                <a:off x="448092" y="1671145"/>
                <a:ext cx="8238707" cy="4532805"/>
              </a:xfrm>
            </p:spPr>
            <p:txBody>
              <a:bodyPr>
                <a:noAutofit/>
              </a:bodyPr>
              <a:lstStyle/>
              <a:p>
                <a:r>
                  <a:rPr lang="en-US" sz="2000" dirty="0"/>
                  <a:t>Note, the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𝑝</m:t>
                        </m:r>
                      </m:sub>
                    </m:sSub>
                  </m:oMath>
                </a14:m>
                <a:r>
                  <a:rPr lang="en-US" sz="2000" dirty="0"/>
                  <a:t> constant in the previous slide is specific to our robot – you need to tune this value for yourself</a:t>
                </a:r>
              </a:p>
              <a:p>
                <a:r>
                  <a:rPr lang="en-US" sz="2000" dirty="0"/>
                  <a:t>This constant is called the Proportional Constant, or Constant of Proportionality</a:t>
                </a:r>
              </a:p>
              <a:p>
                <a:pPr marL="0" indent="0">
                  <a:buNone/>
                </a:pPr>
                <a:endParaRPr lang="en-US" sz="2000" dirty="0"/>
              </a:p>
              <a:p>
                <a:r>
                  <a:rPr lang="en-US" sz="2000" dirty="0"/>
                  <a:t>The most common way to tune your constant is trial and error.</a:t>
                </a:r>
              </a:p>
              <a:p>
                <a:r>
                  <a:rPr lang="en-US" sz="2000" dirty="0"/>
                  <a:t>This can take time. Here are some tips:</a:t>
                </a:r>
              </a:p>
              <a:p>
                <a:pPr lvl="1"/>
                <a:r>
                  <a:rPr lang="en-US" sz="1800" dirty="0"/>
                  <a:t>Start with your constant as 1.0 adjust by ±0.5 initially </a:t>
                </a:r>
              </a:p>
              <a:p>
                <a:pPr lvl="1"/>
                <a:r>
                  <a:rPr lang="en-US" sz="1800" dirty="0"/>
                  <a:t>Adjust to a point where the controller is pretty smooth</a:t>
                </a:r>
              </a:p>
              <a:p>
                <a:pPr lvl="1"/>
                <a:r>
                  <a:rPr lang="en-US" sz="1800" dirty="0"/>
                  <a:t>Adjust ±0.1 for fine tuning</a:t>
                </a:r>
              </a:p>
            </p:txBody>
          </p:sp>
        </mc:Choice>
        <mc:Fallback>
          <p:sp>
            <p:nvSpPr>
              <p:cNvPr id="13" name="Content Placeholder 12">
                <a:extLst>
                  <a:ext uri="{FF2B5EF4-FFF2-40B4-BE49-F238E27FC236}">
                    <a16:creationId xmlns:a16="http://schemas.microsoft.com/office/drawing/2014/main" id="{D03BF9FA-538C-D643-A6D2-6C972D90F30A}"/>
                  </a:ext>
                </a:extLst>
              </p:cNvPr>
              <p:cNvSpPr>
                <a:spLocks noGrp="1" noRot="1" noChangeAspect="1" noMove="1" noResize="1" noEditPoints="1" noAdjustHandles="1" noChangeArrowheads="1" noChangeShapeType="1" noTextEdit="1"/>
              </p:cNvSpPr>
              <p:nvPr>
                <p:ph idx="1"/>
              </p:nvPr>
            </p:nvSpPr>
            <p:spPr>
              <a:xfrm>
                <a:off x="448092" y="1671145"/>
                <a:ext cx="8238707" cy="4532805"/>
              </a:xfrm>
              <a:blipFill>
                <a:blip r:embed="rId2"/>
                <a:stretch>
                  <a:fillRect l="-462" t="-559"/>
                </a:stretch>
              </a:blipFill>
            </p:spPr>
            <p:txBody>
              <a:bodyPr/>
              <a:lstStyle/>
              <a:p>
                <a:r>
                  <a:rPr lang="en-JP">
                    <a:noFill/>
                  </a:rPr>
                  <a:t> </a:t>
                </a:r>
              </a:p>
            </p:txBody>
          </p:sp>
        </mc:Fallback>
      </mc:AlternateContent>
    </p:spTree>
    <p:extLst>
      <p:ext uri="{BB962C8B-B14F-4D97-AF65-F5344CB8AC3E}">
        <p14:creationId xmlns:p14="http://schemas.microsoft.com/office/powerpoint/2010/main" val="286476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A246-0A82-4AE8-8B83-0F4D544A5BD0}"/>
              </a:ext>
            </a:extLst>
          </p:cNvPr>
          <p:cNvSpPr>
            <a:spLocks noGrp="1"/>
          </p:cNvSpPr>
          <p:nvPr>
            <p:ph type="title"/>
          </p:nvPr>
        </p:nvSpPr>
        <p:spPr/>
        <p:txBody>
          <a:bodyPr/>
          <a:lstStyle/>
          <a:p>
            <a:r>
              <a:rPr lang="en-US" dirty="0"/>
              <a:t>Proportional Control (0.6 Constant)</a:t>
            </a:r>
          </a:p>
        </p:txBody>
      </p:sp>
      <p:pic>
        <p:nvPicPr>
          <p:cNvPr id="12" name="p6 576">
            <a:hlinkClick r:id="" action="ppaction://media"/>
            <a:extLst>
              <a:ext uri="{FF2B5EF4-FFF2-40B4-BE49-F238E27FC236}">
                <a16:creationId xmlns:a16="http://schemas.microsoft.com/office/drawing/2014/main" id="{D1B959EF-E85A-4EB3-A0F1-ACD8CDCB3DC1}"/>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35315" y="1390955"/>
            <a:ext cx="8673370" cy="4879216"/>
          </a:xfrm>
        </p:spPr>
      </p:pic>
      <p:sp>
        <p:nvSpPr>
          <p:cNvPr id="3" name="TextBox 2">
            <a:extLst>
              <a:ext uri="{FF2B5EF4-FFF2-40B4-BE49-F238E27FC236}">
                <a16:creationId xmlns:a16="http://schemas.microsoft.com/office/drawing/2014/main" id="{92F53BD2-9740-9145-ADFF-F59897374259}"/>
              </a:ext>
            </a:extLst>
          </p:cNvPr>
          <p:cNvSpPr txBox="1"/>
          <p:nvPr/>
        </p:nvSpPr>
        <p:spPr>
          <a:xfrm>
            <a:off x="199698" y="5900839"/>
            <a:ext cx="3720865" cy="369332"/>
          </a:xfrm>
          <a:prstGeom prst="rect">
            <a:avLst/>
          </a:prstGeom>
          <a:noFill/>
        </p:spPr>
        <p:txBody>
          <a:bodyPr wrap="square" rtlCol="0">
            <a:spAutoFit/>
          </a:bodyPr>
          <a:lstStyle/>
          <a:p>
            <a:r>
              <a:rPr lang="en-US" dirty="0"/>
              <a:t>Play video. Turn on volume</a:t>
            </a:r>
          </a:p>
        </p:txBody>
      </p:sp>
    </p:spTree>
    <p:extLst>
      <p:ext uri="{BB962C8B-B14F-4D97-AF65-F5344CB8AC3E}">
        <p14:creationId xmlns:p14="http://schemas.microsoft.com/office/powerpoint/2010/main" val="325194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967"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F06B-B3BE-FB4C-A9B8-33E87108FC68}"/>
              </a:ext>
            </a:extLst>
          </p:cNvPr>
          <p:cNvSpPr>
            <a:spLocks noGrp="1"/>
          </p:cNvSpPr>
          <p:nvPr>
            <p:ph type="title"/>
          </p:nvPr>
        </p:nvSpPr>
        <p:spPr/>
        <p:txBody>
          <a:bodyPr/>
          <a:lstStyle/>
          <a:p>
            <a:r>
              <a:rPr lang="en-US" dirty="0"/>
              <a:t>Proportional Control (0.8 Constant)</a:t>
            </a:r>
          </a:p>
        </p:txBody>
      </p:sp>
      <p:pic>
        <p:nvPicPr>
          <p:cNvPr id="11" name="p8 576">
            <a:hlinkClick r:id="" action="ppaction://media"/>
            <a:extLst>
              <a:ext uri="{FF2B5EF4-FFF2-40B4-BE49-F238E27FC236}">
                <a16:creationId xmlns:a16="http://schemas.microsoft.com/office/drawing/2014/main" id="{BBF41049-1EE2-45EC-83FB-628FA05515F2}"/>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73224" y="1372294"/>
            <a:ext cx="8407990" cy="4729926"/>
          </a:xfrm>
        </p:spPr>
      </p:pic>
      <p:sp>
        <p:nvSpPr>
          <p:cNvPr id="6" name="TextBox 5">
            <a:extLst>
              <a:ext uri="{FF2B5EF4-FFF2-40B4-BE49-F238E27FC236}">
                <a16:creationId xmlns:a16="http://schemas.microsoft.com/office/drawing/2014/main" id="{261ED56F-0224-AC47-92F7-D8B7F2C5B190}"/>
              </a:ext>
            </a:extLst>
          </p:cNvPr>
          <p:cNvSpPr txBox="1"/>
          <p:nvPr/>
        </p:nvSpPr>
        <p:spPr>
          <a:xfrm>
            <a:off x="498277" y="5788873"/>
            <a:ext cx="3720865" cy="369332"/>
          </a:xfrm>
          <a:prstGeom prst="rect">
            <a:avLst/>
          </a:prstGeom>
          <a:noFill/>
        </p:spPr>
        <p:txBody>
          <a:bodyPr wrap="square" rtlCol="0">
            <a:spAutoFit/>
          </a:bodyPr>
          <a:lstStyle/>
          <a:p>
            <a:r>
              <a:rPr lang="en-US" dirty="0"/>
              <a:t>Play video. Turn on volume</a:t>
            </a:r>
          </a:p>
        </p:txBody>
      </p:sp>
    </p:spTree>
    <p:extLst>
      <p:ext uri="{BB962C8B-B14F-4D97-AF65-F5344CB8AC3E}">
        <p14:creationId xmlns:p14="http://schemas.microsoft.com/office/powerpoint/2010/main" val="218903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53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E447EA-3777-5F45-BC08-5638AC0E9F94}"/>
              </a:ext>
            </a:extLst>
          </p:cNvPr>
          <p:cNvSpPr>
            <a:spLocks noGrp="1"/>
          </p:cNvSpPr>
          <p:nvPr>
            <p:ph type="title"/>
          </p:nvPr>
        </p:nvSpPr>
        <p:spPr/>
        <p:txBody>
          <a:bodyPr>
            <a:normAutofit fontScale="90000"/>
          </a:bodyPr>
          <a:lstStyle/>
          <a:p>
            <a:r>
              <a:rPr lang="en-US" dirty="0"/>
              <a:t>When does Proportional Control Have Trouble?</a:t>
            </a:r>
          </a:p>
        </p:txBody>
      </p:sp>
      <p:sp>
        <p:nvSpPr>
          <p:cNvPr id="7" name="Text Placeholder 6">
            <a:extLst>
              <a:ext uri="{FF2B5EF4-FFF2-40B4-BE49-F238E27FC236}">
                <a16:creationId xmlns:a16="http://schemas.microsoft.com/office/drawing/2014/main" id="{938B16E4-BE64-BA42-80AC-8322FCEF2D9D}"/>
              </a:ext>
            </a:extLst>
          </p:cNvPr>
          <p:cNvSpPr>
            <a:spLocks noGrp="1"/>
          </p:cNvSpPr>
          <p:nvPr>
            <p:ph type="body" idx="1"/>
          </p:nvPr>
        </p:nvSpPr>
        <p:spPr>
          <a:xfrm>
            <a:off x="581193" y="1807301"/>
            <a:ext cx="2763586" cy="432197"/>
          </a:xfrm>
        </p:spPr>
        <p:txBody>
          <a:bodyPr/>
          <a:lstStyle/>
          <a:p>
            <a:r>
              <a:rPr lang="en-US" sz="2400" dirty="0"/>
              <a:t>What would a human do?</a:t>
            </a:r>
          </a:p>
        </p:txBody>
      </p:sp>
      <p:sp>
        <p:nvSpPr>
          <p:cNvPr id="8" name="Content Placeholder 7">
            <a:extLst>
              <a:ext uri="{FF2B5EF4-FFF2-40B4-BE49-F238E27FC236}">
                <a16:creationId xmlns:a16="http://schemas.microsoft.com/office/drawing/2014/main" id="{B77CA7A5-2B6E-3F42-97AB-C53C2FF16ED9}"/>
              </a:ext>
            </a:extLst>
          </p:cNvPr>
          <p:cNvSpPr>
            <a:spLocks noGrp="1"/>
          </p:cNvSpPr>
          <p:nvPr>
            <p:ph sz="half" idx="2"/>
          </p:nvPr>
        </p:nvSpPr>
        <p:spPr>
          <a:xfrm>
            <a:off x="194703" y="2498563"/>
            <a:ext cx="3281534" cy="2678186"/>
          </a:xfrm>
        </p:spPr>
        <p:txBody>
          <a:bodyPr>
            <a:normAutofit fontScale="85000" lnSpcReduction="10000"/>
          </a:bodyPr>
          <a:lstStyle/>
          <a:p>
            <a:pPr marL="0" indent="0">
              <a:buNone/>
            </a:pPr>
            <a:r>
              <a:rPr lang="en-US" dirty="0"/>
              <a:t>On line </a:t>
            </a:r>
            <a:r>
              <a:rPr lang="en-US" dirty="0">
                <a:sym typeface="Wingdings" pitchFamily="2" charset="2"/>
              </a:rPr>
              <a:t> go straight</a:t>
            </a:r>
          </a:p>
          <a:p>
            <a:pPr marL="0" indent="0">
              <a:buNone/>
            </a:pPr>
            <a:r>
              <a:rPr lang="en-US" dirty="0">
                <a:sym typeface="Wingdings" pitchFamily="2" charset="2"/>
              </a:rPr>
              <a:t>On white  turn left</a:t>
            </a:r>
          </a:p>
          <a:p>
            <a:pPr marL="0" indent="0">
              <a:buNone/>
            </a:pPr>
            <a:r>
              <a:rPr lang="en-US" dirty="0">
                <a:sym typeface="Wingdings" pitchFamily="2" charset="2"/>
              </a:rPr>
              <a:t>Moving across line  turn right</a:t>
            </a:r>
          </a:p>
          <a:p>
            <a:pPr marL="0" indent="0">
              <a:buNone/>
            </a:pPr>
            <a:r>
              <a:rPr lang="en-US" dirty="0">
                <a:sym typeface="Wingdings" pitchFamily="2" charset="2"/>
              </a:rPr>
              <a:t>On white  turn left</a:t>
            </a:r>
          </a:p>
          <a:p>
            <a:pPr marL="0" indent="0">
              <a:buNone/>
            </a:pPr>
            <a:r>
              <a:rPr lang="en-US" dirty="0">
                <a:sym typeface="Wingdings" pitchFamily="2" charset="2"/>
              </a:rPr>
              <a:t>Getting further from line  turn even more!</a:t>
            </a:r>
          </a:p>
          <a:p>
            <a:endParaRPr lang="en-US" dirty="0"/>
          </a:p>
        </p:txBody>
      </p:sp>
      <p:sp>
        <p:nvSpPr>
          <p:cNvPr id="9" name="Text Placeholder 8">
            <a:extLst>
              <a:ext uri="{FF2B5EF4-FFF2-40B4-BE49-F238E27FC236}">
                <a16:creationId xmlns:a16="http://schemas.microsoft.com/office/drawing/2014/main" id="{6AE1BBF9-3108-2C43-BC4E-8AE87A10C85D}"/>
              </a:ext>
            </a:extLst>
          </p:cNvPr>
          <p:cNvSpPr>
            <a:spLocks noGrp="1"/>
          </p:cNvSpPr>
          <p:nvPr>
            <p:ph type="body" sz="quarter" idx="3"/>
          </p:nvPr>
        </p:nvSpPr>
        <p:spPr>
          <a:xfrm>
            <a:off x="5216101" y="1807301"/>
            <a:ext cx="3354843" cy="432197"/>
          </a:xfrm>
        </p:spPr>
        <p:txBody>
          <a:bodyPr/>
          <a:lstStyle/>
          <a:p>
            <a:r>
              <a:rPr lang="en-US" sz="2400" dirty="0"/>
              <a:t>What would proportional control do?</a:t>
            </a:r>
          </a:p>
        </p:txBody>
      </p:sp>
      <p:sp>
        <p:nvSpPr>
          <p:cNvPr id="10" name="Content Placeholder 9">
            <a:extLst>
              <a:ext uri="{FF2B5EF4-FFF2-40B4-BE49-F238E27FC236}">
                <a16:creationId xmlns:a16="http://schemas.microsoft.com/office/drawing/2014/main" id="{3546CBAA-A446-C240-AB1F-37A8C0D4AA87}"/>
              </a:ext>
            </a:extLst>
          </p:cNvPr>
          <p:cNvSpPr>
            <a:spLocks noGrp="1"/>
          </p:cNvSpPr>
          <p:nvPr>
            <p:ph sz="quarter" idx="4"/>
          </p:nvPr>
        </p:nvSpPr>
        <p:spPr>
          <a:xfrm>
            <a:off x="5793005" y="2498563"/>
            <a:ext cx="3202154" cy="2678186"/>
          </a:xfrm>
        </p:spPr>
        <p:txBody>
          <a:bodyPr>
            <a:normAutofit fontScale="77500" lnSpcReduction="20000"/>
          </a:bodyPr>
          <a:lstStyle/>
          <a:p>
            <a:pPr marL="0" indent="0">
              <a:buNone/>
            </a:pPr>
            <a:r>
              <a:rPr lang="en-US" dirty="0"/>
              <a:t>On line </a:t>
            </a:r>
            <a:r>
              <a:rPr lang="en-US" dirty="0">
                <a:sym typeface="Wingdings" pitchFamily="2" charset="2"/>
              </a:rPr>
              <a:t> go straight</a:t>
            </a:r>
          </a:p>
          <a:p>
            <a:pPr marL="0" indent="0">
              <a:buNone/>
            </a:pPr>
            <a:r>
              <a:rPr lang="en-US" dirty="0">
                <a:sym typeface="Wingdings" pitchFamily="2" charset="2"/>
              </a:rPr>
              <a:t>On white  turn left</a:t>
            </a:r>
          </a:p>
          <a:p>
            <a:pPr marL="0" indent="0">
              <a:buNone/>
            </a:pPr>
            <a:r>
              <a:rPr lang="en-US" b="1" dirty="0">
                <a:solidFill>
                  <a:srgbClr val="FF0000"/>
                </a:solidFill>
                <a:sym typeface="Wingdings" pitchFamily="2" charset="2"/>
              </a:rPr>
              <a:t>Moving across line  go straight!</a:t>
            </a:r>
          </a:p>
          <a:p>
            <a:pPr marL="0" indent="0">
              <a:buNone/>
            </a:pPr>
            <a:r>
              <a:rPr lang="en-US" dirty="0">
                <a:sym typeface="Wingdings" pitchFamily="2" charset="2"/>
              </a:rPr>
              <a:t>On white  turn left</a:t>
            </a:r>
          </a:p>
          <a:p>
            <a:pPr marL="0" indent="0">
              <a:buNone/>
            </a:pPr>
            <a:r>
              <a:rPr lang="en-US" b="1" dirty="0">
                <a:solidFill>
                  <a:srgbClr val="FF0000"/>
                </a:solidFill>
                <a:sym typeface="Wingdings" pitchFamily="2" charset="2"/>
              </a:rPr>
              <a:t>Getting further from line  turn left the same amount!</a:t>
            </a:r>
          </a:p>
          <a:p>
            <a:pPr marL="0" indent="0">
              <a:buNone/>
            </a:pPr>
            <a:endParaRPr lang="en-US" dirty="0"/>
          </a:p>
          <a:p>
            <a:endParaRPr lang="en-US" dirty="0"/>
          </a:p>
        </p:txBody>
      </p:sp>
      <p:sp>
        <p:nvSpPr>
          <p:cNvPr id="33" name="Rectangle 32">
            <a:extLst>
              <a:ext uri="{FF2B5EF4-FFF2-40B4-BE49-F238E27FC236}">
                <a16:creationId xmlns:a16="http://schemas.microsoft.com/office/drawing/2014/main" id="{B41D004B-A1F7-4C42-84EB-8EAC15CBE951}"/>
              </a:ext>
            </a:extLst>
          </p:cNvPr>
          <p:cNvSpPr/>
          <p:nvPr>
            <p:custDataLst>
              <p:tags r:id="rId1"/>
            </p:custDataLst>
          </p:nvPr>
        </p:nvSpPr>
        <p:spPr>
          <a:xfrm>
            <a:off x="4794220" y="4250930"/>
            <a:ext cx="385209" cy="1475797"/>
          </a:xfrm>
          <a:prstGeom prst="rect">
            <a:avLst/>
          </a:prstGeom>
          <a:solidFill>
            <a:srgbClr val="000000"/>
          </a:solidFill>
          <a:ln w="28575" cap="flat" cmpd="sng" algn="ctr">
            <a:noFill/>
            <a:prstDash val="solid"/>
          </a:ln>
          <a:effectLst/>
        </p:spPr>
        <p:txBody>
          <a:bodyPr anchor="ctr"/>
          <a:lstStyle/>
          <a:p>
            <a:pPr algn="ctr" defTabSz="685800">
              <a:defRPr/>
            </a:pPr>
            <a:endParaRPr lang="en-US" sz="1350" kern="0">
              <a:solidFill>
                <a:srgbClr val="FFFFFF"/>
              </a:solidFill>
              <a:latin typeface="Arial"/>
              <a:cs typeface="Arial" charset="0"/>
            </a:endParaRPr>
          </a:p>
        </p:txBody>
      </p:sp>
      <p:grpSp>
        <p:nvGrpSpPr>
          <p:cNvPr id="39" name="Group 38">
            <a:extLst>
              <a:ext uri="{FF2B5EF4-FFF2-40B4-BE49-F238E27FC236}">
                <a16:creationId xmlns:a16="http://schemas.microsoft.com/office/drawing/2014/main" id="{FC218832-CB29-0C46-B45D-880DC05ADAF7}"/>
              </a:ext>
            </a:extLst>
          </p:cNvPr>
          <p:cNvGrpSpPr/>
          <p:nvPr/>
        </p:nvGrpSpPr>
        <p:grpSpPr>
          <a:xfrm>
            <a:off x="4855198" y="4918749"/>
            <a:ext cx="495419" cy="592948"/>
            <a:chOff x="6310708" y="2223671"/>
            <a:chExt cx="809489" cy="898563"/>
          </a:xfrm>
        </p:grpSpPr>
        <p:sp>
          <p:nvSpPr>
            <p:cNvPr id="40" name="Rounded Rectangle 39">
              <a:extLst>
                <a:ext uri="{FF2B5EF4-FFF2-40B4-BE49-F238E27FC236}">
                  <a16:creationId xmlns:a16="http://schemas.microsoft.com/office/drawing/2014/main" id="{1DCBB1DC-8D45-0C4C-940E-4100BEE2ACF4}"/>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41" name="Rounded Rectangle 40">
              <a:extLst>
                <a:ext uri="{FF2B5EF4-FFF2-40B4-BE49-F238E27FC236}">
                  <a16:creationId xmlns:a16="http://schemas.microsoft.com/office/drawing/2014/main" id="{A3E96B5E-877C-4542-A785-D0CA1B7C962F}"/>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42" name="Rounded Rectangle 41">
              <a:extLst>
                <a:ext uri="{FF2B5EF4-FFF2-40B4-BE49-F238E27FC236}">
                  <a16:creationId xmlns:a16="http://schemas.microsoft.com/office/drawing/2014/main" id="{4E62D3B2-528E-7342-B117-020FDAA353D1}"/>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43" name="Oval 42">
              <a:extLst>
                <a:ext uri="{FF2B5EF4-FFF2-40B4-BE49-F238E27FC236}">
                  <a16:creationId xmlns:a16="http://schemas.microsoft.com/office/drawing/2014/main" id="{ADAA311E-7D56-4647-B616-3C703384A0F0}"/>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sp>
        <p:nvSpPr>
          <p:cNvPr id="44" name="Arc 43">
            <a:extLst>
              <a:ext uri="{FF2B5EF4-FFF2-40B4-BE49-F238E27FC236}">
                <a16:creationId xmlns:a16="http://schemas.microsoft.com/office/drawing/2014/main" id="{A44008F4-6A80-3341-A351-297832A42F24}"/>
              </a:ext>
            </a:extLst>
          </p:cNvPr>
          <p:cNvSpPr/>
          <p:nvPr/>
        </p:nvSpPr>
        <p:spPr>
          <a:xfrm>
            <a:off x="1328906" y="2775198"/>
            <a:ext cx="3656317" cy="3142063"/>
          </a:xfrm>
          <a:prstGeom prst="arc">
            <a:avLst>
              <a:gd name="adj1" fmla="val 16199999"/>
              <a:gd name="adj2" fmla="val 0"/>
            </a:avLst>
          </a:prstGeom>
          <a:ln w="393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nvGrpSpPr>
          <p:cNvPr id="45" name="Group 44">
            <a:extLst>
              <a:ext uri="{FF2B5EF4-FFF2-40B4-BE49-F238E27FC236}">
                <a16:creationId xmlns:a16="http://schemas.microsoft.com/office/drawing/2014/main" id="{740C44D7-9CF0-4648-B224-6F3FFB2AB695}"/>
              </a:ext>
            </a:extLst>
          </p:cNvPr>
          <p:cNvGrpSpPr/>
          <p:nvPr/>
        </p:nvGrpSpPr>
        <p:grpSpPr>
          <a:xfrm>
            <a:off x="5140948" y="4918749"/>
            <a:ext cx="495419" cy="592948"/>
            <a:chOff x="6310708" y="2223671"/>
            <a:chExt cx="809489" cy="898563"/>
          </a:xfrm>
        </p:grpSpPr>
        <p:sp>
          <p:nvSpPr>
            <p:cNvPr id="46" name="Rounded Rectangle 45">
              <a:extLst>
                <a:ext uri="{FF2B5EF4-FFF2-40B4-BE49-F238E27FC236}">
                  <a16:creationId xmlns:a16="http://schemas.microsoft.com/office/drawing/2014/main" id="{281A96F1-2EB2-B146-83D6-50FE41B2F20D}"/>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47" name="Rounded Rectangle 46">
              <a:extLst>
                <a:ext uri="{FF2B5EF4-FFF2-40B4-BE49-F238E27FC236}">
                  <a16:creationId xmlns:a16="http://schemas.microsoft.com/office/drawing/2014/main" id="{DF6CD93C-5D48-294E-8E1A-BD08757B68D5}"/>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48" name="Rounded Rectangle 47">
              <a:extLst>
                <a:ext uri="{FF2B5EF4-FFF2-40B4-BE49-F238E27FC236}">
                  <a16:creationId xmlns:a16="http://schemas.microsoft.com/office/drawing/2014/main" id="{C9973B8D-4B9F-314C-AB62-56E5E6C521B2}"/>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49" name="Oval 48">
              <a:extLst>
                <a:ext uri="{FF2B5EF4-FFF2-40B4-BE49-F238E27FC236}">
                  <a16:creationId xmlns:a16="http://schemas.microsoft.com/office/drawing/2014/main" id="{236526E8-6934-7645-B046-79D26FCEB4EA}"/>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grpSp>
        <p:nvGrpSpPr>
          <p:cNvPr id="50" name="Group 49">
            <a:extLst>
              <a:ext uri="{FF2B5EF4-FFF2-40B4-BE49-F238E27FC236}">
                <a16:creationId xmlns:a16="http://schemas.microsoft.com/office/drawing/2014/main" id="{D92E5C0F-0124-3848-BF8D-5A04684B9C1C}"/>
              </a:ext>
            </a:extLst>
          </p:cNvPr>
          <p:cNvGrpSpPr/>
          <p:nvPr/>
        </p:nvGrpSpPr>
        <p:grpSpPr>
          <a:xfrm rot="19800000">
            <a:off x="4994416" y="4595762"/>
            <a:ext cx="495419" cy="592948"/>
            <a:chOff x="6310708" y="2223671"/>
            <a:chExt cx="809489" cy="898563"/>
          </a:xfrm>
        </p:grpSpPr>
        <p:sp>
          <p:nvSpPr>
            <p:cNvPr id="51" name="Rounded Rectangle 50">
              <a:extLst>
                <a:ext uri="{FF2B5EF4-FFF2-40B4-BE49-F238E27FC236}">
                  <a16:creationId xmlns:a16="http://schemas.microsoft.com/office/drawing/2014/main" id="{DCAA7A57-6A9D-BC49-94AC-104F1FB6AEBC}"/>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2" name="Rounded Rectangle 51">
              <a:extLst>
                <a:ext uri="{FF2B5EF4-FFF2-40B4-BE49-F238E27FC236}">
                  <a16:creationId xmlns:a16="http://schemas.microsoft.com/office/drawing/2014/main" id="{73F3E965-3EF0-B241-97DF-A6AA82FB67AB}"/>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3" name="Rounded Rectangle 52">
              <a:extLst>
                <a:ext uri="{FF2B5EF4-FFF2-40B4-BE49-F238E27FC236}">
                  <a16:creationId xmlns:a16="http://schemas.microsoft.com/office/drawing/2014/main" id="{168729F7-17AA-5549-95B4-6A853D61FFA1}"/>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4" name="Oval 53">
              <a:extLst>
                <a:ext uri="{FF2B5EF4-FFF2-40B4-BE49-F238E27FC236}">
                  <a16:creationId xmlns:a16="http://schemas.microsoft.com/office/drawing/2014/main" id="{EA00A594-88B5-924B-BEC0-EC5D55F82BB0}"/>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sp>
        <p:nvSpPr>
          <p:cNvPr id="55" name="TextBox 54">
            <a:extLst>
              <a:ext uri="{FF2B5EF4-FFF2-40B4-BE49-F238E27FC236}">
                <a16:creationId xmlns:a16="http://schemas.microsoft.com/office/drawing/2014/main" id="{CC04539C-390A-EA41-9BC6-DF939E5A333D}"/>
              </a:ext>
            </a:extLst>
          </p:cNvPr>
          <p:cNvSpPr txBox="1"/>
          <p:nvPr/>
        </p:nvSpPr>
        <p:spPr>
          <a:xfrm>
            <a:off x="5550912" y="3616383"/>
            <a:ext cx="184731" cy="300082"/>
          </a:xfrm>
          <a:prstGeom prst="rect">
            <a:avLst/>
          </a:prstGeom>
          <a:noFill/>
        </p:spPr>
        <p:txBody>
          <a:bodyPr wrap="none" rtlCol="0">
            <a:spAutoFit/>
          </a:bodyPr>
          <a:lstStyle/>
          <a:p>
            <a:endParaRPr lang="en-US" sz="1350"/>
          </a:p>
        </p:txBody>
      </p:sp>
      <p:grpSp>
        <p:nvGrpSpPr>
          <p:cNvPr id="56" name="Group 55">
            <a:extLst>
              <a:ext uri="{FF2B5EF4-FFF2-40B4-BE49-F238E27FC236}">
                <a16:creationId xmlns:a16="http://schemas.microsoft.com/office/drawing/2014/main" id="{0D7DA794-C2C6-BE46-8C90-70EAF0A6425E}"/>
              </a:ext>
            </a:extLst>
          </p:cNvPr>
          <p:cNvGrpSpPr/>
          <p:nvPr/>
        </p:nvGrpSpPr>
        <p:grpSpPr>
          <a:xfrm>
            <a:off x="5059723" y="3700254"/>
            <a:ext cx="495419" cy="592948"/>
            <a:chOff x="6310708" y="2223671"/>
            <a:chExt cx="809489" cy="898563"/>
          </a:xfrm>
        </p:grpSpPr>
        <p:sp>
          <p:nvSpPr>
            <p:cNvPr id="57" name="Rounded Rectangle 56">
              <a:extLst>
                <a:ext uri="{FF2B5EF4-FFF2-40B4-BE49-F238E27FC236}">
                  <a16:creationId xmlns:a16="http://schemas.microsoft.com/office/drawing/2014/main" id="{D8944207-2D3B-5947-8935-B6B7CE87C9B9}"/>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8" name="Rounded Rectangle 57">
              <a:extLst>
                <a:ext uri="{FF2B5EF4-FFF2-40B4-BE49-F238E27FC236}">
                  <a16:creationId xmlns:a16="http://schemas.microsoft.com/office/drawing/2014/main" id="{994E38F6-F49E-D84F-B018-DACA073777E3}"/>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9" name="Rounded Rectangle 58">
              <a:extLst>
                <a:ext uri="{FF2B5EF4-FFF2-40B4-BE49-F238E27FC236}">
                  <a16:creationId xmlns:a16="http://schemas.microsoft.com/office/drawing/2014/main" id="{5074D9BF-01D0-4542-B267-848D98DCC12A}"/>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0" name="Oval 59">
              <a:extLst>
                <a:ext uri="{FF2B5EF4-FFF2-40B4-BE49-F238E27FC236}">
                  <a16:creationId xmlns:a16="http://schemas.microsoft.com/office/drawing/2014/main" id="{B69ED22E-8222-9A4D-ABB3-36525BE3BE58}"/>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grpSp>
        <p:nvGrpSpPr>
          <p:cNvPr id="61" name="Group 60">
            <a:extLst>
              <a:ext uri="{FF2B5EF4-FFF2-40B4-BE49-F238E27FC236}">
                <a16:creationId xmlns:a16="http://schemas.microsoft.com/office/drawing/2014/main" id="{B9395A15-D61C-1149-8143-CEF1D0DF20F5}"/>
              </a:ext>
            </a:extLst>
          </p:cNvPr>
          <p:cNvGrpSpPr/>
          <p:nvPr/>
        </p:nvGrpSpPr>
        <p:grpSpPr>
          <a:xfrm rot="19800000">
            <a:off x="4834474" y="2982891"/>
            <a:ext cx="495419" cy="592948"/>
            <a:chOff x="6310708" y="2223671"/>
            <a:chExt cx="809489" cy="898563"/>
          </a:xfrm>
        </p:grpSpPr>
        <p:sp>
          <p:nvSpPr>
            <p:cNvPr id="62" name="Rounded Rectangle 61">
              <a:extLst>
                <a:ext uri="{FF2B5EF4-FFF2-40B4-BE49-F238E27FC236}">
                  <a16:creationId xmlns:a16="http://schemas.microsoft.com/office/drawing/2014/main" id="{99E60F5F-A377-144F-8589-11B47F136390}"/>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3" name="Rounded Rectangle 62">
              <a:extLst>
                <a:ext uri="{FF2B5EF4-FFF2-40B4-BE49-F238E27FC236}">
                  <a16:creationId xmlns:a16="http://schemas.microsoft.com/office/drawing/2014/main" id="{452F5B2D-49CA-4941-89BE-406C20E78170}"/>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4" name="Rounded Rectangle 63">
              <a:extLst>
                <a:ext uri="{FF2B5EF4-FFF2-40B4-BE49-F238E27FC236}">
                  <a16:creationId xmlns:a16="http://schemas.microsoft.com/office/drawing/2014/main" id="{5F8307E9-52DC-F44B-9414-2AD11CF87240}"/>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5" name="Oval 64">
              <a:extLst>
                <a:ext uri="{FF2B5EF4-FFF2-40B4-BE49-F238E27FC236}">
                  <a16:creationId xmlns:a16="http://schemas.microsoft.com/office/drawing/2014/main" id="{CCC77194-1A95-B840-BE4B-3E6271048B1A}"/>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grpSp>
        <p:nvGrpSpPr>
          <p:cNvPr id="66" name="Group 65">
            <a:extLst>
              <a:ext uri="{FF2B5EF4-FFF2-40B4-BE49-F238E27FC236}">
                <a16:creationId xmlns:a16="http://schemas.microsoft.com/office/drawing/2014/main" id="{2D5DB333-BC95-A54B-B525-A6059250B7C9}"/>
              </a:ext>
            </a:extLst>
          </p:cNvPr>
          <p:cNvGrpSpPr/>
          <p:nvPr/>
        </p:nvGrpSpPr>
        <p:grpSpPr>
          <a:xfrm rot="18947227">
            <a:off x="4350939" y="2266329"/>
            <a:ext cx="495419" cy="592948"/>
            <a:chOff x="6310708" y="2223671"/>
            <a:chExt cx="809489" cy="898563"/>
          </a:xfrm>
        </p:grpSpPr>
        <p:sp>
          <p:nvSpPr>
            <p:cNvPr id="67" name="Rounded Rectangle 66">
              <a:extLst>
                <a:ext uri="{FF2B5EF4-FFF2-40B4-BE49-F238E27FC236}">
                  <a16:creationId xmlns:a16="http://schemas.microsoft.com/office/drawing/2014/main" id="{AC035C62-9801-BD40-B4AE-BE33A72CD76C}"/>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8" name="Rounded Rectangle 67">
              <a:extLst>
                <a:ext uri="{FF2B5EF4-FFF2-40B4-BE49-F238E27FC236}">
                  <a16:creationId xmlns:a16="http://schemas.microsoft.com/office/drawing/2014/main" id="{217C9161-7133-584B-AABA-B45FAB2655A1}"/>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9" name="Rounded Rectangle 68">
              <a:extLst>
                <a:ext uri="{FF2B5EF4-FFF2-40B4-BE49-F238E27FC236}">
                  <a16:creationId xmlns:a16="http://schemas.microsoft.com/office/drawing/2014/main" id="{1704D0E2-D373-924C-BA36-4C4547194A91}"/>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70" name="Oval 69">
              <a:extLst>
                <a:ext uri="{FF2B5EF4-FFF2-40B4-BE49-F238E27FC236}">
                  <a16:creationId xmlns:a16="http://schemas.microsoft.com/office/drawing/2014/main" id="{20CADBA5-9F0D-3540-959D-9E83FEA4235B}"/>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sp>
        <p:nvSpPr>
          <p:cNvPr id="3" name="TextBox 2">
            <a:extLst>
              <a:ext uri="{FF2B5EF4-FFF2-40B4-BE49-F238E27FC236}">
                <a16:creationId xmlns:a16="http://schemas.microsoft.com/office/drawing/2014/main" id="{C50E2BF1-26D5-AE4C-B21C-48DB88F64B87}"/>
              </a:ext>
            </a:extLst>
          </p:cNvPr>
          <p:cNvSpPr txBox="1"/>
          <p:nvPr/>
        </p:nvSpPr>
        <p:spPr>
          <a:xfrm>
            <a:off x="6061909" y="5318789"/>
            <a:ext cx="1743900" cy="338554"/>
          </a:xfrm>
          <a:prstGeom prst="rect">
            <a:avLst/>
          </a:prstGeom>
          <a:noFill/>
        </p:spPr>
        <p:txBody>
          <a:bodyPr wrap="square" rtlCol="0">
            <a:spAutoFit/>
          </a:bodyPr>
          <a:lstStyle/>
          <a:p>
            <a:r>
              <a:rPr lang="en-US" sz="1600" dirty="0"/>
              <a:t>LIGHT READING = </a:t>
            </a:r>
          </a:p>
        </p:txBody>
      </p:sp>
      <p:sp>
        <p:nvSpPr>
          <p:cNvPr id="71" name="TextBox 70">
            <a:extLst>
              <a:ext uri="{FF2B5EF4-FFF2-40B4-BE49-F238E27FC236}">
                <a16:creationId xmlns:a16="http://schemas.microsoft.com/office/drawing/2014/main" id="{AE280FFE-2D66-7A48-B30A-1E649A1C7864}"/>
              </a:ext>
            </a:extLst>
          </p:cNvPr>
          <p:cNvSpPr txBox="1"/>
          <p:nvPr/>
        </p:nvSpPr>
        <p:spPr>
          <a:xfrm>
            <a:off x="7749885" y="5294674"/>
            <a:ext cx="1581795" cy="338554"/>
          </a:xfrm>
          <a:prstGeom prst="rect">
            <a:avLst/>
          </a:prstGeom>
          <a:noFill/>
        </p:spPr>
        <p:txBody>
          <a:bodyPr wrap="square" rtlCol="0">
            <a:spAutoFit/>
          </a:bodyPr>
          <a:lstStyle/>
          <a:p>
            <a:r>
              <a:rPr lang="en-US" sz="1600" dirty="0">
                <a:solidFill>
                  <a:srgbClr val="FF0000"/>
                </a:solidFill>
              </a:rPr>
              <a:t>50%</a:t>
            </a:r>
          </a:p>
        </p:txBody>
      </p:sp>
      <p:sp>
        <p:nvSpPr>
          <p:cNvPr id="72" name="TextBox 71">
            <a:extLst>
              <a:ext uri="{FF2B5EF4-FFF2-40B4-BE49-F238E27FC236}">
                <a16:creationId xmlns:a16="http://schemas.microsoft.com/office/drawing/2014/main" id="{F7A3DB8B-F13E-0A41-BA2F-E17EA4CB93D4}"/>
              </a:ext>
            </a:extLst>
          </p:cNvPr>
          <p:cNvSpPr txBox="1"/>
          <p:nvPr/>
        </p:nvSpPr>
        <p:spPr>
          <a:xfrm>
            <a:off x="7749885" y="5303643"/>
            <a:ext cx="876590" cy="338554"/>
          </a:xfrm>
          <a:prstGeom prst="rect">
            <a:avLst/>
          </a:prstGeom>
          <a:noFill/>
        </p:spPr>
        <p:txBody>
          <a:bodyPr wrap="square" rtlCol="0">
            <a:spAutoFit/>
          </a:bodyPr>
          <a:lstStyle/>
          <a:p>
            <a:r>
              <a:rPr lang="en-US" sz="1600" dirty="0">
                <a:solidFill>
                  <a:srgbClr val="FF0000"/>
                </a:solidFill>
              </a:rPr>
              <a:t>100%</a:t>
            </a:r>
          </a:p>
        </p:txBody>
      </p:sp>
    </p:spTree>
    <p:extLst>
      <p:ext uri="{BB962C8B-B14F-4D97-AF65-F5344CB8AC3E}">
        <p14:creationId xmlns:p14="http://schemas.microsoft.com/office/powerpoint/2010/main" val="452527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additive="base">
                                        <p:cTn id="7" dur="500" fill="hold"/>
                                        <p:tgtEl>
                                          <p:spTgt spid="71"/>
                                        </p:tgtEl>
                                        <p:attrNameLst>
                                          <p:attrName>ppt_x</p:attrName>
                                        </p:attrNameLst>
                                      </p:cBhvr>
                                      <p:tavLst>
                                        <p:tav tm="0">
                                          <p:val>
                                            <p:strVal val="#ppt_x"/>
                                          </p:val>
                                        </p:tav>
                                        <p:tav tm="100000">
                                          <p:val>
                                            <p:strVal val="#ppt_x"/>
                                          </p:val>
                                        </p:tav>
                                      </p:tavLst>
                                    </p:anim>
                                    <p:anim calcmode="lin" valueType="num">
                                      <p:cBhvr additive="base">
                                        <p:cTn id="8"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39"/>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2"/>
                                        </p:tgtEl>
                                        <p:attrNameLst>
                                          <p:attrName>style.visibility</p:attrName>
                                        </p:attrNameLst>
                                      </p:cBhvr>
                                      <p:to>
                                        <p:strVal val="visible"/>
                                      </p:to>
                                    </p:set>
                                    <p:anim calcmode="lin" valueType="num">
                                      <p:cBhvr additive="base">
                                        <p:cTn id="29" dur="500" fill="hold"/>
                                        <p:tgtEl>
                                          <p:spTgt spid="72"/>
                                        </p:tgtEl>
                                        <p:attrNameLst>
                                          <p:attrName>ppt_x</p:attrName>
                                        </p:attrNameLst>
                                      </p:cBhvr>
                                      <p:tavLst>
                                        <p:tav tm="0">
                                          <p:val>
                                            <p:strVal val="#ppt_x"/>
                                          </p:val>
                                        </p:tav>
                                        <p:tav tm="100000">
                                          <p:val>
                                            <p:strVal val="#ppt_x"/>
                                          </p:val>
                                        </p:tav>
                                      </p:tavLst>
                                    </p:anim>
                                    <p:anim calcmode="lin" valueType="num">
                                      <p:cBhvr additive="base">
                                        <p:cTn id="30"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45"/>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72"/>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2" nodeType="clickEffect">
                                  <p:stCondLst>
                                    <p:cond delay="0"/>
                                  </p:stCondLst>
                                  <p:childTnLst>
                                    <p:set>
                                      <p:cBhvr>
                                        <p:cTn id="50" dur="1" fill="hold">
                                          <p:stCondLst>
                                            <p:cond delay="0"/>
                                          </p:stCondLst>
                                        </p:cTn>
                                        <p:tgtEl>
                                          <p:spTgt spid="71"/>
                                        </p:tgtEl>
                                        <p:attrNameLst>
                                          <p:attrName>style.visibility</p:attrName>
                                        </p:attrNameLst>
                                      </p:cBhvr>
                                      <p:to>
                                        <p:strVal val="visible"/>
                                      </p:to>
                                    </p:set>
                                    <p:anim calcmode="lin" valueType="num">
                                      <p:cBhvr additive="base">
                                        <p:cTn id="51" dur="500" fill="hold"/>
                                        <p:tgtEl>
                                          <p:spTgt spid="71"/>
                                        </p:tgtEl>
                                        <p:attrNameLst>
                                          <p:attrName>ppt_x</p:attrName>
                                        </p:attrNameLst>
                                      </p:cBhvr>
                                      <p:tavLst>
                                        <p:tav tm="0">
                                          <p:val>
                                            <p:strVal val="#ppt_x"/>
                                          </p:val>
                                        </p:tav>
                                        <p:tav tm="100000">
                                          <p:val>
                                            <p:strVal val="#ppt_x"/>
                                          </p:val>
                                        </p:tav>
                                      </p:tavLst>
                                    </p:anim>
                                    <p:anim calcmode="lin" valueType="num">
                                      <p:cBhvr additive="base">
                                        <p:cTn id="52"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50"/>
                                        </p:tgtEl>
                                        <p:attrNameLst>
                                          <p:attrName>style.visibility</p:attrName>
                                        </p:attrNameLst>
                                      </p:cBhvr>
                                      <p:to>
                                        <p:strVal val="hidden"/>
                                      </p:to>
                                    </p:set>
                                  </p:childTnLst>
                                </p:cTn>
                              </p:par>
                              <p:par>
                                <p:cTn id="65" presetID="1" presetClass="exit" presetSubtype="0" fill="hold" grpId="3" nodeType="withEffect">
                                  <p:stCondLst>
                                    <p:cond delay="0"/>
                                  </p:stCondLst>
                                  <p:childTnLst>
                                    <p:set>
                                      <p:cBhvr>
                                        <p:cTn id="66" dur="1" fill="hold">
                                          <p:stCondLst>
                                            <p:cond delay="0"/>
                                          </p:stCondLst>
                                        </p:cTn>
                                        <p:tgtEl>
                                          <p:spTgt spid="71"/>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2" nodeType="clickEffect">
                                  <p:stCondLst>
                                    <p:cond delay="0"/>
                                  </p:stCondLst>
                                  <p:childTnLst>
                                    <p:set>
                                      <p:cBhvr>
                                        <p:cTn id="72" dur="1" fill="hold">
                                          <p:stCondLst>
                                            <p:cond delay="0"/>
                                          </p:stCondLst>
                                        </p:cTn>
                                        <p:tgtEl>
                                          <p:spTgt spid="72"/>
                                        </p:tgtEl>
                                        <p:attrNameLst>
                                          <p:attrName>style.visibility</p:attrName>
                                        </p:attrNameLst>
                                      </p:cBhvr>
                                      <p:to>
                                        <p:strVal val="visible"/>
                                      </p:to>
                                    </p:set>
                                    <p:anim calcmode="lin" valueType="num">
                                      <p:cBhvr additive="base">
                                        <p:cTn id="73" dur="500" fill="hold"/>
                                        <p:tgtEl>
                                          <p:spTgt spid="72"/>
                                        </p:tgtEl>
                                        <p:attrNameLst>
                                          <p:attrName>ppt_x</p:attrName>
                                        </p:attrNameLst>
                                      </p:cBhvr>
                                      <p:tavLst>
                                        <p:tav tm="0">
                                          <p:val>
                                            <p:strVal val="#ppt_x"/>
                                          </p:val>
                                        </p:tav>
                                        <p:tav tm="100000">
                                          <p:val>
                                            <p:strVal val="#ppt_x"/>
                                          </p:val>
                                        </p:tav>
                                      </p:tavLst>
                                    </p:anim>
                                    <p:anim calcmode="lin" valueType="num">
                                      <p:cBhvr additive="base">
                                        <p:cTn id="74"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
                                            <p:txEl>
                                              <p:pRg st="3" end="3"/>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1" presetClass="exit" presetSubtype="0" fill="hold" grpId="3" nodeType="withEffect">
                                  <p:stCondLst>
                                    <p:cond delay="0"/>
                                  </p:stCondLst>
                                  <p:childTnLst>
                                    <p:set>
                                      <p:cBhvr>
                                        <p:cTn id="86" dur="1" fill="hold">
                                          <p:stCondLst>
                                            <p:cond delay="0"/>
                                          </p:stCondLst>
                                        </p:cTn>
                                        <p:tgtEl>
                                          <p:spTgt spid="72"/>
                                        </p:tgtEl>
                                        <p:attrNameLst>
                                          <p:attrName>style.visibility</p:attrName>
                                        </p:attrNameLst>
                                      </p:cBhvr>
                                      <p:to>
                                        <p:strVal val="hidden"/>
                                      </p:to>
                                    </p:set>
                                  </p:childTnLst>
                                </p:cTn>
                              </p:par>
                            </p:childTnLst>
                          </p:cTn>
                        </p:par>
                        <p:par>
                          <p:cTn id="87" fill="hold">
                            <p:stCondLst>
                              <p:cond delay="0"/>
                            </p:stCondLst>
                            <p:childTnLst>
                              <p:par>
                                <p:cTn id="88" presetID="2" presetClass="entr" presetSubtype="4" fill="hold" grpId="4" nodeType="afterEffect">
                                  <p:stCondLst>
                                    <p:cond delay="0"/>
                                  </p:stCondLst>
                                  <p:childTnLst>
                                    <p:set>
                                      <p:cBhvr>
                                        <p:cTn id="89" dur="1" fill="hold">
                                          <p:stCondLst>
                                            <p:cond delay="0"/>
                                          </p:stCondLst>
                                        </p:cTn>
                                        <p:tgtEl>
                                          <p:spTgt spid="72"/>
                                        </p:tgtEl>
                                        <p:attrNameLst>
                                          <p:attrName>style.visibility</p:attrName>
                                        </p:attrNameLst>
                                      </p:cBhvr>
                                      <p:to>
                                        <p:strVal val="visible"/>
                                      </p:to>
                                    </p:set>
                                    <p:anim calcmode="lin" valueType="num">
                                      <p:cBhvr additive="base">
                                        <p:cTn id="90" dur="500" fill="hold"/>
                                        <p:tgtEl>
                                          <p:spTgt spid="72"/>
                                        </p:tgtEl>
                                        <p:attrNameLst>
                                          <p:attrName>ppt_x</p:attrName>
                                        </p:attrNameLst>
                                      </p:cBhvr>
                                      <p:tavLst>
                                        <p:tav tm="0">
                                          <p:val>
                                            <p:strVal val="#ppt_x"/>
                                          </p:val>
                                        </p:tav>
                                        <p:tav tm="100000">
                                          <p:val>
                                            <p:strVal val="#ppt_x"/>
                                          </p:val>
                                        </p:tav>
                                      </p:tavLst>
                                    </p:anim>
                                    <p:anim calcmode="lin" valueType="num">
                                      <p:cBhvr additive="base">
                                        <p:cTn id="91"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66"/>
                                        </p:tgtEl>
                                        <p:attrNameLst>
                                          <p:attrName>style.visibility</p:attrName>
                                        </p:attrNameLst>
                                      </p:cBhvr>
                                      <p:to>
                                        <p:strVal val="visible"/>
                                      </p:to>
                                    </p:set>
                                  </p:childTnLst>
                                </p:cTn>
                              </p:par>
                              <p:par>
                                <p:cTn id="96" presetID="1" presetClass="exit" presetSubtype="0" fill="hold" grpId="5" nodeType="withEffect">
                                  <p:stCondLst>
                                    <p:cond delay="0"/>
                                  </p:stCondLst>
                                  <p:childTnLst>
                                    <p:set>
                                      <p:cBhvr>
                                        <p:cTn id="97" dur="1" fill="hold">
                                          <p:stCondLst>
                                            <p:cond delay="0"/>
                                          </p:stCondLst>
                                        </p:cTn>
                                        <p:tgtEl>
                                          <p:spTgt spid="72"/>
                                        </p:tgtEl>
                                        <p:attrNameLst>
                                          <p:attrName>style.visibility</p:attrName>
                                        </p:attrNameLst>
                                      </p:cBhvr>
                                      <p:to>
                                        <p:strVal val="hidden"/>
                                      </p:to>
                                    </p:set>
                                  </p:childTnLst>
                                </p:cTn>
                              </p:par>
                            </p:childTnLst>
                          </p:cTn>
                        </p:par>
                        <p:par>
                          <p:cTn id="98" fill="hold">
                            <p:stCondLst>
                              <p:cond delay="0"/>
                            </p:stCondLst>
                            <p:childTnLst>
                              <p:par>
                                <p:cTn id="99" presetID="2" presetClass="entr" presetSubtype="4" fill="hold" grpId="6" nodeType="afterEffect">
                                  <p:stCondLst>
                                    <p:cond delay="0"/>
                                  </p:stCondLst>
                                  <p:childTnLst>
                                    <p:set>
                                      <p:cBhvr>
                                        <p:cTn id="100" dur="1" fill="hold">
                                          <p:stCondLst>
                                            <p:cond delay="0"/>
                                          </p:stCondLst>
                                        </p:cTn>
                                        <p:tgtEl>
                                          <p:spTgt spid="72"/>
                                        </p:tgtEl>
                                        <p:attrNameLst>
                                          <p:attrName>style.visibility</p:attrName>
                                        </p:attrNameLst>
                                      </p:cBhvr>
                                      <p:to>
                                        <p:strVal val="visible"/>
                                      </p:to>
                                    </p:set>
                                    <p:anim calcmode="lin" valueType="num">
                                      <p:cBhvr additive="base">
                                        <p:cTn id="101" dur="500" fill="hold"/>
                                        <p:tgtEl>
                                          <p:spTgt spid="72"/>
                                        </p:tgtEl>
                                        <p:attrNameLst>
                                          <p:attrName>ppt_x</p:attrName>
                                        </p:attrNameLst>
                                      </p:cBhvr>
                                      <p:tavLst>
                                        <p:tav tm="0">
                                          <p:val>
                                            <p:strVal val="#ppt_x"/>
                                          </p:val>
                                        </p:tav>
                                        <p:tav tm="100000">
                                          <p:val>
                                            <p:strVal val="#ppt_x"/>
                                          </p:val>
                                        </p:tav>
                                      </p:tavLst>
                                    </p:anim>
                                    <p:anim calcmode="lin" valueType="num">
                                      <p:cBhvr additive="base">
                                        <p:cTn id="10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1" grpId="1"/>
      <p:bldP spid="71" grpId="2"/>
      <p:bldP spid="71" grpId="3"/>
      <p:bldP spid="72" grpId="0"/>
      <p:bldP spid="72" grpId="1"/>
      <p:bldP spid="72" grpId="2"/>
      <p:bldP spid="72" grpId="3"/>
      <p:bldP spid="72" grpId="4"/>
      <p:bldP spid="72" grpId="5"/>
      <p:bldP spid="72" grpId="6"/>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38B16E4-BE64-BA42-80AC-8322FCEF2D9D}"/>
              </a:ext>
            </a:extLst>
          </p:cNvPr>
          <p:cNvSpPr>
            <a:spLocks noGrp="1"/>
          </p:cNvSpPr>
          <p:nvPr>
            <p:ph type="body" idx="1"/>
          </p:nvPr>
        </p:nvSpPr>
        <p:spPr>
          <a:xfrm>
            <a:off x="456587" y="1981773"/>
            <a:ext cx="2743200" cy="432197"/>
          </a:xfrm>
        </p:spPr>
        <p:txBody>
          <a:bodyPr/>
          <a:lstStyle/>
          <a:p>
            <a:r>
              <a:rPr lang="en-US" dirty="0"/>
              <a:t>What would a human do?</a:t>
            </a:r>
          </a:p>
        </p:txBody>
      </p:sp>
      <p:sp>
        <p:nvSpPr>
          <p:cNvPr id="9" name="Text Placeholder 8">
            <a:extLst>
              <a:ext uri="{FF2B5EF4-FFF2-40B4-BE49-F238E27FC236}">
                <a16:creationId xmlns:a16="http://schemas.microsoft.com/office/drawing/2014/main" id="{6AE1BBF9-3108-2C43-BC4E-8AE87A10C85D}"/>
              </a:ext>
            </a:extLst>
          </p:cNvPr>
          <p:cNvSpPr>
            <a:spLocks noGrp="1"/>
          </p:cNvSpPr>
          <p:nvPr>
            <p:ph type="body" sz="quarter" idx="3"/>
          </p:nvPr>
        </p:nvSpPr>
        <p:spPr>
          <a:xfrm>
            <a:off x="5040954" y="1976986"/>
            <a:ext cx="3826257" cy="432197"/>
          </a:xfrm>
        </p:spPr>
        <p:txBody>
          <a:bodyPr/>
          <a:lstStyle/>
          <a:p>
            <a:r>
              <a:rPr lang="en-US" dirty="0"/>
              <a:t>What would proportional control do?</a:t>
            </a:r>
          </a:p>
        </p:txBody>
      </p:sp>
      <p:sp>
        <p:nvSpPr>
          <p:cNvPr id="10" name="Content Placeholder 9">
            <a:extLst>
              <a:ext uri="{FF2B5EF4-FFF2-40B4-BE49-F238E27FC236}">
                <a16:creationId xmlns:a16="http://schemas.microsoft.com/office/drawing/2014/main" id="{3546CBAA-A446-C240-AB1F-37A8C0D4AA87}"/>
              </a:ext>
            </a:extLst>
          </p:cNvPr>
          <p:cNvSpPr>
            <a:spLocks noGrp="1"/>
          </p:cNvSpPr>
          <p:nvPr>
            <p:ph sz="quarter" idx="4"/>
          </p:nvPr>
        </p:nvSpPr>
        <p:spPr>
          <a:xfrm>
            <a:off x="5620822" y="2542764"/>
            <a:ext cx="3103833" cy="2201249"/>
          </a:xfrm>
        </p:spPr>
        <p:txBody>
          <a:bodyPr/>
          <a:lstStyle/>
          <a:p>
            <a:pPr marL="0" indent="0">
              <a:buNone/>
            </a:pPr>
            <a:r>
              <a:rPr lang="en-US" b="1" dirty="0">
                <a:solidFill>
                  <a:srgbClr val="FF0000"/>
                </a:solidFill>
                <a:sym typeface="Wingdings" pitchFamily="2" charset="2"/>
              </a:rPr>
              <a:t>Turning left/on line  go straight!</a:t>
            </a:r>
          </a:p>
          <a:p>
            <a:pPr marL="0" indent="0">
              <a:buNone/>
            </a:pPr>
            <a:r>
              <a:rPr lang="en-US" b="1" dirty="0">
                <a:solidFill>
                  <a:srgbClr val="FF0000"/>
                </a:solidFill>
                <a:sym typeface="Wingdings" pitchFamily="2" charset="2"/>
              </a:rPr>
              <a:t>Getting further from line  turn left the same amount!</a:t>
            </a:r>
          </a:p>
          <a:p>
            <a:endParaRPr lang="en-US" b="1" dirty="0">
              <a:solidFill>
                <a:srgbClr val="FF0000"/>
              </a:solidFill>
            </a:endParaRPr>
          </a:p>
          <a:p>
            <a:endParaRPr lang="en-US" dirty="0"/>
          </a:p>
        </p:txBody>
      </p:sp>
      <p:sp>
        <p:nvSpPr>
          <p:cNvPr id="33" name="Rectangle 32">
            <a:extLst>
              <a:ext uri="{FF2B5EF4-FFF2-40B4-BE49-F238E27FC236}">
                <a16:creationId xmlns:a16="http://schemas.microsoft.com/office/drawing/2014/main" id="{B41D004B-A1F7-4C42-84EB-8EAC15CBE951}"/>
              </a:ext>
            </a:extLst>
          </p:cNvPr>
          <p:cNvSpPr/>
          <p:nvPr>
            <p:custDataLst>
              <p:tags r:id="rId1"/>
            </p:custDataLst>
          </p:nvPr>
        </p:nvSpPr>
        <p:spPr>
          <a:xfrm>
            <a:off x="4526878" y="4634286"/>
            <a:ext cx="422556" cy="1575867"/>
          </a:xfrm>
          <a:prstGeom prst="rect">
            <a:avLst/>
          </a:prstGeom>
          <a:solidFill>
            <a:srgbClr val="000000"/>
          </a:solidFill>
          <a:ln w="28575" cap="flat" cmpd="sng" algn="ctr">
            <a:noFill/>
            <a:prstDash val="solid"/>
          </a:ln>
          <a:effectLst/>
        </p:spPr>
        <p:txBody>
          <a:bodyPr anchor="ctr"/>
          <a:lstStyle/>
          <a:p>
            <a:pPr algn="ctr" defTabSz="685800">
              <a:defRPr/>
            </a:pPr>
            <a:endParaRPr lang="en-US" sz="1350" kern="0">
              <a:solidFill>
                <a:srgbClr val="FFFFFF"/>
              </a:solidFill>
              <a:latin typeface="Arial"/>
              <a:cs typeface="Arial" charset="0"/>
            </a:endParaRPr>
          </a:p>
        </p:txBody>
      </p:sp>
      <p:sp>
        <p:nvSpPr>
          <p:cNvPr id="44" name="Arc 43">
            <a:extLst>
              <a:ext uri="{FF2B5EF4-FFF2-40B4-BE49-F238E27FC236}">
                <a16:creationId xmlns:a16="http://schemas.microsoft.com/office/drawing/2014/main" id="{A44008F4-6A80-3341-A351-297832A42F24}"/>
              </a:ext>
            </a:extLst>
          </p:cNvPr>
          <p:cNvSpPr/>
          <p:nvPr/>
        </p:nvSpPr>
        <p:spPr>
          <a:xfrm>
            <a:off x="1076234" y="3258624"/>
            <a:ext cx="3656317" cy="3142063"/>
          </a:xfrm>
          <a:prstGeom prst="arc">
            <a:avLst>
              <a:gd name="adj1" fmla="val 16199999"/>
              <a:gd name="adj2" fmla="val 0"/>
            </a:avLst>
          </a:prstGeom>
          <a:ln w="393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nvGrpSpPr>
          <p:cNvPr id="50" name="Group 49">
            <a:extLst>
              <a:ext uri="{FF2B5EF4-FFF2-40B4-BE49-F238E27FC236}">
                <a16:creationId xmlns:a16="http://schemas.microsoft.com/office/drawing/2014/main" id="{D92E5C0F-0124-3848-BF8D-5A04684B9C1C}"/>
              </a:ext>
            </a:extLst>
          </p:cNvPr>
          <p:cNvGrpSpPr/>
          <p:nvPr/>
        </p:nvGrpSpPr>
        <p:grpSpPr>
          <a:xfrm rot="19800000">
            <a:off x="4741744" y="5079188"/>
            <a:ext cx="495419" cy="592948"/>
            <a:chOff x="6310708" y="2223671"/>
            <a:chExt cx="809489" cy="898563"/>
          </a:xfrm>
        </p:grpSpPr>
        <p:sp>
          <p:nvSpPr>
            <p:cNvPr id="51" name="Rounded Rectangle 50">
              <a:extLst>
                <a:ext uri="{FF2B5EF4-FFF2-40B4-BE49-F238E27FC236}">
                  <a16:creationId xmlns:a16="http://schemas.microsoft.com/office/drawing/2014/main" id="{DCAA7A57-6A9D-BC49-94AC-104F1FB6AEBC}"/>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2" name="Rounded Rectangle 51">
              <a:extLst>
                <a:ext uri="{FF2B5EF4-FFF2-40B4-BE49-F238E27FC236}">
                  <a16:creationId xmlns:a16="http://schemas.microsoft.com/office/drawing/2014/main" id="{73F3E965-3EF0-B241-97DF-A6AA82FB67AB}"/>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3" name="Rounded Rectangle 52">
              <a:extLst>
                <a:ext uri="{FF2B5EF4-FFF2-40B4-BE49-F238E27FC236}">
                  <a16:creationId xmlns:a16="http://schemas.microsoft.com/office/drawing/2014/main" id="{168729F7-17AA-5549-95B4-6A853D61FFA1}"/>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4" name="Oval 53">
              <a:extLst>
                <a:ext uri="{FF2B5EF4-FFF2-40B4-BE49-F238E27FC236}">
                  <a16:creationId xmlns:a16="http://schemas.microsoft.com/office/drawing/2014/main" id="{EA00A594-88B5-924B-BEC0-EC5D55F82BB0}"/>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sp>
        <p:nvSpPr>
          <p:cNvPr id="55" name="TextBox 54">
            <a:extLst>
              <a:ext uri="{FF2B5EF4-FFF2-40B4-BE49-F238E27FC236}">
                <a16:creationId xmlns:a16="http://schemas.microsoft.com/office/drawing/2014/main" id="{CC04539C-390A-EA41-9BC6-DF939E5A333D}"/>
              </a:ext>
            </a:extLst>
          </p:cNvPr>
          <p:cNvSpPr txBox="1"/>
          <p:nvPr/>
        </p:nvSpPr>
        <p:spPr>
          <a:xfrm>
            <a:off x="5298240" y="4099809"/>
            <a:ext cx="184731" cy="300082"/>
          </a:xfrm>
          <a:prstGeom prst="rect">
            <a:avLst/>
          </a:prstGeom>
          <a:noFill/>
        </p:spPr>
        <p:txBody>
          <a:bodyPr wrap="none" rtlCol="0">
            <a:spAutoFit/>
          </a:bodyPr>
          <a:lstStyle/>
          <a:p>
            <a:endParaRPr lang="en-US" sz="1350"/>
          </a:p>
        </p:txBody>
      </p:sp>
      <p:grpSp>
        <p:nvGrpSpPr>
          <p:cNvPr id="56" name="Group 55">
            <a:extLst>
              <a:ext uri="{FF2B5EF4-FFF2-40B4-BE49-F238E27FC236}">
                <a16:creationId xmlns:a16="http://schemas.microsoft.com/office/drawing/2014/main" id="{0D7DA794-C2C6-BE46-8C90-70EAF0A6425E}"/>
              </a:ext>
            </a:extLst>
          </p:cNvPr>
          <p:cNvGrpSpPr/>
          <p:nvPr/>
        </p:nvGrpSpPr>
        <p:grpSpPr>
          <a:xfrm>
            <a:off x="4807051" y="4183680"/>
            <a:ext cx="495419" cy="592948"/>
            <a:chOff x="6310708" y="2223671"/>
            <a:chExt cx="809489" cy="898563"/>
          </a:xfrm>
        </p:grpSpPr>
        <p:sp>
          <p:nvSpPr>
            <p:cNvPr id="57" name="Rounded Rectangle 56">
              <a:extLst>
                <a:ext uri="{FF2B5EF4-FFF2-40B4-BE49-F238E27FC236}">
                  <a16:creationId xmlns:a16="http://schemas.microsoft.com/office/drawing/2014/main" id="{D8944207-2D3B-5947-8935-B6B7CE87C9B9}"/>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8" name="Rounded Rectangle 57">
              <a:extLst>
                <a:ext uri="{FF2B5EF4-FFF2-40B4-BE49-F238E27FC236}">
                  <a16:creationId xmlns:a16="http://schemas.microsoft.com/office/drawing/2014/main" id="{994E38F6-F49E-D84F-B018-DACA073777E3}"/>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59" name="Rounded Rectangle 58">
              <a:extLst>
                <a:ext uri="{FF2B5EF4-FFF2-40B4-BE49-F238E27FC236}">
                  <a16:creationId xmlns:a16="http://schemas.microsoft.com/office/drawing/2014/main" id="{5074D9BF-01D0-4542-B267-848D98DCC12A}"/>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0" name="Oval 59">
              <a:extLst>
                <a:ext uri="{FF2B5EF4-FFF2-40B4-BE49-F238E27FC236}">
                  <a16:creationId xmlns:a16="http://schemas.microsoft.com/office/drawing/2014/main" id="{B69ED22E-8222-9A4D-ABB3-36525BE3BE58}"/>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grpSp>
        <p:nvGrpSpPr>
          <p:cNvPr id="61" name="Group 60">
            <a:extLst>
              <a:ext uri="{FF2B5EF4-FFF2-40B4-BE49-F238E27FC236}">
                <a16:creationId xmlns:a16="http://schemas.microsoft.com/office/drawing/2014/main" id="{B9395A15-D61C-1149-8143-CEF1D0DF20F5}"/>
              </a:ext>
            </a:extLst>
          </p:cNvPr>
          <p:cNvGrpSpPr/>
          <p:nvPr/>
        </p:nvGrpSpPr>
        <p:grpSpPr>
          <a:xfrm rot="19800000">
            <a:off x="4581802" y="3466317"/>
            <a:ext cx="495419" cy="592948"/>
            <a:chOff x="6310708" y="2223671"/>
            <a:chExt cx="809489" cy="898563"/>
          </a:xfrm>
        </p:grpSpPr>
        <p:sp>
          <p:nvSpPr>
            <p:cNvPr id="62" name="Rounded Rectangle 61">
              <a:extLst>
                <a:ext uri="{FF2B5EF4-FFF2-40B4-BE49-F238E27FC236}">
                  <a16:creationId xmlns:a16="http://schemas.microsoft.com/office/drawing/2014/main" id="{99E60F5F-A377-144F-8589-11B47F136390}"/>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3" name="Rounded Rectangle 62">
              <a:extLst>
                <a:ext uri="{FF2B5EF4-FFF2-40B4-BE49-F238E27FC236}">
                  <a16:creationId xmlns:a16="http://schemas.microsoft.com/office/drawing/2014/main" id="{452F5B2D-49CA-4941-89BE-406C20E78170}"/>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4" name="Rounded Rectangle 63">
              <a:extLst>
                <a:ext uri="{FF2B5EF4-FFF2-40B4-BE49-F238E27FC236}">
                  <a16:creationId xmlns:a16="http://schemas.microsoft.com/office/drawing/2014/main" id="{5F8307E9-52DC-F44B-9414-2AD11CF87240}"/>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5" name="Oval 64">
              <a:extLst>
                <a:ext uri="{FF2B5EF4-FFF2-40B4-BE49-F238E27FC236}">
                  <a16:creationId xmlns:a16="http://schemas.microsoft.com/office/drawing/2014/main" id="{CCC77194-1A95-B840-BE4B-3E6271048B1A}"/>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grpSp>
        <p:nvGrpSpPr>
          <p:cNvPr id="66" name="Group 65">
            <a:extLst>
              <a:ext uri="{FF2B5EF4-FFF2-40B4-BE49-F238E27FC236}">
                <a16:creationId xmlns:a16="http://schemas.microsoft.com/office/drawing/2014/main" id="{2D5DB333-BC95-A54B-B525-A6059250B7C9}"/>
              </a:ext>
            </a:extLst>
          </p:cNvPr>
          <p:cNvGrpSpPr/>
          <p:nvPr/>
        </p:nvGrpSpPr>
        <p:grpSpPr>
          <a:xfrm rot="18947227">
            <a:off x="4098267" y="2749755"/>
            <a:ext cx="495419" cy="592948"/>
            <a:chOff x="6310708" y="2223671"/>
            <a:chExt cx="809489" cy="898563"/>
          </a:xfrm>
        </p:grpSpPr>
        <p:sp>
          <p:nvSpPr>
            <p:cNvPr id="67" name="Rounded Rectangle 66">
              <a:extLst>
                <a:ext uri="{FF2B5EF4-FFF2-40B4-BE49-F238E27FC236}">
                  <a16:creationId xmlns:a16="http://schemas.microsoft.com/office/drawing/2014/main" id="{AC035C62-9801-BD40-B4AE-BE33A72CD76C}"/>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8" name="Rounded Rectangle 67">
              <a:extLst>
                <a:ext uri="{FF2B5EF4-FFF2-40B4-BE49-F238E27FC236}">
                  <a16:creationId xmlns:a16="http://schemas.microsoft.com/office/drawing/2014/main" id="{217C9161-7133-584B-AABA-B45FAB2655A1}"/>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69" name="Rounded Rectangle 68">
              <a:extLst>
                <a:ext uri="{FF2B5EF4-FFF2-40B4-BE49-F238E27FC236}">
                  <a16:creationId xmlns:a16="http://schemas.microsoft.com/office/drawing/2014/main" id="{1704D0E2-D373-924C-BA36-4C4547194A91}"/>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70" name="Oval 69">
              <a:extLst>
                <a:ext uri="{FF2B5EF4-FFF2-40B4-BE49-F238E27FC236}">
                  <a16:creationId xmlns:a16="http://schemas.microsoft.com/office/drawing/2014/main" id="{20CADBA5-9F0D-3540-959D-9E83FEA4235B}"/>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sp>
        <p:nvSpPr>
          <p:cNvPr id="2" name="Rectangle 1">
            <a:extLst>
              <a:ext uri="{FF2B5EF4-FFF2-40B4-BE49-F238E27FC236}">
                <a16:creationId xmlns:a16="http://schemas.microsoft.com/office/drawing/2014/main" id="{32891B99-6725-2C4E-BC30-A2EE297FBE8F}"/>
              </a:ext>
            </a:extLst>
          </p:cNvPr>
          <p:cNvSpPr/>
          <p:nvPr/>
        </p:nvSpPr>
        <p:spPr>
          <a:xfrm>
            <a:off x="456587" y="4608702"/>
            <a:ext cx="3166215" cy="64755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t>1. Predict what the next sensor reading will be</a:t>
            </a:r>
          </a:p>
        </p:txBody>
      </p:sp>
      <p:sp>
        <p:nvSpPr>
          <p:cNvPr id="71" name="Rectangle 70">
            <a:extLst>
              <a:ext uri="{FF2B5EF4-FFF2-40B4-BE49-F238E27FC236}">
                <a16:creationId xmlns:a16="http://schemas.microsoft.com/office/drawing/2014/main" id="{272C93A7-AAF5-9542-84ED-6F6A08165C02}"/>
              </a:ext>
            </a:extLst>
          </p:cNvPr>
          <p:cNvSpPr/>
          <p:nvPr/>
        </p:nvSpPr>
        <p:spPr>
          <a:xfrm>
            <a:off x="5682777" y="4608702"/>
            <a:ext cx="3166215" cy="64755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t>2. Has past steering fixes helped reduce error?</a:t>
            </a:r>
          </a:p>
        </p:txBody>
      </p:sp>
      <p:sp>
        <p:nvSpPr>
          <p:cNvPr id="3" name="Rectangle 2">
            <a:extLst>
              <a:ext uri="{FF2B5EF4-FFF2-40B4-BE49-F238E27FC236}">
                <a16:creationId xmlns:a16="http://schemas.microsoft.com/office/drawing/2014/main" id="{FEF77313-DEC2-3944-82E9-A8A6590F928C}"/>
              </a:ext>
            </a:extLst>
          </p:cNvPr>
          <p:cNvSpPr/>
          <p:nvPr/>
        </p:nvSpPr>
        <p:spPr>
          <a:xfrm>
            <a:off x="2514410" y="2639556"/>
            <a:ext cx="1285254" cy="11268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itle 11">
            <a:extLst>
              <a:ext uri="{FF2B5EF4-FFF2-40B4-BE49-F238E27FC236}">
                <a16:creationId xmlns:a16="http://schemas.microsoft.com/office/drawing/2014/main" id="{7FC70F47-CA62-5C40-9D83-733A271A5B31}"/>
              </a:ext>
            </a:extLst>
          </p:cNvPr>
          <p:cNvSpPr>
            <a:spLocks noGrp="1"/>
          </p:cNvSpPr>
          <p:nvPr>
            <p:ph type="title"/>
          </p:nvPr>
        </p:nvSpPr>
        <p:spPr/>
        <p:txBody>
          <a:bodyPr/>
          <a:lstStyle/>
          <a:p>
            <a:r>
              <a:rPr lang="en-US" dirty="0"/>
              <a:t>How can we fix Proportional Control?</a:t>
            </a:r>
          </a:p>
        </p:txBody>
      </p:sp>
      <p:sp>
        <p:nvSpPr>
          <p:cNvPr id="8" name="Content Placeholder 7">
            <a:extLst>
              <a:ext uri="{FF2B5EF4-FFF2-40B4-BE49-F238E27FC236}">
                <a16:creationId xmlns:a16="http://schemas.microsoft.com/office/drawing/2014/main" id="{B77CA7A5-2B6E-3F42-97AB-C53C2FF16ED9}"/>
              </a:ext>
            </a:extLst>
          </p:cNvPr>
          <p:cNvSpPr>
            <a:spLocks noGrp="1"/>
          </p:cNvSpPr>
          <p:nvPr>
            <p:ph sz="half" idx="2"/>
          </p:nvPr>
        </p:nvSpPr>
        <p:spPr>
          <a:xfrm>
            <a:off x="458326" y="2458437"/>
            <a:ext cx="3162736" cy="2201249"/>
          </a:xfrm>
        </p:spPr>
        <p:txBody>
          <a:bodyPr/>
          <a:lstStyle/>
          <a:p>
            <a:pPr marL="0" indent="0">
              <a:buNone/>
            </a:pPr>
            <a:r>
              <a:rPr lang="en-US" dirty="0">
                <a:sym typeface="Wingdings" pitchFamily="2" charset="2"/>
              </a:rPr>
              <a:t>Turning left/on line  turn right</a:t>
            </a:r>
          </a:p>
          <a:p>
            <a:pPr marL="0" indent="0">
              <a:buNone/>
            </a:pPr>
            <a:r>
              <a:rPr lang="en-US" dirty="0">
                <a:sym typeface="Wingdings" pitchFamily="2" charset="2"/>
              </a:rPr>
              <a:t>Getting further from line  turn even more!</a:t>
            </a:r>
          </a:p>
          <a:p>
            <a:endParaRPr lang="en-US" dirty="0"/>
          </a:p>
          <a:p>
            <a:pPr marL="0" indent="0">
              <a:buNone/>
            </a:pPr>
            <a:endParaRPr lang="en-US" dirty="0"/>
          </a:p>
        </p:txBody>
      </p:sp>
    </p:spTree>
    <p:extLst>
      <p:ext uri="{BB962C8B-B14F-4D97-AF65-F5344CB8AC3E}">
        <p14:creationId xmlns:p14="http://schemas.microsoft.com/office/powerpoint/2010/main" val="6924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0"/>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8B18F-011D-A647-B265-1FF2DCC9CED7}"/>
              </a:ext>
            </a:extLst>
          </p:cNvPr>
          <p:cNvSpPr>
            <a:spLocks noGrp="1"/>
          </p:cNvSpPr>
          <p:nvPr>
            <p:ph type="title"/>
          </p:nvPr>
        </p:nvSpPr>
        <p:spPr/>
        <p:txBody>
          <a:bodyPr/>
          <a:lstStyle/>
          <a:p>
            <a:r>
              <a:rPr lang="en-US" dirty="0"/>
              <a:t>Integrals and Derivatives</a:t>
            </a:r>
          </a:p>
        </p:txBody>
      </p:sp>
      <p:sp>
        <p:nvSpPr>
          <p:cNvPr id="10" name="Content Placeholder 9">
            <a:extLst>
              <a:ext uri="{FF2B5EF4-FFF2-40B4-BE49-F238E27FC236}">
                <a16:creationId xmlns:a16="http://schemas.microsoft.com/office/drawing/2014/main" id="{6830F17F-917E-3F4A-B800-CC032CCD111E}"/>
              </a:ext>
            </a:extLst>
          </p:cNvPr>
          <p:cNvSpPr>
            <a:spLocks noGrp="1"/>
          </p:cNvSpPr>
          <p:nvPr>
            <p:ph sz="quarter" idx="4"/>
          </p:nvPr>
        </p:nvSpPr>
        <p:spPr>
          <a:xfrm>
            <a:off x="4948414" y="2029539"/>
            <a:ext cx="4059631" cy="4577738"/>
          </a:xfrm>
        </p:spPr>
        <p:txBody>
          <a:bodyPr>
            <a:normAutofit fontScale="77500" lnSpcReduction="20000"/>
          </a:bodyPr>
          <a:lstStyle/>
          <a:p>
            <a:pPr>
              <a:buFont typeface="Arial" panose="020B0604020202020204" pitchFamily="34" charset="0"/>
              <a:buChar char="•"/>
            </a:pPr>
            <a:r>
              <a:rPr lang="en-US" dirty="0">
                <a:sym typeface="Wingdings" pitchFamily="2" charset="2"/>
              </a:rPr>
              <a:t>When the correction is working well, what does error readings look like?</a:t>
            </a:r>
          </a:p>
          <a:p>
            <a:pPr lvl="1">
              <a:buFont typeface="Arial" panose="020B0604020202020204" pitchFamily="34" charset="0"/>
              <a:buChar char="•"/>
            </a:pPr>
            <a:r>
              <a:rPr lang="en-US" dirty="0">
                <a:sym typeface="Wingdings" pitchFamily="2" charset="2"/>
              </a:rPr>
              <a:t>+5, -6, +4 -3….  i.e. bouncing around 0</a:t>
            </a:r>
          </a:p>
          <a:p>
            <a:pPr>
              <a:buFont typeface="Arial" panose="020B0604020202020204" pitchFamily="34" charset="0"/>
              <a:buChar char="•"/>
            </a:pPr>
            <a:r>
              <a:rPr lang="en-US" dirty="0">
                <a:sym typeface="Wingdings" pitchFamily="2" charset="2"/>
              </a:rPr>
              <a:t>When steering is not working, what does error look like?</a:t>
            </a:r>
          </a:p>
          <a:p>
            <a:pPr lvl="1">
              <a:buFont typeface="Arial" panose="020B0604020202020204" pitchFamily="34" charset="0"/>
              <a:buChar char="•"/>
            </a:pPr>
            <a:r>
              <a:rPr lang="en-US" dirty="0">
                <a:sym typeface="Wingdings" pitchFamily="2" charset="2"/>
              </a:rPr>
              <a:t>+5, +5, +6, +5… i.e. always on one side of 0</a:t>
            </a:r>
          </a:p>
          <a:p>
            <a:pPr>
              <a:buFont typeface="Arial" panose="020B0604020202020204" pitchFamily="34" charset="0"/>
              <a:buChar char="•"/>
            </a:pPr>
            <a:r>
              <a:rPr lang="en-US" dirty="0">
                <a:sym typeface="Wingdings" pitchFamily="2" charset="2"/>
              </a:rPr>
              <a:t>How can we detect this easily? </a:t>
            </a:r>
          </a:p>
          <a:p>
            <a:pPr lvl="1">
              <a:buFont typeface="Arial" panose="020B0604020202020204" pitchFamily="34" charset="0"/>
              <a:buChar char="•"/>
            </a:pPr>
            <a:r>
              <a:rPr lang="en-US" dirty="0">
                <a:sym typeface="Wingdings" pitchFamily="2" charset="2"/>
              </a:rPr>
              <a:t>Hint: look at the sum of all past errors</a:t>
            </a:r>
          </a:p>
          <a:p>
            <a:pPr>
              <a:buFont typeface="Arial" panose="020B0604020202020204" pitchFamily="34" charset="0"/>
              <a:buChar char="•"/>
            </a:pPr>
            <a:r>
              <a:rPr lang="en-US" dirty="0">
                <a:sym typeface="Wingdings" pitchFamily="2" charset="2"/>
              </a:rPr>
              <a:t>What is an ideal value for this sum? What does it mean if the sum is large?</a:t>
            </a:r>
          </a:p>
          <a:p>
            <a:pPr>
              <a:buFont typeface="Arial" panose="020B0604020202020204" pitchFamily="34" charset="0"/>
              <a:buChar char="•"/>
            </a:pPr>
            <a:r>
              <a:rPr lang="en-US" dirty="0">
                <a:sym typeface="Wingdings" pitchFamily="2" charset="2"/>
              </a:rPr>
              <a:t>Integral  the “sum” of values</a:t>
            </a:r>
            <a:endParaRPr lang="en-US" dirty="0"/>
          </a:p>
        </p:txBody>
      </p:sp>
      <p:sp>
        <p:nvSpPr>
          <p:cNvPr id="11" name="Rectangle 10">
            <a:extLst>
              <a:ext uri="{FF2B5EF4-FFF2-40B4-BE49-F238E27FC236}">
                <a16:creationId xmlns:a16="http://schemas.microsoft.com/office/drawing/2014/main" id="{DF3AE4A7-FBBB-FB4E-8E4E-3F37F8AADFF0}"/>
              </a:ext>
            </a:extLst>
          </p:cNvPr>
          <p:cNvSpPr/>
          <p:nvPr>
            <p:custDataLst>
              <p:tags r:id="rId1"/>
            </p:custDataLst>
          </p:nvPr>
        </p:nvSpPr>
        <p:spPr>
          <a:xfrm>
            <a:off x="4212391" y="4490369"/>
            <a:ext cx="393192" cy="1360124"/>
          </a:xfrm>
          <a:prstGeom prst="rect">
            <a:avLst/>
          </a:prstGeom>
          <a:solidFill>
            <a:srgbClr val="000000"/>
          </a:solidFill>
          <a:ln w="28575" cap="flat" cmpd="sng" algn="ctr">
            <a:noFill/>
            <a:prstDash val="solid"/>
          </a:ln>
          <a:effectLst/>
        </p:spPr>
        <p:txBody>
          <a:bodyPr anchor="ctr"/>
          <a:lstStyle/>
          <a:p>
            <a:pPr algn="ctr" defTabSz="685800">
              <a:defRPr/>
            </a:pPr>
            <a:endParaRPr lang="en-US" sz="1350" kern="0" dirty="0">
              <a:solidFill>
                <a:srgbClr val="FFFFFF"/>
              </a:solidFill>
              <a:latin typeface="Arial"/>
              <a:cs typeface="Arial" charset="0"/>
            </a:endParaRPr>
          </a:p>
        </p:txBody>
      </p:sp>
      <p:sp>
        <p:nvSpPr>
          <p:cNvPr id="12" name="Arc 11">
            <a:extLst>
              <a:ext uri="{FF2B5EF4-FFF2-40B4-BE49-F238E27FC236}">
                <a16:creationId xmlns:a16="http://schemas.microsoft.com/office/drawing/2014/main" id="{3EC29332-D3EA-464B-8E3F-F7A08CBFEB3E}"/>
              </a:ext>
            </a:extLst>
          </p:cNvPr>
          <p:cNvSpPr/>
          <p:nvPr/>
        </p:nvSpPr>
        <p:spPr>
          <a:xfrm>
            <a:off x="751370" y="2919582"/>
            <a:ext cx="3656317" cy="3142063"/>
          </a:xfrm>
          <a:prstGeom prst="arc">
            <a:avLst>
              <a:gd name="adj1" fmla="val 16199999"/>
              <a:gd name="adj2" fmla="val 0"/>
            </a:avLst>
          </a:prstGeom>
          <a:ln w="3937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3A08A2D-92D0-0B43-8163-752FE9AC651C}"/>
              </a:ext>
            </a:extLst>
          </p:cNvPr>
          <p:cNvGrpSpPr/>
          <p:nvPr/>
        </p:nvGrpSpPr>
        <p:grpSpPr>
          <a:xfrm rot="19800000">
            <a:off x="4416880" y="4740146"/>
            <a:ext cx="495419" cy="592948"/>
            <a:chOff x="6310708" y="2223671"/>
            <a:chExt cx="809489" cy="898563"/>
          </a:xfrm>
        </p:grpSpPr>
        <p:sp>
          <p:nvSpPr>
            <p:cNvPr id="14" name="Rounded Rectangle 13">
              <a:extLst>
                <a:ext uri="{FF2B5EF4-FFF2-40B4-BE49-F238E27FC236}">
                  <a16:creationId xmlns:a16="http://schemas.microsoft.com/office/drawing/2014/main" id="{96A59CF6-16A1-B447-BCB3-349402ABDD56}"/>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15" name="Rounded Rectangle 14">
              <a:extLst>
                <a:ext uri="{FF2B5EF4-FFF2-40B4-BE49-F238E27FC236}">
                  <a16:creationId xmlns:a16="http://schemas.microsoft.com/office/drawing/2014/main" id="{CEA59158-BDF7-E74C-B92C-69166696B40A}"/>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16" name="Rounded Rectangle 15">
              <a:extLst>
                <a:ext uri="{FF2B5EF4-FFF2-40B4-BE49-F238E27FC236}">
                  <a16:creationId xmlns:a16="http://schemas.microsoft.com/office/drawing/2014/main" id="{3B3799FD-77D2-B64F-B115-6D67E79705A9}"/>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17" name="Oval 16">
              <a:extLst>
                <a:ext uri="{FF2B5EF4-FFF2-40B4-BE49-F238E27FC236}">
                  <a16:creationId xmlns:a16="http://schemas.microsoft.com/office/drawing/2014/main" id="{97B47AD2-F584-884F-888C-31081C699994}"/>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sp>
        <p:nvSpPr>
          <p:cNvPr id="18" name="TextBox 17">
            <a:extLst>
              <a:ext uri="{FF2B5EF4-FFF2-40B4-BE49-F238E27FC236}">
                <a16:creationId xmlns:a16="http://schemas.microsoft.com/office/drawing/2014/main" id="{A18CC231-14BC-6545-A2DA-0FAE27DEFC28}"/>
              </a:ext>
            </a:extLst>
          </p:cNvPr>
          <p:cNvSpPr txBox="1"/>
          <p:nvPr/>
        </p:nvSpPr>
        <p:spPr>
          <a:xfrm>
            <a:off x="5085163" y="3238077"/>
            <a:ext cx="184731" cy="300082"/>
          </a:xfrm>
          <a:prstGeom prst="rect">
            <a:avLst/>
          </a:prstGeom>
          <a:noFill/>
        </p:spPr>
        <p:txBody>
          <a:bodyPr wrap="none" rtlCol="0">
            <a:spAutoFit/>
          </a:bodyPr>
          <a:lstStyle/>
          <a:p>
            <a:endParaRPr lang="en-US" sz="1350"/>
          </a:p>
        </p:txBody>
      </p:sp>
      <p:grpSp>
        <p:nvGrpSpPr>
          <p:cNvPr id="19" name="Group 18">
            <a:extLst>
              <a:ext uri="{FF2B5EF4-FFF2-40B4-BE49-F238E27FC236}">
                <a16:creationId xmlns:a16="http://schemas.microsoft.com/office/drawing/2014/main" id="{1E178748-FB36-2044-BD4A-E3D917EF334B}"/>
              </a:ext>
            </a:extLst>
          </p:cNvPr>
          <p:cNvGrpSpPr/>
          <p:nvPr/>
        </p:nvGrpSpPr>
        <p:grpSpPr>
          <a:xfrm>
            <a:off x="4482187" y="3844638"/>
            <a:ext cx="495419" cy="592948"/>
            <a:chOff x="6310708" y="2223671"/>
            <a:chExt cx="809489" cy="898563"/>
          </a:xfrm>
        </p:grpSpPr>
        <p:sp>
          <p:nvSpPr>
            <p:cNvPr id="20" name="Rounded Rectangle 19">
              <a:extLst>
                <a:ext uri="{FF2B5EF4-FFF2-40B4-BE49-F238E27FC236}">
                  <a16:creationId xmlns:a16="http://schemas.microsoft.com/office/drawing/2014/main" id="{F17B2C61-783C-1E41-BC62-190920FDCC18}"/>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21" name="Rounded Rectangle 20">
              <a:extLst>
                <a:ext uri="{FF2B5EF4-FFF2-40B4-BE49-F238E27FC236}">
                  <a16:creationId xmlns:a16="http://schemas.microsoft.com/office/drawing/2014/main" id="{ED43987C-27F1-6B40-89DC-7C14195D3E73}"/>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22" name="Rounded Rectangle 21">
              <a:extLst>
                <a:ext uri="{FF2B5EF4-FFF2-40B4-BE49-F238E27FC236}">
                  <a16:creationId xmlns:a16="http://schemas.microsoft.com/office/drawing/2014/main" id="{BE489E40-24C5-2040-B7B7-9E7749216E76}"/>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23" name="Oval 22">
              <a:extLst>
                <a:ext uri="{FF2B5EF4-FFF2-40B4-BE49-F238E27FC236}">
                  <a16:creationId xmlns:a16="http://schemas.microsoft.com/office/drawing/2014/main" id="{FE84017F-F69B-2C4D-BB09-2255BA071287}"/>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grpSp>
        <p:nvGrpSpPr>
          <p:cNvPr id="24" name="Group 23">
            <a:extLst>
              <a:ext uri="{FF2B5EF4-FFF2-40B4-BE49-F238E27FC236}">
                <a16:creationId xmlns:a16="http://schemas.microsoft.com/office/drawing/2014/main" id="{C09675D6-68C3-A94B-B9DE-826CB4349A8E}"/>
              </a:ext>
            </a:extLst>
          </p:cNvPr>
          <p:cNvGrpSpPr/>
          <p:nvPr/>
        </p:nvGrpSpPr>
        <p:grpSpPr>
          <a:xfrm rot="19800000">
            <a:off x="4256938" y="3127275"/>
            <a:ext cx="495419" cy="592948"/>
            <a:chOff x="6310708" y="2223671"/>
            <a:chExt cx="809489" cy="898563"/>
          </a:xfrm>
        </p:grpSpPr>
        <p:sp>
          <p:nvSpPr>
            <p:cNvPr id="25" name="Rounded Rectangle 24">
              <a:extLst>
                <a:ext uri="{FF2B5EF4-FFF2-40B4-BE49-F238E27FC236}">
                  <a16:creationId xmlns:a16="http://schemas.microsoft.com/office/drawing/2014/main" id="{A08B9872-0951-F543-A539-5CCE9F0907AE}"/>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26" name="Rounded Rectangle 25">
              <a:extLst>
                <a:ext uri="{FF2B5EF4-FFF2-40B4-BE49-F238E27FC236}">
                  <a16:creationId xmlns:a16="http://schemas.microsoft.com/office/drawing/2014/main" id="{73CA6DB2-1B30-344F-BC0B-6265F7E62EB6}"/>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27" name="Rounded Rectangle 26">
              <a:extLst>
                <a:ext uri="{FF2B5EF4-FFF2-40B4-BE49-F238E27FC236}">
                  <a16:creationId xmlns:a16="http://schemas.microsoft.com/office/drawing/2014/main" id="{C4126E7F-0333-0A42-8F19-F5B47EC6553B}"/>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28" name="Oval 27">
              <a:extLst>
                <a:ext uri="{FF2B5EF4-FFF2-40B4-BE49-F238E27FC236}">
                  <a16:creationId xmlns:a16="http://schemas.microsoft.com/office/drawing/2014/main" id="{AB980F73-0190-CC42-951E-36FD4BCA2242}"/>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grpSp>
        <p:nvGrpSpPr>
          <p:cNvPr id="29" name="Group 28">
            <a:extLst>
              <a:ext uri="{FF2B5EF4-FFF2-40B4-BE49-F238E27FC236}">
                <a16:creationId xmlns:a16="http://schemas.microsoft.com/office/drawing/2014/main" id="{AB5B58ED-89B0-2647-B363-934FCB7FE493}"/>
              </a:ext>
            </a:extLst>
          </p:cNvPr>
          <p:cNvGrpSpPr/>
          <p:nvPr/>
        </p:nvGrpSpPr>
        <p:grpSpPr>
          <a:xfrm rot="18947227">
            <a:off x="3773403" y="2410713"/>
            <a:ext cx="495419" cy="592948"/>
            <a:chOff x="6310708" y="2223671"/>
            <a:chExt cx="809489" cy="898563"/>
          </a:xfrm>
        </p:grpSpPr>
        <p:sp>
          <p:nvSpPr>
            <p:cNvPr id="30" name="Rounded Rectangle 29">
              <a:extLst>
                <a:ext uri="{FF2B5EF4-FFF2-40B4-BE49-F238E27FC236}">
                  <a16:creationId xmlns:a16="http://schemas.microsoft.com/office/drawing/2014/main" id="{05B39603-53C2-684A-994B-B5C35D957F58}"/>
                </a:ext>
              </a:extLst>
            </p:cNvPr>
            <p:cNvSpPr/>
            <p:nvPr/>
          </p:nvSpPr>
          <p:spPr>
            <a:xfrm>
              <a:off x="6451830" y="2223671"/>
              <a:ext cx="519438" cy="898563"/>
            </a:xfrm>
            <a:prstGeom prst="roundRect">
              <a:avLst/>
            </a:prstGeom>
            <a:solidFill>
              <a:srgbClr val="DC5924">
                <a:lumMod val="60000"/>
                <a:lumOff val="4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31" name="Rounded Rectangle 30">
              <a:extLst>
                <a:ext uri="{FF2B5EF4-FFF2-40B4-BE49-F238E27FC236}">
                  <a16:creationId xmlns:a16="http://schemas.microsoft.com/office/drawing/2014/main" id="{633FBE14-BDDF-074C-9A3D-95DEA6B69515}"/>
                </a:ext>
              </a:extLst>
            </p:cNvPr>
            <p:cNvSpPr/>
            <p:nvPr/>
          </p:nvSpPr>
          <p:spPr>
            <a:xfrm>
              <a:off x="6979076"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32" name="Rounded Rectangle 31">
              <a:extLst>
                <a:ext uri="{FF2B5EF4-FFF2-40B4-BE49-F238E27FC236}">
                  <a16:creationId xmlns:a16="http://schemas.microsoft.com/office/drawing/2014/main" id="{67FE9521-9EE0-C64B-A3E4-929FB05C1B08}"/>
                </a:ext>
              </a:extLst>
            </p:cNvPr>
            <p:cNvSpPr/>
            <p:nvPr/>
          </p:nvSpPr>
          <p:spPr>
            <a:xfrm>
              <a:off x="6310708" y="2525434"/>
              <a:ext cx="141121" cy="295036"/>
            </a:xfrm>
            <a:prstGeom prst="roundRect">
              <a:avLst/>
            </a:prstGeom>
            <a:solidFill>
              <a:srgbClr val="B4B392">
                <a:satMod val="110000"/>
              </a:srgbClr>
            </a:solidFill>
            <a:ln w="12700" cap="flat" cmpd="sng" algn="ctr">
              <a:solidFill>
                <a:srgbClr val="000000"/>
              </a:solidFill>
              <a:prstDash val="solid"/>
            </a:ln>
            <a:effectLst/>
          </p:spPr>
          <p:txBody>
            <a:bodyPr rtlCol="0" anchor="ctr"/>
            <a:lstStyle/>
            <a:p>
              <a:pPr algn="ctr" defTabSz="685800">
                <a:defRPr/>
              </a:pPr>
              <a:endParaRPr lang="en-US" sz="1350" kern="0">
                <a:solidFill>
                  <a:srgbClr val="FFFFFF"/>
                </a:solidFill>
                <a:latin typeface="Arial"/>
              </a:endParaRPr>
            </a:p>
          </p:txBody>
        </p:sp>
        <p:sp>
          <p:nvSpPr>
            <p:cNvPr id="33" name="Oval 32">
              <a:extLst>
                <a:ext uri="{FF2B5EF4-FFF2-40B4-BE49-F238E27FC236}">
                  <a16:creationId xmlns:a16="http://schemas.microsoft.com/office/drawing/2014/main" id="{C4E4467A-DDC6-4348-A83B-EE4821F4D1F9}"/>
                </a:ext>
              </a:extLst>
            </p:cNvPr>
            <p:cNvSpPr>
              <a:spLocks noChangeAspect="1"/>
            </p:cNvSpPr>
            <p:nvPr/>
          </p:nvSpPr>
          <p:spPr>
            <a:xfrm>
              <a:off x="6621904" y="2247641"/>
              <a:ext cx="179290" cy="166284"/>
            </a:xfrm>
            <a:prstGeom prst="ellipse">
              <a:avLst/>
            </a:prstGeom>
            <a:solidFill>
              <a:srgbClr val="FF0000"/>
            </a:solidFill>
            <a:ln w="12700" cap="flat" cmpd="sng" algn="ctr">
              <a:solidFill>
                <a:srgbClr val="7A7A7A">
                  <a:shade val="95000"/>
                  <a:satMod val="105000"/>
                </a:srgbClr>
              </a:solidFill>
              <a:prstDash val="solid"/>
            </a:ln>
            <a:effectLst/>
          </p:spPr>
          <p:txBody>
            <a:bodyPr rtlCol="0" anchor="ctr"/>
            <a:lstStyle/>
            <a:p>
              <a:pPr algn="ctr" defTabSz="685800">
                <a:defRPr/>
              </a:pPr>
              <a:endParaRPr lang="en-US" sz="1350" kern="0">
                <a:solidFill>
                  <a:srgbClr val="FFFFFF"/>
                </a:solidFill>
                <a:latin typeface="Arial"/>
              </a:endParaRPr>
            </a:p>
          </p:txBody>
        </p:sp>
      </p:grpSp>
      <p:sp>
        <p:nvSpPr>
          <p:cNvPr id="34" name="Rectangle 33">
            <a:extLst>
              <a:ext uri="{FF2B5EF4-FFF2-40B4-BE49-F238E27FC236}">
                <a16:creationId xmlns:a16="http://schemas.microsoft.com/office/drawing/2014/main" id="{E20FE1C4-09AC-D14A-9195-A750D55D780D}"/>
              </a:ext>
            </a:extLst>
          </p:cNvPr>
          <p:cNvSpPr/>
          <p:nvPr/>
        </p:nvSpPr>
        <p:spPr>
          <a:xfrm>
            <a:off x="168001" y="1371595"/>
            <a:ext cx="3755517" cy="64755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t>1. Predict what the next sensor reading will be?</a:t>
            </a:r>
          </a:p>
        </p:txBody>
      </p:sp>
      <p:sp>
        <p:nvSpPr>
          <p:cNvPr id="35" name="Rectangle 34">
            <a:extLst>
              <a:ext uri="{FF2B5EF4-FFF2-40B4-BE49-F238E27FC236}">
                <a16:creationId xmlns:a16="http://schemas.microsoft.com/office/drawing/2014/main" id="{F7E975CF-3F3D-9845-9166-4A726A95E464}"/>
              </a:ext>
            </a:extLst>
          </p:cNvPr>
          <p:cNvSpPr/>
          <p:nvPr/>
        </p:nvSpPr>
        <p:spPr>
          <a:xfrm>
            <a:off x="5205262" y="1371595"/>
            <a:ext cx="3755517" cy="64755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t>2. Have past steering fixes helped reduce error?</a:t>
            </a:r>
          </a:p>
        </p:txBody>
      </p:sp>
      <p:sp>
        <p:nvSpPr>
          <p:cNvPr id="36" name="Rectangle 35">
            <a:extLst>
              <a:ext uri="{FF2B5EF4-FFF2-40B4-BE49-F238E27FC236}">
                <a16:creationId xmlns:a16="http://schemas.microsoft.com/office/drawing/2014/main" id="{26E6D93E-C842-834B-A4E1-78E8BE7556CE}"/>
              </a:ext>
            </a:extLst>
          </p:cNvPr>
          <p:cNvSpPr/>
          <p:nvPr/>
        </p:nvSpPr>
        <p:spPr>
          <a:xfrm>
            <a:off x="2045760" y="2439126"/>
            <a:ext cx="1285254" cy="8819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7">
            <a:extLst>
              <a:ext uri="{FF2B5EF4-FFF2-40B4-BE49-F238E27FC236}">
                <a16:creationId xmlns:a16="http://schemas.microsoft.com/office/drawing/2014/main" id="{1EC5F1F4-E397-1E49-B510-1B2754CD68EA}"/>
              </a:ext>
            </a:extLst>
          </p:cNvPr>
          <p:cNvSpPr>
            <a:spLocks noGrp="1"/>
          </p:cNvSpPr>
          <p:nvPr>
            <p:ph sz="half" idx="2"/>
          </p:nvPr>
        </p:nvSpPr>
        <p:spPr>
          <a:xfrm>
            <a:off x="135954" y="2019152"/>
            <a:ext cx="3296899" cy="3225627"/>
          </a:xfrm>
        </p:spPr>
        <p:txBody>
          <a:bodyPr>
            <a:normAutofit fontScale="92500" lnSpcReduction="10000"/>
          </a:bodyPr>
          <a:lstStyle/>
          <a:p>
            <a:pPr>
              <a:buFont typeface="Arial" panose="020B0604020202020204" pitchFamily="34" charset="0"/>
              <a:buChar char="•"/>
            </a:pPr>
            <a:r>
              <a:rPr lang="en-US" dirty="0">
                <a:sym typeface="Wingdings" pitchFamily="2" charset="2"/>
              </a:rPr>
              <a:t>If readings are: 75, 65, 55  what do you think the next reading will be?</a:t>
            </a:r>
          </a:p>
          <a:p>
            <a:pPr lvl="1">
              <a:buFont typeface="Arial" panose="020B0604020202020204" pitchFamily="34" charset="0"/>
              <a:buChar char="•"/>
            </a:pPr>
            <a:r>
              <a:rPr lang="en-US" dirty="0">
                <a:sym typeface="Wingdings" pitchFamily="2" charset="2"/>
              </a:rPr>
              <a:t>What if the readings were 57, 56, 55…</a:t>
            </a:r>
          </a:p>
          <a:p>
            <a:pPr>
              <a:buFont typeface="Arial" panose="020B0604020202020204" pitchFamily="34" charset="0"/>
              <a:buChar char="•"/>
            </a:pPr>
            <a:r>
              <a:rPr lang="en-US" dirty="0">
                <a:sym typeface="Wingdings" pitchFamily="2" charset="2"/>
              </a:rPr>
              <a:t>What information did you use to guess?</a:t>
            </a:r>
          </a:p>
          <a:p>
            <a:pPr>
              <a:buFont typeface="Arial" panose="020B0604020202020204" pitchFamily="34" charset="0"/>
              <a:buChar char="•"/>
            </a:pPr>
            <a:r>
              <a:rPr lang="en-US" dirty="0">
                <a:sym typeface="Wingdings" pitchFamily="2" charset="2"/>
              </a:rPr>
              <a:t>Derivative  the rate at which a value is changing</a:t>
            </a: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220774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2F0872-E8BE-CA4D-A3D6-13314213515F}"/>
              </a:ext>
            </a:extLst>
          </p:cNvPr>
          <p:cNvSpPr>
            <a:spLocks noGrp="1"/>
          </p:cNvSpPr>
          <p:nvPr>
            <p:ph idx="1"/>
          </p:nvPr>
        </p:nvSpPr>
        <p:spPr/>
        <p:txBody>
          <a:bodyPr/>
          <a:lstStyle/>
          <a:p>
            <a:r>
              <a:rPr lang="en-US" b="1" u="sng" dirty="0">
                <a:solidFill>
                  <a:srgbClr val="FF0000"/>
                </a:solidFill>
              </a:rPr>
              <a:t>P</a:t>
            </a:r>
            <a:r>
              <a:rPr lang="en-US" dirty="0"/>
              <a:t>roportional [Error] </a:t>
            </a:r>
            <a:r>
              <a:rPr lang="en-US" dirty="0">
                <a:sym typeface="Wingdings" pitchFamily="2" charset="2"/>
              </a:rPr>
              <a:t> How bad is the situation now?</a:t>
            </a:r>
            <a:endParaRPr lang="en-US" dirty="0"/>
          </a:p>
          <a:p>
            <a:r>
              <a:rPr lang="en-US" b="1" u="sng" dirty="0">
                <a:solidFill>
                  <a:srgbClr val="FF0000"/>
                </a:solidFill>
              </a:rPr>
              <a:t>I</a:t>
            </a:r>
            <a:r>
              <a:rPr lang="en-US" dirty="0"/>
              <a:t>ntegral </a:t>
            </a:r>
            <a:r>
              <a:rPr lang="en-US" dirty="0">
                <a:sym typeface="Wingdings" pitchFamily="2" charset="2"/>
              </a:rPr>
              <a:t> Have my past fixes helped fix things?</a:t>
            </a:r>
            <a:endParaRPr lang="en-US" dirty="0"/>
          </a:p>
          <a:p>
            <a:r>
              <a:rPr lang="en-US" b="1" u="sng" dirty="0">
                <a:solidFill>
                  <a:srgbClr val="FF0000"/>
                </a:solidFill>
              </a:rPr>
              <a:t>D</a:t>
            </a:r>
            <a:r>
              <a:rPr lang="en-US" dirty="0"/>
              <a:t>erivative </a:t>
            </a:r>
            <a:r>
              <a:rPr lang="en-US" dirty="0">
                <a:sym typeface="Wingdings" pitchFamily="2" charset="2"/>
              </a:rPr>
              <a:t> How is the situation changing? </a:t>
            </a:r>
          </a:p>
          <a:p>
            <a:r>
              <a:rPr lang="en-US" dirty="0">
                <a:sym typeface="Wingdings" pitchFamily="2" charset="2"/>
              </a:rPr>
              <a:t>PID control  combine the error, integral and derivative values to decide how to steer the robot</a:t>
            </a:r>
          </a:p>
        </p:txBody>
      </p:sp>
      <p:sp>
        <p:nvSpPr>
          <p:cNvPr id="2" name="Title 1">
            <a:extLst>
              <a:ext uri="{FF2B5EF4-FFF2-40B4-BE49-F238E27FC236}">
                <a16:creationId xmlns:a16="http://schemas.microsoft.com/office/drawing/2014/main" id="{4402BD92-8E35-9446-8450-299F5F4F9A76}"/>
              </a:ext>
            </a:extLst>
          </p:cNvPr>
          <p:cNvSpPr>
            <a:spLocks noGrp="1"/>
          </p:cNvSpPr>
          <p:nvPr>
            <p:ph type="title"/>
          </p:nvPr>
        </p:nvSpPr>
        <p:spPr/>
        <p:txBody>
          <a:bodyPr/>
          <a:lstStyle/>
          <a:p>
            <a:r>
              <a:rPr lang="en-US" dirty="0"/>
              <a:t>What is PID?   </a:t>
            </a:r>
          </a:p>
        </p:txBody>
      </p:sp>
    </p:spTree>
    <p:extLst>
      <p:ext uri="{BB962C8B-B14F-4D97-AF65-F5344CB8AC3E}">
        <p14:creationId xmlns:p14="http://schemas.microsoft.com/office/powerpoint/2010/main" val="948518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82DEA-5D93-784D-9CC4-FB20DC8059F8}"/>
              </a:ext>
            </a:extLst>
          </p:cNvPr>
          <p:cNvSpPr>
            <a:spLocks noGrp="1"/>
          </p:cNvSpPr>
          <p:nvPr>
            <p:ph idx="1"/>
          </p:nvPr>
        </p:nvSpPr>
        <p:spPr>
          <a:xfrm>
            <a:off x="300280" y="1624877"/>
            <a:ext cx="8628255" cy="1036496"/>
          </a:xfrm>
        </p:spPr>
        <p:txBody>
          <a:bodyPr>
            <a:normAutofit fontScale="92500"/>
          </a:bodyPr>
          <a:lstStyle/>
          <a:p>
            <a:r>
              <a:rPr lang="en-US" dirty="0"/>
              <a:t>Solid line represents what you have seen, dotted line is the future</a:t>
            </a:r>
          </a:p>
          <a:p>
            <a:r>
              <a:rPr lang="en-US" dirty="0"/>
              <a:t>At time 20, you see light reading = 40 and error = -10 (red </a:t>
            </a:r>
            <a:r>
              <a:rPr lang="en-US" dirty="0">
                <a:solidFill>
                  <a:srgbClr val="FF0000"/>
                </a:solidFill>
              </a:rPr>
              <a:t>X</a:t>
            </a:r>
            <a:r>
              <a:rPr lang="en-US" dirty="0"/>
              <a:t>)</a:t>
            </a:r>
          </a:p>
        </p:txBody>
      </p:sp>
      <p:sp>
        <p:nvSpPr>
          <p:cNvPr id="2" name="Title 1">
            <a:extLst>
              <a:ext uri="{FF2B5EF4-FFF2-40B4-BE49-F238E27FC236}">
                <a16:creationId xmlns:a16="http://schemas.microsoft.com/office/drawing/2014/main" id="{8266187B-6AE4-2943-97EC-D0A0590F50F1}"/>
              </a:ext>
            </a:extLst>
          </p:cNvPr>
          <p:cNvSpPr>
            <a:spLocks noGrp="1"/>
          </p:cNvSpPr>
          <p:nvPr>
            <p:ph type="title"/>
          </p:nvPr>
        </p:nvSpPr>
        <p:spPr/>
        <p:txBody>
          <a:bodyPr/>
          <a:lstStyle/>
          <a:p>
            <a:r>
              <a:rPr lang="en-US" dirty="0"/>
              <a:t>Error</a:t>
            </a:r>
          </a:p>
        </p:txBody>
      </p:sp>
      <p:graphicFrame>
        <p:nvGraphicFramePr>
          <p:cNvPr id="12" name="Chart 11">
            <a:extLst>
              <a:ext uri="{FF2B5EF4-FFF2-40B4-BE49-F238E27FC236}">
                <a16:creationId xmlns:a16="http://schemas.microsoft.com/office/drawing/2014/main" id="{AAC408A9-1E9A-0244-8B63-A42BEAA2EB43}"/>
              </a:ext>
            </a:extLst>
          </p:cNvPr>
          <p:cNvGraphicFramePr>
            <a:graphicFrameLocks/>
          </p:cNvGraphicFramePr>
          <p:nvPr/>
        </p:nvGraphicFramePr>
        <p:xfrm>
          <a:off x="5013487" y="3097530"/>
          <a:ext cx="3771900" cy="2468880"/>
        </p:xfrm>
        <a:graphic>
          <a:graphicData uri="http://schemas.openxmlformats.org/drawingml/2006/chart">
            <c:chart xmlns:c="http://schemas.openxmlformats.org/drawingml/2006/chart" xmlns:r="http://schemas.openxmlformats.org/officeDocument/2006/relationships" r:id="rId2"/>
          </a:graphicData>
        </a:graphic>
      </p:graphicFrame>
      <p:sp>
        <p:nvSpPr>
          <p:cNvPr id="7" name="Right Arrow 6">
            <a:extLst>
              <a:ext uri="{FF2B5EF4-FFF2-40B4-BE49-F238E27FC236}">
                <a16:creationId xmlns:a16="http://schemas.microsoft.com/office/drawing/2014/main" id="{57CAD7D0-EBDA-D742-877F-BECB8BA4E22B}"/>
              </a:ext>
            </a:extLst>
          </p:cNvPr>
          <p:cNvSpPr/>
          <p:nvPr/>
        </p:nvSpPr>
        <p:spPr>
          <a:xfrm>
            <a:off x="4199692" y="4095231"/>
            <a:ext cx="728663" cy="5572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4" name="Chart 13">
            <a:extLst>
              <a:ext uri="{FF2B5EF4-FFF2-40B4-BE49-F238E27FC236}">
                <a16:creationId xmlns:a16="http://schemas.microsoft.com/office/drawing/2014/main" id="{8F851716-A5CB-D34E-A0B0-C50126D8D7D7}"/>
              </a:ext>
            </a:extLst>
          </p:cNvPr>
          <p:cNvGraphicFramePr>
            <a:graphicFrameLocks/>
          </p:cNvGraphicFramePr>
          <p:nvPr/>
        </p:nvGraphicFramePr>
        <p:xfrm>
          <a:off x="448091" y="3097530"/>
          <a:ext cx="377190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8364F721-6F62-2043-8548-2B5954CDC5BF}"/>
              </a:ext>
            </a:extLst>
          </p:cNvPr>
          <p:cNvSpPr txBox="1"/>
          <p:nvPr/>
        </p:nvSpPr>
        <p:spPr>
          <a:xfrm>
            <a:off x="4091075" y="3608439"/>
            <a:ext cx="933269" cy="507831"/>
          </a:xfrm>
          <a:prstGeom prst="rect">
            <a:avLst/>
          </a:prstGeom>
          <a:noFill/>
        </p:spPr>
        <p:txBody>
          <a:bodyPr wrap="none" rtlCol="0">
            <a:spAutoFit/>
          </a:bodyPr>
          <a:lstStyle/>
          <a:p>
            <a:pPr algn="ctr"/>
            <a:r>
              <a:rPr lang="en-US" sz="1350" dirty="0"/>
              <a:t>Subtract </a:t>
            </a:r>
            <a:br>
              <a:rPr lang="en-US" sz="1350" dirty="0"/>
            </a:br>
            <a:r>
              <a:rPr lang="en-US" sz="1350" dirty="0"/>
              <a:t>target (50)</a:t>
            </a:r>
          </a:p>
        </p:txBody>
      </p:sp>
      <p:cxnSp>
        <p:nvCxnSpPr>
          <p:cNvPr id="13" name="Straight Connector 12">
            <a:extLst>
              <a:ext uri="{FF2B5EF4-FFF2-40B4-BE49-F238E27FC236}">
                <a16:creationId xmlns:a16="http://schemas.microsoft.com/office/drawing/2014/main" id="{328BCB5E-6B7B-5F45-A150-A6BBBC04AE9A}"/>
              </a:ext>
            </a:extLst>
          </p:cNvPr>
          <p:cNvCxnSpPr>
            <a:cxnSpLocks/>
          </p:cNvCxnSpPr>
          <p:nvPr/>
        </p:nvCxnSpPr>
        <p:spPr>
          <a:xfrm>
            <a:off x="5459834" y="4581820"/>
            <a:ext cx="30882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28BCB5E-6B7B-5F45-A150-A6BBBC04AE9A}"/>
              </a:ext>
            </a:extLst>
          </p:cNvPr>
          <p:cNvCxnSpPr>
            <a:cxnSpLocks/>
          </p:cNvCxnSpPr>
          <p:nvPr/>
        </p:nvCxnSpPr>
        <p:spPr>
          <a:xfrm>
            <a:off x="913199" y="4581820"/>
            <a:ext cx="3062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4117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3E60EA-A85E-1A4A-83E8-C701B846CAC6}"/>
              </a:ext>
            </a:extLst>
          </p:cNvPr>
          <p:cNvSpPr>
            <a:spLocks noGrp="1"/>
          </p:cNvSpPr>
          <p:nvPr>
            <p:ph idx="1"/>
          </p:nvPr>
        </p:nvSpPr>
        <p:spPr>
          <a:xfrm>
            <a:off x="448092" y="1986439"/>
            <a:ext cx="3883277" cy="3264911"/>
          </a:xfrm>
        </p:spPr>
        <p:txBody>
          <a:bodyPr>
            <a:normAutofit/>
          </a:bodyPr>
          <a:lstStyle/>
          <a:p>
            <a:r>
              <a:rPr lang="en-US" dirty="0"/>
              <a:t>Looks at past history of line follower</a:t>
            </a:r>
          </a:p>
          <a:p>
            <a:r>
              <a:rPr lang="en-US" dirty="0"/>
              <a:t>Sum of past error</a:t>
            </a:r>
          </a:p>
          <a:p>
            <a:r>
              <a:rPr lang="en-US" dirty="0">
                <a:sym typeface="Wingdings" pitchFamily="2" charset="2"/>
              </a:rPr>
              <a:t>Like area under the curve in graph (integral)</a:t>
            </a:r>
          </a:p>
          <a:p>
            <a:pPr lvl="1"/>
            <a:r>
              <a:rPr lang="en-US" dirty="0">
                <a:sym typeface="Wingdings" pitchFamily="2" charset="2"/>
              </a:rPr>
              <a:t>Green = positive area</a:t>
            </a:r>
          </a:p>
          <a:p>
            <a:pPr lvl="1"/>
            <a:r>
              <a:rPr lang="en-US" dirty="0">
                <a:sym typeface="Wingdings" pitchFamily="2" charset="2"/>
              </a:rPr>
              <a:t>Red = negative area</a:t>
            </a:r>
            <a:endParaRPr lang="en-US" dirty="0"/>
          </a:p>
        </p:txBody>
      </p:sp>
      <p:sp>
        <p:nvSpPr>
          <p:cNvPr id="2" name="Title 1">
            <a:extLst>
              <a:ext uri="{FF2B5EF4-FFF2-40B4-BE49-F238E27FC236}">
                <a16:creationId xmlns:a16="http://schemas.microsoft.com/office/drawing/2014/main" id="{D9BB527D-5917-4F40-927B-40967E0E6CE7}"/>
              </a:ext>
            </a:extLst>
          </p:cNvPr>
          <p:cNvSpPr>
            <a:spLocks noGrp="1"/>
          </p:cNvSpPr>
          <p:nvPr>
            <p:ph type="title"/>
          </p:nvPr>
        </p:nvSpPr>
        <p:spPr/>
        <p:txBody>
          <a:bodyPr/>
          <a:lstStyle/>
          <a:p>
            <a:r>
              <a:rPr lang="en-US" dirty="0"/>
              <a:t>Integral</a:t>
            </a:r>
          </a:p>
        </p:txBody>
      </p:sp>
      <p:graphicFrame>
        <p:nvGraphicFramePr>
          <p:cNvPr id="8" name="Chart 7">
            <a:extLst>
              <a:ext uri="{FF2B5EF4-FFF2-40B4-BE49-F238E27FC236}">
                <a16:creationId xmlns:a16="http://schemas.microsoft.com/office/drawing/2014/main" id="{AF0E20D2-85AB-9341-8A94-CEE4C1AA3FC1}"/>
              </a:ext>
            </a:extLst>
          </p:cNvPr>
          <p:cNvGraphicFramePr>
            <a:graphicFrameLocks/>
          </p:cNvGraphicFramePr>
          <p:nvPr/>
        </p:nvGraphicFramePr>
        <p:xfrm>
          <a:off x="4260273" y="1880935"/>
          <a:ext cx="4114800" cy="18228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58DF68B-CAB7-6F47-A9A3-E260F9874A6F}"/>
              </a:ext>
            </a:extLst>
          </p:cNvPr>
          <p:cNvGraphicFramePr>
            <a:graphicFrameLocks/>
          </p:cNvGraphicFramePr>
          <p:nvPr/>
        </p:nvGraphicFramePr>
        <p:xfrm>
          <a:off x="4260273" y="3603431"/>
          <a:ext cx="4114800" cy="2318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58386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EFCD3-5555-7845-ACDA-E1410BD0F4A4}"/>
              </a:ext>
            </a:extLst>
          </p:cNvPr>
          <p:cNvSpPr>
            <a:spLocks noGrp="1"/>
          </p:cNvSpPr>
          <p:nvPr>
            <p:ph idx="1"/>
          </p:nvPr>
        </p:nvSpPr>
        <p:spPr>
          <a:xfrm>
            <a:off x="448092" y="1986439"/>
            <a:ext cx="4210619" cy="3264911"/>
          </a:xfrm>
        </p:spPr>
        <p:txBody>
          <a:bodyPr>
            <a:normAutofit fontScale="85000" lnSpcReduction="10000"/>
          </a:bodyPr>
          <a:lstStyle/>
          <a:p>
            <a:r>
              <a:rPr lang="en-US" dirty="0"/>
              <a:t>How quickly is position changing?</a:t>
            </a:r>
          </a:p>
          <a:p>
            <a:pPr lvl="1"/>
            <a:r>
              <a:rPr lang="en-US" dirty="0"/>
              <a:t>Predicts where the robot will be in the immediate future</a:t>
            </a:r>
          </a:p>
          <a:p>
            <a:pPr lvl="1"/>
            <a:r>
              <a:rPr lang="en-US" dirty="0"/>
              <a:t>Same as how fast is error changing</a:t>
            </a:r>
          </a:p>
          <a:p>
            <a:r>
              <a:rPr lang="en-US" dirty="0"/>
              <a:t>Can be measured using tangent line to measurements </a:t>
            </a:r>
            <a:r>
              <a:rPr lang="en-US" dirty="0">
                <a:sym typeface="Wingdings" pitchFamily="2" charset="2"/>
              </a:rPr>
              <a:t> derivative</a:t>
            </a:r>
          </a:p>
          <a:p>
            <a:pPr lvl="1"/>
            <a:r>
              <a:rPr lang="en-US" dirty="0">
                <a:sym typeface="Wingdings" pitchFamily="2" charset="2"/>
              </a:rPr>
              <a:t>Approximated using two nearby points on graph</a:t>
            </a:r>
            <a:endParaRPr lang="en-US" dirty="0"/>
          </a:p>
        </p:txBody>
      </p:sp>
      <p:sp>
        <p:nvSpPr>
          <p:cNvPr id="2" name="Title 1">
            <a:extLst>
              <a:ext uri="{FF2B5EF4-FFF2-40B4-BE49-F238E27FC236}">
                <a16:creationId xmlns:a16="http://schemas.microsoft.com/office/drawing/2014/main" id="{8F041D0E-5012-F240-AD2F-A4413AD76CB9}"/>
              </a:ext>
            </a:extLst>
          </p:cNvPr>
          <p:cNvSpPr>
            <a:spLocks noGrp="1"/>
          </p:cNvSpPr>
          <p:nvPr>
            <p:ph type="title"/>
          </p:nvPr>
        </p:nvSpPr>
        <p:spPr/>
        <p:txBody>
          <a:bodyPr/>
          <a:lstStyle/>
          <a:p>
            <a:r>
              <a:rPr lang="en-US" dirty="0"/>
              <a:t>Derivative</a:t>
            </a:r>
          </a:p>
        </p:txBody>
      </p:sp>
      <p:graphicFrame>
        <p:nvGraphicFramePr>
          <p:cNvPr id="8" name="Chart 7">
            <a:extLst>
              <a:ext uri="{FF2B5EF4-FFF2-40B4-BE49-F238E27FC236}">
                <a16:creationId xmlns:a16="http://schemas.microsoft.com/office/drawing/2014/main" id="{358ABDE0-E2C3-CA46-BD96-C0C5146B4F66}"/>
              </a:ext>
            </a:extLst>
          </p:cNvPr>
          <p:cNvGraphicFramePr>
            <a:graphicFrameLocks/>
          </p:cNvGraphicFramePr>
          <p:nvPr/>
        </p:nvGraphicFramePr>
        <p:xfrm>
          <a:off x="4658710" y="1986439"/>
          <a:ext cx="4287044" cy="1899962"/>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a:extLst>
              <a:ext uri="{FF2B5EF4-FFF2-40B4-BE49-F238E27FC236}">
                <a16:creationId xmlns:a16="http://schemas.microsoft.com/office/drawing/2014/main" id="{4AD6F5FA-F186-5745-B168-1429AF108D41}"/>
              </a:ext>
            </a:extLst>
          </p:cNvPr>
          <p:cNvCxnSpPr>
            <a:cxnSpLocks/>
          </p:cNvCxnSpPr>
          <p:nvPr/>
        </p:nvCxnSpPr>
        <p:spPr>
          <a:xfrm flipV="1">
            <a:off x="6324600" y="2720207"/>
            <a:ext cx="2110483" cy="7977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4F878E7-A7D2-4A42-BE72-F6C206AAAE89}"/>
              </a:ext>
            </a:extLst>
          </p:cNvPr>
          <p:cNvSpPr txBox="1"/>
          <p:nvPr/>
        </p:nvSpPr>
        <p:spPr>
          <a:xfrm>
            <a:off x="7500585" y="2420125"/>
            <a:ext cx="1023806" cy="300082"/>
          </a:xfrm>
          <a:prstGeom prst="rect">
            <a:avLst/>
          </a:prstGeom>
          <a:noFill/>
        </p:spPr>
        <p:txBody>
          <a:bodyPr wrap="none" rtlCol="0">
            <a:spAutoFit/>
          </a:bodyPr>
          <a:lstStyle/>
          <a:p>
            <a:r>
              <a:rPr lang="en-US" sz="1350" dirty="0">
                <a:solidFill>
                  <a:srgbClr val="FF0000"/>
                </a:solidFill>
              </a:rPr>
              <a:t>Tangent line</a:t>
            </a:r>
          </a:p>
        </p:txBody>
      </p:sp>
      <p:sp>
        <p:nvSpPr>
          <p:cNvPr id="21" name="Oval 20">
            <a:extLst>
              <a:ext uri="{FF2B5EF4-FFF2-40B4-BE49-F238E27FC236}">
                <a16:creationId xmlns:a16="http://schemas.microsoft.com/office/drawing/2014/main" id="{3BFE6788-D0CB-DC47-AA8D-D818D4C13604}"/>
              </a:ext>
            </a:extLst>
          </p:cNvPr>
          <p:cNvSpPr>
            <a:spLocks noChangeAspect="1"/>
          </p:cNvSpPr>
          <p:nvPr/>
        </p:nvSpPr>
        <p:spPr>
          <a:xfrm>
            <a:off x="7065101" y="3215526"/>
            <a:ext cx="48006" cy="480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Oval 21">
            <a:extLst>
              <a:ext uri="{FF2B5EF4-FFF2-40B4-BE49-F238E27FC236}">
                <a16:creationId xmlns:a16="http://schemas.microsoft.com/office/drawing/2014/main" id="{734629B8-F9CB-1141-B9D9-C4D430B1F30B}"/>
              </a:ext>
            </a:extLst>
          </p:cNvPr>
          <p:cNvSpPr>
            <a:spLocks noChangeAspect="1"/>
          </p:cNvSpPr>
          <p:nvPr/>
        </p:nvSpPr>
        <p:spPr>
          <a:xfrm>
            <a:off x="6903767" y="3255298"/>
            <a:ext cx="48006" cy="4800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2" name="Chart 11">
            <a:extLst>
              <a:ext uri="{FF2B5EF4-FFF2-40B4-BE49-F238E27FC236}">
                <a16:creationId xmlns:a16="http://schemas.microsoft.com/office/drawing/2014/main" id="{3808B5EE-B1C0-7242-83D7-6615EABD1560}"/>
              </a:ext>
            </a:extLst>
          </p:cNvPr>
          <p:cNvGraphicFramePr>
            <a:graphicFrameLocks/>
          </p:cNvGraphicFramePr>
          <p:nvPr/>
        </p:nvGraphicFramePr>
        <p:xfrm>
          <a:off x="4658711" y="3886401"/>
          <a:ext cx="4286250" cy="189996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8614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246E6E-F6E9-C904-39F3-597575DEB11D}"/>
              </a:ext>
            </a:extLst>
          </p:cNvPr>
          <p:cNvSpPr>
            <a:spLocks noGrp="1"/>
          </p:cNvSpPr>
          <p:nvPr>
            <p:ph type="title"/>
          </p:nvPr>
        </p:nvSpPr>
        <p:spPr/>
        <p:txBody>
          <a:bodyPr/>
          <a:lstStyle/>
          <a:p>
            <a:r>
              <a:rPr lang="en-JP" dirty="0"/>
              <a:t>Effects of each constant</a:t>
            </a:r>
          </a:p>
        </p:txBody>
      </p:sp>
      <p:pic>
        <p:nvPicPr>
          <p:cNvPr id="5" name="Picture 4">
            <a:extLst>
              <a:ext uri="{FF2B5EF4-FFF2-40B4-BE49-F238E27FC236}">
                <a16:creationId xmlns:a16="http://schemas.microsoft.com/office/drawing/2014/main" id="{89152132-856F-28B8-97E2-5BDD16368292}"/>
              </a:ext>
            </a:extLst>
          </p:cNvPr>
          <p:cNvPicPr>
            <a:picLocks noChangeAspect="1"/>
          </p:cNvPicPr>
          <p:nvPr/>
        </p:nvPicPr>
        <p:blipFill>
          <a:blip r:embed="rId2"/>
          <a:stretch>
            <a:fillRect/>
          </a:stretch>
        </p:blipFill>
        <p:spPr>
          <a:xfrm>
            <a:off x="1349973" y="4010528"/>
            <a:ext cx="6444049" cy="2317317"/>
          </a:xfrm>
          <a:prstGeom prst="rect">
            <a:avLst/>
          </a:prstGeom>
        </p:spPr>
      </p:pic>
      <p:pic>
        <p:nvPicPr>
          <p:cNvPr id="6150" name="Picture 6" descr="Controls in Robotics - Robotics Nanodegree by Udacity (Term1)">
            <a:extLst>
              <a:ext uri="{FF2B5EF4-FFF2-40B4-BE49-F238E27FC236}">
                <a16:creationId xmlns:a16="http://schemas.microsoft.com/office/drawing/2014/main" id="{C12A1025-C39B-CE02-2853-7D12EE8A57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3431" y="1523828"/>
            <a:ext cx="4057135" cy="2278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890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FE2417-072A-0248-84EE-01B68F49EA1F}"/>
              </a:ext>
            </a:extLst>
          </p:cNvPr>
          <p:cNvSpPr>
            <a:spLocks noGrp="1"/>
          </p:cNvSpPr>
          <p:nvPr>
            <p:ph idx="1"/>
          </p:nvPr>
        </p:nvSpPr>
        <p:spPr/>
        <p:txBody>
          <a:bodyPr>
            <a:normAutofit fontScale="77500" lnSpcReduction="20000"/>
          </a:bodyPr>
          <a:lstStyle/>
          <a:p>
            <a:pPr marL="350838" indent="-350838">
              <a:buFont typeface="+mj-lt"/>
              <a:buAutoNum type="arabicPeriod"/>
            </a:pPr>
            <a:r>
              <a:rPr lang="en-US" dirty="0"/>
              <a:t>Take a new light sensor reading</a:t>
            </a:r>
          </a:p>
          <a:p>
            <a:pPr marL="350838" indent="-350838">
              <a:buFont typeface="+mj-lt"/>
              <a:buAutoNum type="arabicPeriod"/>
            </a:pPr>
            <a:r>
              <a:rPr lang="en-US" dirty="0"/>
              <a:t>Compute the “error”</a:t>
            </a:r>
          </a:p>
          <a:p>
            <a:pPr marL="350838" indent="-350838">
              <a:buFont typeface="+mj-lt"/>
              <a:buAutoNum type="arabicPeriod"/>
            </a:pPr>
            <a:r>
              <a:rPr lang="en-US" dirty="0"/>
              <a:t>Scale error to determine contribution to steering update (proportional control)</a:t>
            </a:r>
          </a:p>
          <a:p>
            <a:pPr marL="350838" indent="-350838">
              <a:buFont typeface="+mj-lt"/>
              <a:buAutoNum type="arabicPeriod"/>
            </a:pPr>
            <a:r>
              <a:rPr lang="en-US" dirty="0"/>
              <a:t>Use error to update integral (sum of all past errors)</a:t>
            </a:r>
          </a:p>
          <a:p>
            <a:pPr marL="350838" indent="-350838">
              <a:buFont typeface="+mj-lt"/>
              <a:buAutoNum type="arabicPeriod"/>
            </a:pPr>
            <a:r>
              <a:rPr lang="en-US" dirty="0"/>
              <a:t>Scale integral to determine contribution to steering update (integral control)</a:t>
            </a:r>
          </a:p>
          <a:p>
            <a:pPr marL="350838" indent="-350838">
              <a:buFont typeface="+mj-lt"/>
              <a:buAutoNum type="arabicPeriod"/>
            </a:pPr>
            <a:r>
              <a:rPr lang="en-US" dirty="0"/>
              <a:t>Use error to update derivative (difference from last error)</a:t>
            </a:r>
          </a:p>
          <a:p>
            <a:pPr marL="350838" indent="-350838">
              <a:buFont typeface="+mj-lt"/>
              <a:buAutoNum type="arabicPeriod"/>
            </a:pPr>
            <a:r>
              <a:rPr lang="en-US" dirty="0"/>
              <a:t>Scale derivative to determine contribution to steering update (derivative control)</a:t>
            </a:r>
          </a:p>
          <a:p>
            <a:pPr marL="350838" indent="-350838">
              <a:buFont typeface="+mj-lt"/>
              <a:buAutoNum type="arabicPeriod"/>
            </a:pPr>
            <a:r>
              <a:rPr lang="en-US" dirty="0"/>
              <a:t>Combine P, I, and D feedback and steer robot</a:t>
            </a:r>
          </a:p>
        </p:txBody>
      </p:sp>
      <p:sp>
        <p:nvSpPr>
          <p:cNvPr id="2" name="Title 1">
            <a:extLst>
              <a:ext uri="{FF2B5EF4-FFF2-40B4-BE49-F238E27FC236}">
                <a16:creationId xmlns:a16="http://schemas.microsoft.com/office/drawing/2014/main" id="{4ED4512D-FB62-CB43-BB5F-61172570E21D}"/>
              </a:ext>
            </a:extLst>
          </p:cNvPr>
          <p:cNvSpPr>
            <a:spLocks noGrp="1"/>
          </p:cNvSpPr>
          <p:nvPr>
            <p:ph type="title"/>
          </p:nvPr>
        </p:nvSpPr>
        <p:spPr/>
        <p:txBody>
          <a:bodyPr/>
          <a:lstStyle/>
          <a:p>
            <a:r>
              <a:rPr lang="en-US" dirty="0"/>
              <a:t>Pseudocode</a:t>
            </a:r>
          </a:p>
        </p:txBody>
      </p:sp>
    </p:spTree>
    <p:extLst>
      <p:ext uri="{BB962C8B-B14F-4D97-AF65-F5344CB8AC3E}">
        <p14:creationId xmlns:p14="http://schemas.microsoft.com/office/powerpoint/2010/main" val="355445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2237A7-8163-CA9B-17ED-3D8821DB4F1C}"/>
              </a:ext>
            </a:extLst>
          </p:cNvPr>
          <p:cNvSpPr>
            <a:spLocks noGrp="1"/>
          </p:cNvSpPr>
          <p:nvPr>
            <p:ph idx="1"/>
          </p:nvPr>
        </p:nvSpPr>
        <p:spPr>
          <a:xfrm>
            <a:off x="284163" y="1818870"/>
            <a:ext cx="4652361" cy="4307294"/>
          </a:xfrm>
        </p:spPr>
        <p:txBody>
          <a:bodyPr>
            <a:normAutofit fontScale="62500" lnSpcReduction="20000"/>
          </a:bodyPr>
          <a:lstStyle/>
          <a:p>
            <a:r>
              <a:rPr lang="en-US" dirty="0"/>
              <a:t>Take a new light sensor reading</a:t>
            </a:r>
          </a:p>
          <a:p>
            <a:r>
              <a:rPr lang="en-US" dirty="0"/>
              <a:t>Compute the “error”</a:t>
            </a:r>
          </a:p>
          <a:p>
            <a:r>
              <a:rPr lang="en-US" dirty="0"/>
              <a:t>Use error to update integral (sum of all past errors)</a:t>
            </a:r>
          </a:p>
          <a:p>
            <a:r>
              <a:rPr lang="en-US" dirty="0"/>
              <a:t>Use error to update derivative (difference from last error)</a:t>
            </a:r>
          </a:p>
          <a:p>
            <a:r>
              <a:rPr lang="en-US" dirty="0"/>
              <a:t>Scale error to determine contribution to steering update (proportional control)</a:t>
            </a:r>
          </a:p>
          <a:p>
            <a:r>
              <a:rPr lang="en-US" dirty="0"/>
              <a:t>Scale integral to determine contribution to steering update (integral control)</a:t>
            </a:r>
          </a:p>
          <a:p>
            <a:r>
              <a:rPr lang="en-US" dirty="0"/>
              <a:t>Scale derivative to determine contribution to steering update (derivative control)</a:t>
            </a:r>
          </a:p>
          <a:p>
            <a:r>
              <a:rPr lang="en-US" dirty="0"/>
              <a:t>Combine P, I, and D feedback and steer robot</a:t>
            </a:r>
          </a:p>
        </p:txBody>
      </p:sp>
      <p:sp>
        <p:nvSpPr>
          <p:cNvPr id="4" name="Title 3">
            <a:extLst>
              <a:ext uri="{FF2B5EF4-FFF2-40B4-BE49-F238E27FC236}">
                <a16:creationId xmlns:a16="http://schemas.microsoft.com/office/drawing/2014/main" id="{77A12290-979C-5B38-273C-C0689406819A}"/>
              </a:ext>
            </a:extLst>
          </p:cNvPr>
          <p:cNvSpPr>
            <a:spLocks noGrp="1"/>
          </p:cNvSpPr>
          <p:nvPr>
            <p:ph type="title"/>
          </p:nvPr>
        </p:nvSpPr>
        <p:spPr/>
        <p:txBody>
          <a:bodyPr/>
          <a:lstStyle/>
          <a:p>
            <a:r>
              <a:rPr lang="en-JP" dirty="0"/>
              <a:t>Implementation of PID Control</a:t>
            </a:r>
          </a:p>
        </p:txBody>
      </p:sp>
      <p:pic>
        <p:nvPicPr>
          <p:cNvPr id="5" name="Picture 4">
            <a:extLst>
              <a:ext uri="{FF2B5EF4-FFF2-40B4-BE49-F238E27FC236}">
                <a16:creationId xmlns:a16="http://schemas.microsoft.com/office/drawing/2014/main" id="{2B95BFDB-C7BF-1626-E316-4E2CEA27C056}"/>
              </a:ext>
            </a:extLst>
          </p:cNvPr>
          <p:cNvPicPr>
            <a:picLocks noChangeAspect="1"/>
          </p:cNvPicPr>
          <p:nvPr/>
        </p:nvPicPr>
        <p:blipFill>
          <a:blip r:embed="rId2"/>
          <a:stretch>
            <a:fillRect/>
          </a:stretch>
        </p:blipFill>
        <p:spPr>
          <a:xfrm>
            <a:off x="5041558" y="1470453"/>
            <a:ext cx="4009382" cy="5095095"/>
          </a:xfrm>
          <a:prstGeom prst="rect">
            <a:avLst/>
          </a:prstGeom>
        </p:spPr>
      </p:pic>
    </p:spTree>
    <p:extLst>
      <p:ext uri="{BB962C8B-B14F-4D97-AF65-F5344CB8AC3E}">
        <p14:creationId xmlns:p14="http://schemas.microsoft.com/office/powerpoint/2010/main" val="1468025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D03BF9FA-538C-D643-A6D2-6C972D90F30A}"/>
              </a:ext>
            </a:extLst>
          </p:cNvPr>
          <p:cNvSpPr>
            <a:spLocks noGrp="1"/>
          </p:cNvSpPr>
          <p:nvPr>
            <p:ph idx="1"/>
          </p:nvPr>
        </p:nvSpPr>
        <p:spPr>
          <a:xfrm>
            <a:off x="448092" y="1986438"/>
            <a:ext cx="8238707" cy="4217512"/>
          </a:xfrm>
        </p:spPr>
        <p:txBody>
          <a:bodyPr>
            <a:noAutofit/>
          </a:bodyPr>
          <a:lstStyle/>
          <a:p>
            <a:r>
              <a:rPr lang="en-US" sz="1650" dirty="0"/>
              <a:t>The most common way to tune your PID constants is trial and error.</a:t>
            </a:r>
          </a:p>
          <a:p>
            <a:r>
              <a:rPr lang="en-US" sz="1650" dirty="0"/>
              <a:t>This can take time. Here are some tips:</a:t>
            </a:r>
          </a:p>
          <a:p>
            <a:pPr lvl="1"/>
            <a:r>
              <a:rPr lang="en-US" sz="1575" dirty="0"/>
              <a:t>Disable everything but the proportional part (set the other constants to zero). Adjust just the proportional constant until robot follows the line well.</a:t>
            </a:r>
          </a:p>
          <a:p>
            <a:pPr lvl="1"/>
            <a:r>
              <a:rPr lang="en-US" sz="1575" dirty="0"/>
              <a:t>Then, enable the integral and adjust until it provides good performance on a range of lines.</a:t>
            </a:r>
          </a:p>
          <a:p>
            <a:pPr lvl="1"/>
            <a:r>
              <a:rPr lang="en-US" sz="1575" dirty="0"/>
              <a:t>Finally, enable the derivative and adjust until you are satisfied with the line following.</a:t>
            </a:r>
          </a:p>
          <a:p>
            <a:pPr lvl="1"/>
            <a:r>
              <a:rPr lang="en-US" sz="1575" dirty="0"/>
              <a:t>When enabling each segment, here are some good numbers to start with for the constants:</a:t>
            </a:r>
          </a:p>
          <a:p>
            <a:pPr lvl="2"/>
            <a:r>
              <a:rPr lang="en-US" sz="1500" dirty="0"/>
              <a:t>P: 1.0 adjust by ±0.5 initially and ±0.1 for fine tuning</a:t>
            </a:r>
          </a:p>
          <a:p>
            <a:pPr lvl="2"/>
            <a:r>
              <a:rPr lang="en-US" sz="1500" dirty="0"/>
              <a:t>I: 0.05 adjust by ±0.01 initial and ±0.005 for fine tuning</a:t>
            </a:r>
          </a:p>
          <a:p>
            <a:pPr lvl="2"/>
            <a:r>
              <a:rPr lang="en-US" sz="1500" dirty="0"/>
              <a:t>D: 1.0 adjust by ±0.5 initially and ±0.1 for fine tuning</a:t>
            </a:r>
          </a:p>
        </p:txBody>
      </p:sp>
      <p:sp>
        <p:nvSpPr>
          <p:cNvPr id="2" name="Title 1">
            <a:extLst>
              <a:ext uri="{FF2B5EF4-FFF2-40B4-BE49-F238E27FC236}">
                <a16:creationId xmlns:a16="http://schemas.microsoft.com/office/drawing/2014/main" id="{8C08BCB5-E4FB-1743-B265-2FD167AE5D55}"/>
              </a:ext>
            </a:extLst>
          </p:cNvPr>
          <p:cNvSpPr>
            <a:spLocks noGrp="1"/>
          </p:cNvSpPr>
          <p:nvPr>
            <p:ph type="title"/>
          </p:nvPr>
        </p:nvSpPr>
        <p:spPr/>
        <p:txBody>
          <a:bodyPr/>
          <a:lstStyle/>
          <a:p>
            <a:r>
              <a:rPr lang="en-US" dirty="0"/>
              <a:t>Key Step: Tuning The PID constants</a:t>
            </a:r>
          </a:p>
        </p:txBody>
      </p:sp>
    </p:spTree>
    <p:extLst>
      <p:ext uri="{BB962C8B-B14F-4D97-AF65-F5344CB8AC3E}">
        <p14:creationId xmlns:p14="http://schemas.microsoft.com/office/powerpoint/2010/main" val="299434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d 576">
            <a:hlinkClick r:id="" action="ppaction://media"/>
            <a:extLst>
              <a:ext uri="{FF2B5EF4-FFF2-40B4-BE49-F238E27FC236}">
                <a16:creationId xmlns:a16="http://schemas.microsoft.com/office/drawing/2014/main" id="{801CCF1F-4988-412C-ACFD-A8F905F3E30E}"/>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69536" y="1497159"/>
            <a:ext cx="8783343" cy="4939873"/>
          </a:xfrm>
        </p:spPr>
      </p:pic>
      <p:sp>
        <p:nvSpPr>
          <p:cNvPr id="2" name="Title 1">
            <a:extLst>
              <a:ext uri="{FF2B5EF4-FFF2-40B4-BE49-F238E27FC236}">
                <a16:creationId xmlns:a16="http://schemas.microsoft.com/office/drawing/2014/main" id="{F31C3435-6FDD-F64D-80C8-94C2F20253AF}"/>
              </a:ext>
            </a:extLst>
          </p:cNvPr>
          <p:cNvSpPr>
            <a:spLocks noGrp="1"/>
          </p:cNvSpPr>
          <p:nvPr>
            <p:ph type="title"/>
          </p:nvPr>
        </p:nvSpPr>
        <p:spPr/>
        <p:txBody>
          <a:bodyPr/>
          <a:lstStyle/>
          <a:p>
            <a:r>
              <a:rPr lang="en-US" dirty="0"/>
              <a:t>PID Control</a:t>
            </a:r>
          </a:p>
        </p:txBody>
      </p:sp>
    </p:spTree>
    <p:extLst>
      <p:ext uri="{BB962C8B-B14F-4D97-AF65-F5344CB8AC3E}">
        <p14:creationId xmlns:p14="http://schemas.microsoft.com/office/powerpoint/2010/main" val="3700837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6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91CBDC-3E5B-838C-043D-D828A56F564D}"/>
              </a:ext>
            </a:extLst>
          </p:cNvPr>
          <p:cNvSpPr>
            <a:spLocks noGrp="1"/>
          </p:cNvSpPr>
          <p:nvPr>
            <p:ph idx="1"/>
          </p:nvPr>
        </p:nvSpPr>
        <p:spPr>
          <a:xfrm>
            <a:off x="284163" y="1818870"/>
            <a:ext cx="8390280" cy="4307294"/>
          </a:xfrm>
        </p:spPr>
        <p:txBody>
          <a:bodyPr/>
          <a:lstStyle/>
          <a:p>
            <a:r>
              <a:rPr lang="en-US" b="0" i="0" dirty="0">
                <a:solidFill>
                  <a:srgbClr val="000000"/>
                </a:solidFill>
                <a:effectLst/>
                <a:latin typeface="Arial" panose="020B0604020202020204" pitchFamily="34" charset="0"/>
              </a:rPr>
              <a:t>We can calculate "pretty good" values for </a:t>
            </a:r>
            <a:r>
              <a:rPr lang="en-US" b="1" i="0" dirty="0" err="1">
                <a:solidFill>
                  <a:srgbClr val="000000"/>
                </a:solidFill>
                <a:effectLst/>
                <a:latin typeface="Arial" panose="020B0604020202020204" pitchFamily="34" charset="0"/>
              </a:rPr>
              <a:t>Kp</a:t>
            </a:r>
            <a:r>
              <a:rPr lang="en-US" b="0" i="0" dirty="0">
                <a:solidFill>
                  <a:srgbClr val="000000"/>
                </a:solidFill>
                <a:effectLst/>
                <a:latin typeface="Arial" panose="020B0604020202020204" pitchFamily="34" charset="0"/>
              </a:rPr>
              <a:t>,</a:t>
            </a:r>
            <a:r>
              <a:rPr lang="en-US" b="1" i="0" dirty="0">
                <a:solidFill>
                  <a:srgbClr val="000000"/>
                </a:solidFill>
                <a:effectLst/>
                <a:latin typeface="Arial" panose="020B0604020202020204" pitchFamily="34" charset="0"/>
              </a:rPr>
              <a:t> Ki</a:t>
            </a:r>
            <a:r>
              <a:rPr lang="en-US" b="0" i="0" dirty="0">
                <a:solidFill>
                  <a:srgbClr val="000000"/>
                </a:solidFill>
                <a:effectLst/>
                <a:latin typeface="Arial" panose="020B0604020202020204" pitchFamily="34" charset="0"/>
              </a:rPr>
              <a:t> and</a:t>
            </a:r>
            <a:r>
              <a:rPr lang="en-US" b="1" i="0" dirty="0">
                <a:solidFill>
                  <a:srgbClr val="000000"/>
                </a:solidFill>
                <a:effectLst/>
                <a:latin typeface="Arial" panose="020B0604020202020204" pitchFamily="34" charset="0"/>
              </a:rPr>
              <a:t> </a:t>
            </a:r>
            <a:r>
              <a:rPr lang="en-US" b="1" i="0" dirty="0" err="1">
                <a:solidFill>
                  <a:srgbClr val="000000"/>
                </a:solidFill>
                <a:effectLst/>
                <a:latin typeface="Arial" panose="020B0604020202020204" pitchFamily="34" charset="0"/>
              </a:rPr>
              <a:t>Kd</a:t>
            </a:r>
            <a:endParaRPr lang="en-US" b="1" i="0" dirty="0">
              <a:solidFill>
                <a:srgbClr val="000000"/>
              </a:solidFill>
              <a:effectLst/>
              <a:latin typeface="Arial" panose="020B0604020202020204" pitchFamily="34" charset="0"/>
            </a:endParaRPr>
          </a:p>
          <a:p>
            <a:r>
              <a:rPr lang="en-US" b="0" i="0" dirty="0">
                <a:solidFill>
                  <a:srgbClr val="000000"/>
                </a:solidFill>
                <a:effectLst/>
                <a:latin typeface="Arial" panose="020B0604020202020204" pitchFamily="34" charset="0"/>
              </a:rPr>
              <a:t>It doesn't matter much what the exact system is that is being controlled, the tuning equations</a:t>
            </a:r>
            <a:r>
              <a:rPr lang="en-US" b="0" i="1" dirty="0">
                <a:solidFill>
                  <a:srgbClr val="000000"/>
                </a:solidFill>
                <a:effectLst/>
                <a:latin typeface="Arial" panose="020B0604020202020204" pitchFamily="34" charset="0"/>
              </a:rPr>
              <a:t> almost</a:t>
            </a:r>
            <a:r>
              <a:rPr lang="en-US" b="0" i="0" dirty="0">
                <a:solidFill>
                  <a:srgbClr val="000000"/>
                </a:solidFill>
                <a:effectLst/>
                <a:latin typeface="Arial" panose="020B0604020202020204" pitchFamily="34" charset="0"/>
              </a:rPr>
              <a:t> always work well</a:t>
            </a:r>
          </a:p>
        </p:txBody>
      </p:sp>
      <p:sp>
        <p:nvSpPr>
          <p:cNvPr id="4" name="Title 3">
            <a:extLst>
              <a:ext uri="{FF2B5EF4-FFF2-40B4-BE49-F238E27FC236}">
                <a16:creationId xmlns:a16="http://schemas.microsoft.com/office/drawing/2014/main" id="{F93FE1C3-3567-0CD2-EC07-5CE630BF36BE}"/>
              </a:ext>
            </a:extLst>
          </p:cNvPr>
          <p:cNvSpPr>
            <a:spLocks noGrp="1"/>
          </p:cNvSpPr>
          <p:nvPr>
            <p:ph type="title"/>
          </p:nvPr>
        </p:nvSpPr>
        <p:spPr/>
        <p:txBody>
          <a:bodyPr/>
          <a:lstStyle/>
          <a:p>
            <a:r>
              <a:rPr lang="en-JP" dirty="0"/>
              <a:t>Tuning Methods</a:t>
            </a:r>
          </a:p>
        </p:txBody>
      </p:sp>
      <p:pic>
        <p:nvPicPr>
          <p:cNvPr id="5" name="Picture 4">
            <a:extLst>
              <a:ext uri="{FF2B5EF4-FFF2-40B4-BE49-F238E27FC236}">
                <a16:creationId xmlns:a16="http://schemas.microsoft.com/office/drawing/2014/main" id="{F51BB640-039D-D19D-B2ED-67EE2E69D394}"/>
              </a:ext>
            </a:extLst>
          </p:cNvPr>
          <p:cNvPicPr>
            <a:picLocks noChangeAspect="1"/>
          </p:cNvPicPr>
          <p:nvPr/>
        </p:nvPicPr>
        <p:blipFill>
          <a:blip r:embed="rId2"/>
          <a:stretch>
            <a:fillRect/>
          </a:stretch>
        </p:blipFill>
        <p:spPr>
          <a:xfrm>
            <a:off x="2415746" y="3579711"/>
            <a:ext cx="4123843" cy="3040681"/>
          </a:xfrm>
          <a:prstGeom prst="rect">
            <a:avLst/>
          </a:prstGeom>
        </p:spPr>
      </p:pic>
    </p:spTree>
    <p:extLst>
      <p:ext uri="{BB962C8B-B14F-4D97-AF65-F5344CB8AC3E}">
        <p14:creationId xmlns:p14="http://schemas.microsoft.com/office/powerpoint/2010/main" val="2098768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850E5A-6EF9-3354-4FD3-776000A80190}"/>
              </a:ext>
            </a:extLst>
          </p:cNvPr>
          <p:cNvSpPr>
            <a:spLocks noGrp="1"/>
          </p:cNvSpPr>
          <p:nvPr>
            <p:ph idx="1"/>
          </p:nvPr>
        </p:nvSpPr>
        <p:spPr>
          <a:xfrm>
            <a:off x="284164" y="1818870"/>
            <a:ext cx="4825356" cy="4674606"/>
          </a:xfrm>
        </p:spPr>
        <p:txBody>
          <a:bodyPr>
            <a:normAutofit/>
          </a:bodyPr>
          <a:lstStyle/>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Set the </a:t>
            </a:r>
            <a:r>
              <a:rPr lang="en-US" sz="1200" b="1" i="0" dirty="0">
                <a:solidFill>
                  <a:srgbClr val="000000"/>
                </a:solidFill>
                <a:effectLst/>
                <a:latin typeface="Arial" panose="020B0604020202020204" pitchFamily="34" charset="0"/>
              </a:rPr>
              <a:t>Ki</a:t>
            </a:r>
            <a:r>
              <a:rPr lang="en-US" sz="1200" b="0" i="0" dirty="0">
                <a:solidFill>
                  <a:srgbClr val="000000"/>
                </a:solidFill>
                <a:effectLst/>
                <a:latin typeface="Arial" panose="020B0604020202020204" pitchFamily="34" charset="0"/>
              </a:rPr>
              <a:t> and </a:t>
            </a:r>
            <a:r>
              <a:rPr lang="en-US" sz="1200" b="1" i="0" dirty="0" err="1">
                <a:solidFill>
                  <a:srgbClr val="000000"/>
                </a:solidFill>
                <a:effectLst/>
                <a:latin typeface="Arial" panose="020B0604020202020204" pitchFamily="34" charset="0"/>
              </a:rPr>
              <a:t>Kd</a:t>
            </a:r>
            <a:r>
              <a:rPr lang="en-US" sz="1200" b="0" i="0" dirty="0">
                <a:solidFill>
                  <a:srgbClr val="000000"/>
                </a:solidFill>
                <a:effectLst/>
                <a:latin typeface="Arial" panose="020B0604020202020204" pitchFamily="34" charset="0"/>
              </a:rPr>
              <a:t> values to zero (simple P controller)</a:t>
            </a:r>
          </a:p>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Run the robot with a initial </a:t>
            </a:r>
            <a:r>
              <a:rPr lang="en-US" sz="1200" b="1" i="0" dirty="0" err="1">
                <a:solidFill>
                  <a:srgbClr val="000000"/>
                </a:solidFill>
                <a:effectLst/>
                <a:latin typeface="Arial" panose="020B0604020202020204" pitchFamily="34" charset="0"/>
              </a:rPr>
              <a:t>Kp</a:t>
            </a:r>
            <a:r>
              <a:rPr lang="en-US" sz="1200" b="1" i="0" dirty="0">
                <a:solidFill>
                  <a:srgbClr val="000000"/>
                </a:solidFill>
                <a:effectLst/>
                <a:latin typeface="Arial" panose="020B0604020202020204" pitchFamily="34" charset="0"/>
              </a:rPr>
              <a:t> </a:t>
            </a:r>
            <a:r>
              <a:rPr lang="en-US" sz="1200" i="0" dirty="0">
                <a:solidFill>
                  <a:srgbClr val="000000"/>
                </a:solidFill>
                <a:effectLst/>
                <a:latin typeface="Arial" panose="020B0604020202020204" pitchFamily="34" charset="0"/>
              </a:rPr>
              <a:t>value</a:t>
            </a:r>
            <a:r>
              <a:rPr lang="en-US" sz="1200" b="0" i="0" dirty="0">
                <a:solidFill>
                  <a:srgbClr val="000000"/>
                </a:solidFill>
                <a:effectLst/>
                <a:latin typeface="Arial" panose="020B0604020202020204" pitchFamily="34" charset="0"/>
              </a:rPr>
              <a:t> and watch what it does. If it can't follow the line and wanders off then increase</a:t>
            </a:r>
            <a:r>
              <a:rPr lang="en-US" sz="1200" b="1" i="0" dirty="0">
                <a:solidFill>
                  <a:srgbClr val="000000"/>
                </a:solidFill>
                <a:effectLst/>
                <a:latin typeface="Arial" panose="020B0604020202020204" pitchFamily="34" charset="0"/>
              </a:rPr>
              <a:t> </a:t>
            </a:r>
            <a:r>
              <a:rPr lang="en-US" sz="1200" b="1" i="0" dirty="0" err="1">
                <a:solidFill>
                  <a:srgbClr val="000000"/>
                </a:solidFill>
                <a:effectLst/>
                <a:latin typeface="Arial" panose="020B0604020202020204" pitchFamily="34" charset="0"/>
              </a:rPr>
              <a:t>Kp</a:t>
            </a:r>
            <a:r>
              <a:rPr lang="en-US" sz="1200" b="0" i="0" dirty="0">
                <a:solidFill>
                  <a:srgbClr val="000000"/>
                </a:solidFill>
                <a:effectLst/>
                <a:latin typeface="Arial" panose="020B0604020202020204" pitchFamily="34" charset="0"/>
              </a:rPr>
              <a:t>. If it oscillates wildly then decrease </a:t>
            </a:r>
            <a:r>
              <a:rPr lang="en-US" sz="1200" b="1" i="0" dirty="0" err="1">
                <a:solidFill>
                  <a:srgbClr val="000000"/>
                </a:solidFill>
                <a:effectLst/>
                <a:latin typeface="Arial" panose="020B0604020202020204" pitchFamily="34" charset="0"/>
              </a:rPr>
              <a:t>Kp</a:t>
            </a:r>
            <a:r>
              <a:rPr lang="en-US" sz="1200" b="0" i="0" dirty="0">
                <a:solidFill>
                  <a:srgbClr val="000000"/>
                </a:solidFill>
                <a:effectLst/>
                <a:latin typeface="Arial" panose="020B0604020202020204" pitchFamily="34" charset="0"/>
              </a:rPr>
              <a:t>. Keep changing the </a:t>
            </a:r>
            <a:r>
              <a:rPr lang="en-US" sz="1200" b="1" i="0" dirty="0" err="1">
                <a:solidFill>
                  <a:srgbClr val="000000"/>
                </a:solidFill>
                <a:effectLst/>
                <a:latin typeface="Arial" panose="020B0604020202020204" pitchFamily="34" charset="0"/>
              </a:rPr>
              <a:t>Kp</a:t>
            </a:r>
            <a:r>
              <a:rPr lang="en-US" sz="1200" b="0" i="0" dirty="0">
                <a:solidFill>
                  <a:srgbClr val="000000"/>
                </a:solidFill>
                <a:effectLst/>
                <a:latin typeface="Arial" panose="020B0604020202020204" pitchFamily="34" charset="0"/>
              </a:rPr>
              <a:t> value until you find one that follows the line and gives noticeable oscillation but not really wild ones. We will call this </a:t>
            </a:r>
            <a:r>
              <a:rPr lang="en-US" sz="1200" b="1" i="0" dirty="0" err="1">
                <a:solidFill>
                  <a:srgbClr val="000000"/>
                </a:solidFill>
                <a:effectLst/>
                <a:latin typeface="Arial" panose="020B0604020202020204" pitchFamily="34" charset="0"/>
              </a:rPr>
              <a:t>Kp</a:t>
            </a:r>
            <a:r>
              <a:rPr lang="en-US" sz="1200" b="0" i="0" dirty="0">
                <a:solidFill>
                  <a:srgbClr val="000000"/>
                </a:solidFill>
                <a:effectLst/>
                <a:latin typeface="Arial" panose="020B0604020202020204" pitchFamily="34" charset="0"/>
              </a:rPr>
              <a:t> value "Kc" ("critical gain" in the PID literature).</a:t>
            </a:r>
          </a:p>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Measure the oscillation period (</a:t>
            </a:r>
            <a:r>
              <a:rPr lang="en-US" sz="1200" b="1" i="0" dirty="0">
                <a:solidFill>
                  <a:srgbClr val="000000"/>
                </a:solidFill>
                <a:effectLst/>
                <a:latin typeface="Arial" panose="020B0604020202020204" pitchFamily="34" charset="0"/>
              </a:rPr>
              <a:t>Pc</a:t>
            </a:r>
            <a:r>
              <a:rPr lang="en-US" sz="1200" b="0" i="0" dirty="0">
                <a:solidFill>
                  <a:srgbClr val="000000"/>
                </a:solidFill>
                <a:effectLst/>
                <a:latin typeface="Arial" panose="020B0604020202020204" pitchFamily="34" charset="0"/>
              </a:rPr>
              <a:t>), which is how long it takes the robot to swing back and forth once. </a:t>
            </a:r>
          </a:p>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Measure the time per loop (</a:t>
            </a:r>
            <a:r>
              <a:rPr lang="en-US" sz="1200" b="1" i="0" dirty="0">
                <a:solidFill>
                  <a:srgbClr val="000000"/>
                </a:solidFill>
                <a:effectLst/>
                <a:latin typeface="Arial" panose="020B0604020202020204" pitchFamily="34" charset="0"/>
              </a:rPr>
              <a:t>dT</a:t>
            </a:r>
            <a:r>
              <a:rPr lang="en-US" sz="1200" b="0" i="0" dirty="0">
                <a:solidFill>
                  <a:srgbClr val="000000"/>
                </a:solidFill>
                <a:effectLst/>
                <a:latin typeface="Arial" panose="020B0604020202020204" pitchFamily="34" charset="0"/>
              </a:rPr>
              <a:t>) (usually 0.015 to 0.020 seconds per loop for an EV3)</a:t>
            </a:r>
          </a:p>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Use the table below to calculate a set of </a:t>
            </a:r>
            <a:r>
              <a:rPr lang="en-US" sz="1200" b="1" i="0" dirty="0" err="1">
                <a:solidFill>
                  <a:srgbClr val="000000"/>
                </a:solidFill>
                <a:effectLst/>
                <a:latin typeface="Arial" panose="020B0604020202020204" pitchFamily="34" charset="0"/>
              </a:rPr>
              <a:t>Kp</a:t>
            </a:r>
            <a:r>
              <a:rPr lang="en-US" sz="1200" b="0" i="0" dirty="0">
                <a:solidFill>
                  <a:srgbClr val="000000"/>
                </a:solidFill>
                <a:effectLst/>
                <a:latin typeface="Arial" panose="020B0604020202020204" pitchFamily="34" charset="0"/>
              </a:rPr>
              <a:t>, </a:t>
            </a:r>
            <a:r>
              <a:rPr lang="en-US" sz="1200" b="1" i="0" dirty="0">
                <a:solidFill>
                  <a:srgbClr val="000000"/>
                </a:solidFill>
                <a:effectLst/>
                <a:latin typeface="Arial" panose="020B0604020202020204" pitchFamily="34" charset="0"/>
              </a:rPr>
              <a:t>Ki</a:t>
            </a:r>
            <a:r>
              <a:rPr lang="en-US" sz="1200" b="0" i="0" dirty="0">
                <a:solidFill>
                  <a:srgbClr val="000000"/>
                </a:solidFill>
                <a:effectLst/>
                <a:latin typeface="Arial" panose="020B0604020202020204" pitchFamily="34" charset="0"/>
              </a:rPr>
              <a:t>, and </a:t>
            </a:r>
            <a:r>
              <a:rPr lang="en-US" sz="1200" b="1" i="0" dirty="0">
                <a:solidFill>
                  <a:srgbClr val="000000"/>
                </a:solidFill>
                <a:effectLst/>
                <a:latin typeface="Arial" panose="020B0604020202020204" pitchFamily="34" charset="0"/>
              </a:rPr>
              <a:t>Kc</a:t>
            </a:r>
            <a:r>
              <a:rPr lang="en-US" sz="1200" b="0" i="0" dirty="0">
                <a:solidFill>
                  <a:srgbClr val="000000"/>
                </a:solidFill>
                <a:effectLst/>
                <a:latin typeface="Arial" panose="020B0604020202020204" pitchFamily="34" charset="0"/>
              </a:rPr>
              <a:t> values</a:t>
            </a:r>
          </a:p>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Run the robot and see how it behaves.</a:t>
            </a:r>
          </a:p>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Tweak the </a:t>
            </a:r>
            <a:r>
              <a:rPr lang="en-US" sz="1200" b="1" i="0" dirty="0" err="1">
                <a:solidFill>
                  <a:srgbClr val="000000"/>
                </a:solidFill>
                <a:effectLst/>
                <a:latin typeface="Arial" panose="020B0604020202020204" pitchFamily="34" charset="0"/>
              </a:rPr>
              <a:t>Kp</a:t>
            </a:r>
            <a:r>
              <a:rPr lang="en-US" sz="1200" b="0" i="0" dirty="0">
                <a:solidFill>
                  <a:srgbClr val="000000"/>
                </a:solidFill>
                <a:effectLst/>
                <a:latin typeface="Arial" panose="020B0604020202020204" pitchFamily="34" charset="0"/>
              </a:rPr>
              <a:t>, </a:t>
            </a:r>
            <a:r>
              <a:rPr lang="en-US" sz="1200" b="1" i="0" dirty="0">
                <a:solidFill>
                  <a:srgbClr val="000000"/>
                </a:solidFill>
                <a:effectLst/>
                <a:latin typeface="Arial" panose="020B0604020202020204" pitchFamily="34" charset="0"/>
              </a:rPr>
              <a:t>Ki</a:t>
            </a:r>
            <a:r>
              <a:rPr lang="en-US" sz="1200" b="0" i="0" dirty="0">
                <a:solidFill>
                  <a:srgbClr val="000000"/>
                </a:solidFill>
                <a:effectLst/>
                <a:latin typeface="Arial" panose="020B0604020202020204" pitchFamily="34" charset="0"/>
              </a:rPr>
              <a:t> and </a:t>
            </a:r>
            <a:r>
              <a:rPr lang="en-US" sz="1200" b="1" i="0" dirty="0" err="1">
                <a:solidFill>
                  <a:srgbClr val="000000"/>
                </a:solidFill>
                <a:effectLst/>
                <a:latin typeface="Arial" panose="020B0604020202020204" pitchFamily="34" charset="0"/>
              </a:rPr>
              <a:t>Kd</a:t>
            </a:r>
            <a:r>
              <a:rPr lang="en-US" sz="1200" b="0" i="0" dirty="0">
                <a:solidFill>
                  <a:srgbClr val="000000"/>
                </a:solidFill>
                <a:effectLst/>
                <a:latin typeface="Arial" panose="020B0604020202020204" pitchFamily="34" charset="0"/>
              </a:rPr>
              <a:t> values to get the best performance you can. You can start with fairly big tweaks (~30%) then try smaller tweaks to get the optimal (or at least acceptable) performance.</a:t>
            </a:r>
          </a:p>
          <a:p>
            <a:pPr algn="just">
              <a:lnSpc>
                <a:spcPct val="120000"/>
              </a:lnSpc>
              <a:spcBef>
                <a:spcPts val="0"/>
              </a:spcBef>
              <a:spcAft>
                <a:spcPts val="10"/>
              </a:spcAft>
              <a:buFont typeface="+mj-lt"/>
              <a:buAutoNum type="arabicPeriod"/>
            </a:pPr>
            <a:r>
              <a:rPr lang="en-US" sz="1200" b="0" i="0" dirty="0">
                <a:solidFill>
                  <a:srgbClr val="000000"/>
                </a:solidFill>
                <a:effectLst/>
                <a:latin typeface="Arial" panose="020B0604020202020204" pitchFamily="34" charset="0"/>
              </a:rPr>
              <a:t>Keep repeating until the robot's behavior is acceptable.</a:t>
            </a:r>
          </a:p>
        </p:txBody>
      </p:sp>
      <p:sp>
        <p:nvSpPr>
          <p:cNvPr id="4" name="Title 3">
            <a:extLst>
              <a:ext uri="{FF2B5EF4-FFF2-40B4-BE49-F238E27FC236}">
                <a16:creationId xmlns:a16="http://schemas.microsoft.com/office/drawing/2014/main" id="{31BC8045-23B8-4BBD-7B6B-345C31951615}"/>
              </a:ext>
            </a:extLst>
          </p:cNvPr>
          <p:cNvSpPr>
            <a:spLocks noGrp="1"/>
          </p:cNvSpPr>
          <p:nvPr>
            <p:ph type="title"/>
          </p:nvPr>
        </p:nvSpPr>
        <p:spPr/>
        <p:txBody>
          <a:bodyPr/>
          <a:lstStyle/>
          <a:p>
            <a:r>
              <a:rPr lang="en-JP" dirty="0"/>
              <a:t>Ziegler-Nichols Procedure</a:t>
            </a:r>
          </a:p>
        </p:txBody>
      </p:sp>
      <p:pic>
        <p:nvPicPr>
          <p:cNvPr id="8" name="Picture 7" descr="A table with numbers and letters&#10;&#10;Description automatically generated">
            <a:extLst>
              <a:ext uri="{FF2B5EF4-FFF2-40B4-BE49-F238E27FC236}">
                <a16:creationId xmlns:a16="http://schemas.microsoft.com/office/drawing/2014/main" id="{4E74955E-219C-B0AF-1A51-DAA26D96E5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7469" y="1818870"/>
            <a:ext cx="3745894" cy="1652896"/>
          </a:xfrm>
          <a:prstGeom prst="rect">
            <a:avLst/>
          </a:prstGeom>
        </p:spPr>
      </p:pic>
      <p:sp>
        <p:nvSpPr>
          <p:cNvPr id="10" name="TextBox 9">
            <a:extLst>
              <a:ext uri="{FF2B5EF4-FFF2-40B4-BE49-F238E27FC236}">
                <a16:creationId xmlns:a16="http://schemas.microsoft.com/office/drawing/2014/main" id="{2277B14E-8956-AC69-484F-957AA6BEE2DB}"/>
              </a:ext>
            </a:extLst>
          </p:cNvPr>
          <p:cNvSpPr txBox="1"/>
          <p:nvPr/>
        </p:nvSpPr>
        <p:spPr>
          <a:xfrm>
            <a:off x="5237468" y="3947175"/>
            <a:ext cx="3745894" cy="1200329"/>
          </a:xfrm>
          <a:prstGeom prst="rect">
            <a:avLst/>
          </a:prstGeom>
          <a:noFill/>
        </p:spPr>
        <p:txBody>
          <a:bodyPr wrap="square">
            <a:spAutoFit/>
          </a:bodyPr>
          <a:lstStyle/>
          <a:p>
            <a:r>
              <a:rPr lang="en-US" dirty="0"/>
              <a:t>Download Spreadsheet for easy calculation from the repository </a:t>
            </a:r>
            <a:r>
              <a:rPr lang="en-US" dirty="0">
                <a:sym typeface="Wingdings" pitchFamily="2" charset="2"/>
              </a:rPr>
              <a:t></a:t>
            </a:r>
            <a:r>
              <a:rPr lang="en-US" dirty="0">
                <a:hlinkClick r:id="rId3"/>
              </a:rPr>
              <a:t> https://github.com/smartrobotsdesignlab/ev3_linefollower</a:t>
            </a:r>
            <a:endParaRPr lang="en-JP" dirty="0"/>
          </a:p>
        </p:txBody>
      </p:sp>
    </p:spTree>
    <p:extLst>
      <p:ext uri="{BB962C8B-B14F-4D97-AF65-F5344CB8AC3E}">
        <p14:creationId xmlns:p14="http://schemas.microsoft.com/office/powerpoint/2010/main" val="3763806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316F7-8906-684E-8AE3-92B8F1628095}"/>
              </a:ext>
            </a:extLst>
          </p:cNvPr>
          <p:cNvSpPr>
            <a:spLocks noGrp="1"/>
          </p:cNvSpPr>
          <p:nvPr>
            <p:ph type="title"/>
          </p:nvPr>
        </p:nvSpPr>
        <p:spPr/>
        <p:txBody>
          <a:bodyPr/>
          <a:lstStyle/>
          <a:p>
            <a:r>
              <a:rPr lang="en-US" dirty="0"/>
              <a:t>Evaluating Line followers</a:t>
            </a:r>
          </a:p>
        </p:txBody>
      </p:sp>
      <p:sp>
        <p:nvSpPr>
          <p:cNvPr id="11" name="Text Placeholder 10">
            <a:extLst>
              <a:ext uri="{FF2B5EF4-FFF2-40B4-BE49-F238E27FC236}">
                <a16:creationId xmlns:a16="http://schemas.microsoft.com/office/drawing/2014/main" id="{DEF97346-3594-7D45-9D4E-6F05328AAB9C}"/>
              </a:ext>
            </a:extLst>
          </p:cNvPr>
          <p:cNvSpPr>
            <a:spLocks noGrp="1"/>
          </p:cNvSpPr>
          <p:nvPr>
            <p:ph type="body" idx="1"/>
          </p:nvPr>
        </p:nvSpPr>
        <p:spPr/>
        <p:txBody>
          <a:bodyPr/>
          <a:lstStyle/>
          <a:p>
            <a:r>
              <a:rPr lang="en-US" dirty="0"/>
              <a:t>Proportional</a:t>
            </a:r>
          </a:p>
        </p:txBody>
      </p:sp>
      <p:sp>
        <p:nvSpPr>
          <p:cNvPr id="12" name="Content Placeholder 11">
            <a:extLst>
              <a:ext uri="{FF2B5EF4-FFF2-40B4-BE49-F238E27FC236}">
                <a16:creationId xmlns:a16="http://schemas.microsoft.com/office/drawing/2014/main" id="{333FFF0D-A93B-DB48-8B1A-BC57D47AAFB7}"/>
              </a:ext>
            </a:extLst>
          </p:cNvPr>
          <p:cNvSpPr>
            <a:spLocks noGrp="1"/>
          </p:cNvSpPr>
          <p:nvPr>
            <p:ph sz="half" idx="2"/>
          </p:nvPr>
        </p:nvSpPr>
        <p:spPr/>
        <p:txBody>
          <a:bodyPr>
            <a:normAutofit/>
          </a:bodyPr>
          <a:lstStyle/>
          <a:p>
            <a:r>
              <a:rPr lang="en-US" dirty="0"/>
              <a:t>Uses the “P” in PID</a:t>
            </a:r>
          </a:p>
          <a:p>
            <a:r>
              <a:rPr lang="en-US" dirty="0"/>
              <a:t>Makes proportional turns</a:t>
            </a:r>
          </a:p>
          <a:p>
            <a:r>
              <a:rPr lang="en-US" dirty="0"/>
              <a:t>Works well on both straight and curved lines</a:t>
            </a:r>
          </a:p>
          <a:p>
            <a:r>
              <a:rPr lang="en-US" dirty="0"/>
              <a:t>Can lead to oscillations depending on the value of the constant</a:t>
            </a:r>
          </a:p>
          <a:p>
            <a:endParaRPr lang="en-US" dirty="0"/>
          </a:p>
          <a:p>
            <a:endParaRPr lang="en-US" dirty="0"/>
          </a:p>
        </p:txBody>
      </p:sp>
      <p:sp>
        <p:nvSpPr>
          <p:cNvPr id="13" name="Text Placeholder 12">
            <a:extLst>
              <a:ext uri="{FF2B5EF4-FFF2-40B4-BE49-F238E27FC236}">
                <a16:creationId xmlns:a16="http://schemas.microsoft.com/office/drawing/2014/main" id="{389CC97C-0228-094C-834E-2BFB3D52E840}"/>
              </a:ext>
            </a:extLst>
          </p:cNvPr>
          <p:cNvSpPr>
            <a:spLocks noGrp="1"/>
          </p:cNvSpPr>
          <p:nvPr>
            <p:ph type="body" sz="quarter" idx="3"/>
          </p:nvPr>
        </p:nvSpPr>
        <p:spPr/>
        <p:txBody>
          <a:bodyPr/>
          <a:lstStyle/>
          <a:p>
            <a:r>
              <a:rPr lang="en-US" dirty="0"/>
              <a:t>PID</a:t>
            </a:r>
          </a:p>
        </p:txBody>
      </p:sp>
      <p:sp>
        <p:nvSpPr>
          <p:cNvPr id="14" name="Content Placeholder 13">
            <a:extLst>
              <a:ext uri="{FF2B5EF4-FFF2-40B4-BE49-F238E27FC236}">
                <a16:creationId xmlns:a16="http://schemas.microsoft.com/office/drawing/2014/main" id="{60B7C373-B3EE-4640-BEEB-530C3348F2CB}"/>
              </a:ext>
            </a:extLst>
          </p:cNvPr>
          <p:cNvSpPr>
            <a:spLocks noGrp="1"/>
          </p:cNvSpPr>
          <p:nvPr>
            <p:ph sz="quarter" idx="4"/>
          </p:nvPr>
        </p:nvSpPr>
        <p:spPr/>
        <p:txBody>
          <a:bodyPr/>
          <a:lstStyle/>
          <a:p>
            <a:r>
              <a:rPr lang="en-US" dirty="0"/>
              <a:t>It is better than proportional control on a very curved line, as the robot adapts to the curviness</a:t>
            </a:r>
          </a:p>
          <a:p>
            <a:r>
              <a:rPr lang="en-US" dirty="0"/>
              <a:t>It’s harder to tune and sometimes can lead to uncontrolled behavior</a:t>
            </a:r>
          </a:p>
        </p:txBody>
      </p:sp>
    </p:spTree>
    <p:extLst>
      <p:ext uri="{BB962C8B-B14F-4D97-AF65-F5344CB8AC3E}">
        <p14:creationId xmlns:p14="http://schemas.microsoft.com/office/powerpoint/2010/main" val="3407788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572B4F-3AC1-8EC7-E7FE-D9BD9FFE5494}"/>
              </a:ext>
            </a:extLst>
          </p:cNvPr>
          <p:cNvSpPr>
            <a:spLocks noGrp="1"/>
          </p:cNvSpPr>
          <p:nvPr>
            <p:ph idx="1"/>
          </p:nvPr>
        </p:nvSpPr>
        <p:spPr/>
        <p:txBody>
          <a:bodyPr>
            <a:normAutofit fontScale="85000" lnSpcReduction="20000"/>
          </a:bodyPr>
          <a:lstStyle/>
          <a:p>
            <a:r>
              <a:rPr lang="en-US" dirty="0"/>
              <a:t>Visual Studio Code download webpage: </a:t>
            </a:r>
            <a:r>
              <a:rPr lang="en-US" dirty="0">
                <a:hlinkClick r:id="rId2"/>
              </a:rPr>
              <a:t>https://code.visualstudio.com/download</a:t>
            </a:r>
            <a:endParaRPr lang="en-US" dirty="0"/>
          </a:p>
          <a:p>
            <a:r>
              <a:rPr lang="en-US" dirty="0"/>
              <a:t>Website for getting started with LEGO Mindstorms EV3 &amp; </a:t>
            </a:r>
            <a:r>
              <a:rPr lang="en-US" dirty="0" err="1"/>
              <a:t>MicroPython</a:t>
            </a:r>
            <a:r>
              <a:rPr lang="en-US" dirty="0"/>
              <a:t>: </a:t>
            </a:r>
            <a:r>
              <a:rPr lang="en-US" dirty="0">
                <a:hlinkClick r:id="rId3"/>
              </a:rPr>
              <a:t>https://assets.education.lego.com/v3/assets/blt293eea581807678a/bltb470b9ea6e38f8d4/5f8802fc4376310c19e33714/getting-started-with-micropython-v2_enus.pdf?locale=en-us</a:t>
            </a:r>
            <a:endParaRPr lang="en-US" dirty="0"/>
          </a:p>
          <a:p>
            <a:r>
              <a:rPr lang="en-US" dirty="0"/>
              <a:t>Line-follower assembly manual: </a:t>
            </a:r>
            <a:r>
              <a:rPr lang="en-US" dirty="0">
                <a:hlinkClick r:id="rId4"/>
              </a:rPr>
              <a:t>https://assets.education.lego.com/v3/assets/blt293eea581807678a/bltc8481dd2666822ff/5f8801e3f4f4cf0fa39d2fef/ev3-rem-driving-base.pdf?locale=en-us</a:t>
            </a:r>
            <a:endParaRPr lang="en-US" dirty="0"/>
          </a:p>
          <a:p>
            <a:r>
              <a:rPr lang="en-US" dirty="0"/>
              <a:t>Line-follower </a:t>
            </a:r>
            <a:r>
              <a:rPr lang="en-US" dirty="0" err="1"/>
              <a:t>MicroPython</a:t>
            </a:r>
            <a:r>
              <a:rPr lang="en-US" dirty="0"/>
              <a:t> code: </a:t>
            </a:r>
            <a:r>
              <a:rPr lang="en-US" dirty="0">
                <a:hlinkClick r:id="rId5"/>
              </a:rPr>
              <a:t>https://pybricks.com/ev3-micropython/examples/robot_educator_line.html</a:t>
            </a:r>
            <a:endParaRPr lang="en-US" dirty="0"/>
          </a:p>
          <a:p>
            <a:r>
              <a:rPr lang="en-US" dirty="0" err="1"/>
              <a:t>MicroPython</a:t>
            </a:r>
            <a:r>
              <a:rPr lang="en-US" dirty="0"/>
              <a:t> Reference: </a:t>
            </a:r>
            <a:r>
              <a:rPr lang="en-US" dirty="0">
                <a:hlinkClick r:id="rId6"/>
              </a:rPr>
              <a:t>https://pybricks.com/ev3-micropython/</a:t>
            </a:r>
            <a:endParaRPr lang="en-US" dirty="0"/>
          </a:p>
          <a:p>
            <a:endParaRPr lang="en-US" dirty="0"/>
          </a:p>
        </p:txBody>
      </p:sp>
      <p:sp>
        <p:nvSpPr>
          <p:cNvPr id="4" name="Title 3">
            <a:extLst>
              <a:ext uri="{FF2B5EF4-FFF2-40B4-BE49-F238E27FC236}">
                <a16:creationId xmlns:a16="http://schemas.microsoft.com/office/drawing/2014/main" id="{51F5BA9B-283F-0616-43CE-7144CC28E4DC}"/>
              </a:ext>
            </a:extLst>
          </p:cNvPr>
          <p:cNvSpPr>
            <a:spLocks noGrp="1"/>
          </p:cNvSpPr>
          <p:nvPr>
            <p:ph type="title"/>
          </p:nvPr>
        </p:nvSpPr>
        <p:spPr/>
        <p:txBody>
          <a:bodyPr/>
          <a:lstStyle/>
          <a:p>
            <a:endParaRPr lang="en-JP" dirty="0"/>
          </a:p>
        </p:txBody>
      </p:sp>
    </p:spTree>
    <p:extLst>
      <p:ext uri="{BB962C8B-B14F-4D97-AF65-F5344CB8AC3E}">
        <p14:creationId xmlns:p14="http://schemas.microsoft.com/office/powerpoint/2010/main" val="13279537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advanced">
  <a:themeElements>
    <a:clrScheme name="Spectrum">
      <a:dk1>
        <a:sysClr val="windowText" lastClr="000000"/>
      </a:dk1>
      <a:lt1>
        <a:sysClr val="window" lastClr="FFFFFF"/>
      </a:lt1>
      <a:dk2>
        <a:srgbClr val="252731"/>
      </a:dk2>
      <a:lt2>
        <a:srgbClr val="EAE7E4"/>
      </a:lt2>
      <a:accent1>
        <a:srgbClr val="990000"/>
      </a:accent1>
      <a:accent2>
        <a:srgbClr val="FF6600"/>
      </a:accent2>
      <a:accent3>
        <a:srgbClr val="FFBA00"/>
      </a:accent3>
      <a:accent4>
        <a:srgbClr val="99CC00"/>
      </a:accent4>
      <a:accent5>
        <a:srgbClr val="528A02"/>
      </a:accent5>
      <a:accent6>
        <a:srgbClr val="333333"/>
      </a:accent6>
      <a:hlink>
        <a:srgbClr val="660000"/>
      </a:hlink>
      <a:folHlink>
        <a:srgbClr val="CC33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dvanced" id="{90896108-50DE-FE4A-B182-456CF756ABD8}" vid="{7A7CEA50-AD81-7D48-98DE-F95E5886FB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advanced</Template>
  <TotalTime>4269</TotalTime>
  <Words>2963</Words>
  <Application>Microsoft Macintosh PowerPoint</Application>
  <PresentationFormat>On-screen Show (4:3)</PresentationFormat>
  <Paragraphs>261</Paragraphs>
  <Slides>35</Slides>
  <Notes>3</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Cambria Math</vt:lpstr>
      <vt:lpstr>Wingdings</vt:lpstr>
      <vt:lpstr>advanced</vt:lpstr>
      <vt:lpstr>PID Controller &amp; Tuning for a Line Following Robot</vt:lpstr>
      <vt:lpstr>Lesson Objectives</vt:lpstr>
      <vt:lpstr>Environment Setup</vt:lpstr>
      <vt:lpstr>Line-following Platform</vt:lpstr>
      <vt:lpstr>Challenge: Line-following</vt:lpstr>
      <vt:lpstr>How Far Is the Robot From The Line?</vt:lpstr>
      <vt:lpstr>Line-Following &amp; Error Correction</vt:lpstr>
      <vt:lpstr>What are some simple strategies?</vt:lpstr>
      <vt:lpstr>Creating our EV3 Project</vt:lpstr>
      <vt:lpstr>Connecting and executing our program</vt:lpstr>
      <vt:lpstr>Create 2-level line-follower</vt:lpstr>
      <vt:lpstr>2-Level &amp; 3-Level Solution</vt:lpstr>
      <vt:lpstr>What if we want a smoother motion?</vt:lpstr>
      <vt:lpstr>But first! Measuring sensor values</vt:lpstr>
      <vt:lpstr>How do you make a Proportional Line Follower?</vt:lpstr>
      <vt:lpstr>Let’s implement Proportional Control</vt:lpstr>
      <vt:lpstr>Key Step: Tuning the Constant</vt:lpstr>
      <vt:lpstr>Proportional Control (0.6 Constant)</vt:lpstr>
      <vt:lpstr>Proportional Control (0.8 Constant)</vt:lpstr>
      <vt:lpstr>When does Proportional Control Have Trouble?</vt:lpstr>
      <vt:lpstr>How can we fix Proportional Control?</vt:lpstr>
      <vt:lpstr>Integrals and Derivatives</vt:lpstr>
      <vt:lpstr>What is PID?   </vt:lpstr>
      <vt:lpstr>Error</vt:lpstr>
      <vt:lpstr>Integral</vt:lpstr>
      <vt:lpstr>Derivative</vt:lpstr>
      <vt:lpstr>Effects of each constant</vt:lpstr>
      <vt:lpstr>Pseudocode</vt:lpstr>
      <vt:lpstr>Implementation of PID Control</vt:lpstr>
      <vt:lpstr>Key Step: Tuning The PID constants</vt:lpstr>
      <vt:lpstr>PID Control</vt:lpstr>
      <vt:lpstr>Tuning Methods</vt:lpstr>
      <vt:lpstr>Ziegler-Nichols Procedure</vt:lpstr>
      <vt:lpstr>Evaluating Line followers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 Followers: Basic to Proportional</dc:title>
  <dc:creator>Sanjay Seshan</dc:creator>
  <cp:lastModifiedBy>Salazar L. Jose V.</cp:lastModifiedBy>
  <cp:revision>146</cp:revision>
  <cp:lastPrinted>2015-11-15T16:45:50Z</cp:lastPrinted>
  <dcterms:created xsi:type="dcterms:W3CDTF">2014-10-28T21:59:38Z</dcterms:created>
  <dcterms:modified xsi:type="dcterms:W3CDTF">2024-10-03T04:41:03Z</dcterms:modified>
</cp:coreProperties>
</file>